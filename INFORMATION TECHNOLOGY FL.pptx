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sldIdLst>
    <p:sldId id="257" r:id="rId2"/>
    <p:sldId id="256" r:id="rId3"/>
    <p:sldId id="258" r:id="rId4"/>
    <p:sldId id="259" r:id="rId5"/>
    <p:sldId id="263" r:id="rId6"/>
    <p:sldId id="265" r:id="rId7"/>
    <p:sldId id="266" r:id="rId8"/>
    <p:sldId id="267" r:id="rId9"/>
    <p:sldId id="268" r:id="rId10"/>
    <p:sldId id="269" r:id="rId11"/>
    <p:sldId id="271" r:id="rId12"/>
    <p:sldId id="272" r:id="rId13"/>
    <p:sldId id="273" r:id="rId14"/>
    <p:sldId id="270" r:id="rId15"/>
    <p:sldId id="274" r:id="rId16"/>
    <p:sldId id="275" r:id="rId17"/>
    <p:sldId id="276" r:id="rId18"/>
    <p:sldId id="277" r:id="rId19"/>
    <p:sldId id="278" r:id="rId20"/>
    <p:sldId id="279" r:id="rId21"/>
    <p:sldId id="280"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348" r:id="rId87"/>
    <p:sldId id="347" r:id="rId88"/>
    <p:sldId id="349" r:id="rId89"/>
    <p:sldId id="350" r:id="rId90"/>
    <p:sldId id="351" r:id="rId91"/>
    <p:sldId id="352" r:id="rId92"/>
    <p:sldId id="353" r:id="rId93"/>
    <p:sldId id="354" r:id="rId94"/>
    <p:sldId id="355" r:id="rId95"/>
    <p:sldId id="356" r:id="rId96"/>
    <p:sldId id="357" r:id="rId97"/>
    <p:sldId id="358" r:id="rId98"/>
    <p:sldId id="359"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4660"/>
  </p:normalViewPr>
  <p:slideViewPr>
    <p:cSldViewPr snapToGrid="0">
      <p:cViewPr varScale="1">
        <p:scale>
          <a:sx n="59" d="100"/>
          <a:sy n="59" d="100"/>
        </p:scale>
        <p:origin x="7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05649A01-9E5C-49D3-BC9E-5BA250CC63FC}" type="datetimeFigureOut">
              <a:rPr lang="en-IN" smtClean="0"/>
              <a:t>27-07-2026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2004415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49A01-9E5C-49D3-BC9E-5BA250CC63FC}"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45605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05649A01-9E5C-49D3-BC9E-5BA250CC63FC}" type="datetimeFigureOut">
              <a:rPr lang="en-IN" smtClean="0"/>
              <a:t>27-07-2026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295557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326528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49A01-9E5C-49D3-BC9E-5BA250CC63FC}" type="datetimeFigureOut">
              <a:rPr lang="en-IN" smtClean="0"/>
              <a:t>27-07-2026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3053401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49A01-9E5C-49D3-BC9E-5BA250CC63FC}"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3651889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49A01-9E5C-49D3-BC9E-5BA250CC63FC}" type="datetimeFigureOut">
              <a:rPr lang="en-IN" smtClean="0"/>
              <a:t>27-07-2026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644787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2729850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1460717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100487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4178650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70AF5AA-3AC5-426F-A079-0E668757433F}"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82107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5649A01-9E5C-49D3-BC9E-5BA250CC63FC}" type="datetimeFigureOut">
              <a:rPr lang="en-IN" smtClean="0"/>
              <a:t>27-07-2026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225063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5649A01-9E5C-49D3-BC9E-5BA250CC63FC}"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1195607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5649A01-9E5C-49D3-BC9E-5BA250CC63FC}"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2293950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49A01-9E5C-49D3-BC9E-5BA250CC63FC}"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3901252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5649A01-9E5C-49D3-BC9E-5BA250CC63FC}" type="datetimeFigureOut">
              <a:rPr lang="en-IN" smtClean="0"/>
              <a:t>27-07-2026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970AF5AA-3AC5-426F-A079-0E668757433F}" type="slidenum">
              <a:rPr lang="en-IN" smtClean="0"/>
              <a:t>‹#›</a:t>
            </a:fld>
            <a:endParaRPr lang="en-IN"/>
          </a:p>
        </p:txBody>
      </p:sp>
    </p:spTree>
    <p:extLst>
      <p:ext uri="{BB962C8B-B14F-4D97-AF65-F5344CB8AC3E}">
        <p14:creationId xmlns:p14="http://schemas.microsoft.com/office/powerpoint/2010/main" val="61909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5649A01-9E5C-49D3-BC9E-5BA250CC63FC}" type="datetimeFigureOut">
              <a:rPr lang="en-IN" smtClean="0"/>
              <a:t>27-07-2026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70AF5AA-3AC5-426F-A079-0E668757433F}" type="slidenum">
              <a:rPr lang="en-IN" smtClean="0"/>
              <a:t>‹#›</a:t>
            </a:fld>
            <a:endParaRPr lang="en-IN"/>
          </a:p>
        </p:txBody>
      </p:sp>
    </p:spTree>
    <p:extLst>
      <p:ext uri="{BB962C8B-B14F-4D97-AF65-F5344CB8AC3E}">
        <p14:creationId xmlns:p14="http://schemas.microsoft.com/office/powerpoint/2010/main" val="1411481466"/>
      </p:ext>
    </p:extLst>
  </p:cSld>
  <p:clrMap bg1="dk1" tx1="lt1" bg2="dk2" tx2="lt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903E-73D5-003F-17F3-1EB975781FEF}"/>
              </a:ext>
            </a:extLst>
          </p:cNvPr>
          <p:cNvSpPr>
            <a:spLocks noGrp="1"/>
          </p:cNvSpPr>
          <p:nvPr>
            <p:ph type="title"/>
          </p:nvPr>
        </p:nvSpPr>
        <p:spPr>
          <a:xfrm>
            <a:off x="533401" y="1741714"/>
            <a:ext cx="9220200" cy="3799113"/>
          </a:xfrm>
        </p:spPr>
        <p:txBody>
          <a:bodyPr/>
          <a:lstStyle/>
          <a:p>
            <a:r>
              <a:rPr lang="en-IN" b="1" spc="300" dirty="0">
                <a:solidFill>
                  <a:schemeClr val="accent1">
                    <a:lumMod val="75000"/>
                  </a:schemeClr>
                </a:solidFill>
                <a:latin typeface="Algerian" panose="04020705040A02060702" pitchFamily="82" charset="0"/>
              </a:rPr>
              <a:t>INFORMATION TECHNOLOGY</a:t>
            </a:r>
          </a:p>
        </p:txBody>
      </p:sp>
      <p:sp>
        <p:nvSpPr>
          <p:cNvPr id="3" name="Rectangle 2">
            <a:extLst>
              <a:ext uri="{FF2B5EF4-FFF2-40B4-BE49-F238E27FC236}">
                <a16:creationId xmlns:a16="http://schemas.microsoft.com/office/drawing/2014/main" id="{0EB77B2F-CD68-2A15-1353-8FA0CB3A5EF6}"/>
              </a:ext>
            </a:extLst>
          </p:cNvPr>
          <p:cNvSpPr/>
          <p:nvPr/>
        </p:nvSpPr>
        <p:spPr>
          <a:xfrm>
            <a:off x="1850571" y="3113314"/>
            <a:ext cx="8654143" cy="109945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00905490-646E-8784-69F6-346D385326D6}"/>
              </a:ext>
            </a:extLst>
          </p:cNvPr>
          <p:cNvCxnSpPr>
            <a:cxnSpLocks/>
          </p:cNvCxnSpPr>
          <p:nvPr/>
        </p:nvCxnSpPr>
        <p:spPr>
          <a:xfrm>
            <a:off x="1850571" y="3004457"/>
            <a:ext cx="8501743"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43DF333D-A9DD-14B8-8BED-5B3810C731C2}"/>
              </a:ext>
            </a:extLst>
          </p:cNvPr>
          <p:cNvCxnSpPr/>
          <p:nvPr/>
        </p:nvCxnSpPr>
        <p:spPr>
          <a:xfrm>
            <a:off x="1850571" y="4212771"/>
            <a:ext cx="8425543"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70630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8693-DFF5-0997-E977-A1BF653BA03C}"/>
              </a:ext>
            </a:extLst>
          </p:cNvPr>
          <p:cNvSpPr>
            <a:spLocks noGrp="1"/>
          </p:cNvSpPr>
          <p:nvPr>
            <p:ph type="ctrTitle"/>
          </p:nvPr>
        </p:nvSpPr>
        <p:spPr>
          <a:xfrm>
            <a:off x="1589314" y="881743"/>
            <a:ext cx="9927771" cy="1687286"/>
          </a:xfrm>
        </p:spPr>
        <p:txBody>
          <a:bodyPr>
            <a:normAutofit fontScale="90000"/>
          </a:bodyPr>
          <a:lstStyle/>
          <a:p>
            <a:r>
              <a:rPr lang="en-IN" sz="3600" b="1" u="sng" dirty="0">
                <a:latin typeface="Arial Narrow" panose="020B0606020202030204" pitchFamily="34" charset="0"/>
              </a:rPr>
              <a:t>Introduction to Data Governance &amp; Data Ethics</a:t>
            </a:r>
            <a:br>
              <a:rPr lang="en-IN" b="1" dirty="0"/>
            </a:br>
            <a:endParaRPr lang="en-IN" dirty="0"/>
          </a:p>
        </p:txBody>
      </p:sp>
      <p:sp>
        <p:nvSpPr>
          <p:cNvPr id="3" name="Subtitle 2">
            <a:extLst>
              <a:ext uri="{FF2B5EF4-FFF2-40B4-BE49-F238E27FC236}">
                <a16:creationId xmlns:a16="http://schemas.microsoft.com/office/drawing/2014/main" id="{F1A75BCC-1C47-518D-9CF1-6BF50E8E5D5B}"/>
              </a:ext>
            </a:extLst>
          </p:cNvPr>
          <p:cNvSpPr>
            <a:spLocks noGrp="1"/>
          </p:cNvSpPr>
          <p:nvPr>
            <p:ph type="subTitle" idx="1"/>
          </p:nvPr>
        </p:nvSpPr>
        <p:spPr>
          <a:xfrm>
            <a:off x="1208315" y="2351313"/>
            <a:ext cx="10308770" cy="3864429"/>
          </a:xfrm>
        </p:spPr>
        <p:txBody>
          <a:bodyPr/>
          <a:lstStyle/>
          <a:p>
            <a:pPr algn="ctr"/>
            <a:r>
              <a:rPr lang="en-IN" b="1" u="sng" dirty="0"/>
              <a:t>Introduction</a:t>
            </a:r>
          </a:p>
          <a:p>
            <a:endParaRPr lang="en-IN" b="1" u="sng" dirty="0"/>
          </a:p>
          <a:p>
            <a:r>
              <a:rPr lang="en-IN" dirty="0"/>
              <a:t>Data has become one of the most valuable assets for organizations. Proper management and ethical use of data help organizations make better decisions, protect sensitive information, comply with legal requirements, and build trust with customers . </a:t>
            </a:r>
            <a:r>
              <a:rPr lang="en-IN" b="1" dirty="0"/>
              <a:t>Data Governance</a:t>
            </a:r>
            <a:r>
              <a:rPr lang="en-IN" dirty="0"/>
              <a:t> ensures that data is managed effectively,  while </a:t>
            </a:r>
            <a:r>
              <a:rPr lang="en-IN" b="1" dirty="0"/>
              <a:t>Data Ethics</a:t>
            </a:r>
            <a:r>
              <a:rPr lang="en-IN" dirty="0"/>
              <a:t> ensures that data is collected, stored, and used responsibly and fairly.</a:t>
            </a:r>
          </a:p>
          <a:p>
            <a:endParaRPr lang="en-IN" dirty="0"/>
          </a:p>
        </p:txBody>
      </p:sp>
    </p:spTree>
    <p:extLst>
      <p:ext uri="{BB962C8B-B14F-4D97-AF65-F5344CB8AC3E}">
        <p14:creationId xmlns:p14="http://schemas.microsoft.com/office/powerpoint/2010/main" val="1612184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CF081-048C-E9DC-E789-3C59E42609A1}"/>
              </a:ext>
            </a:extLst>
          </p:cNvPr>
          <p:cNvSpPr>
            <a:spLocks noGrp="1"/>
          </p:cNvSpPr>
          <p:nvPr>
            <p:ph type="ctrTitle"/>
          </p:nvPr>
        </p:nvSpPr>
        <p:spPr>
          <a:xfrm>
            <a:off x="1970314" y="1110342"/>
            <a:ext cx="8850086" cy="1317171"/>
          </a:xfrm>
        </p:spPr>
        <p:txBody>
          <a:bodyPr>
            <a:normAutofit fontScale="90000"/>
          </a:bodyPr>
          <a:lstStyle/>
          <a:p>
            <a:r>
              <a:rPr lang="en-IN" sz="3100" b="1" dirty="0"/>
              <a:t>A. What is Data Governance?</a:t>
            </a:r>
            <a:br>
              <a:rPr lang="en-IN" b="1" dirty="0"/>
            </a:br>
            <a:endParaRPr lang="en-IN" dirty="0"/>
          </a:p>
        </p:txBody>
      </p:sp>
      <p:sp>
        <p:nvSpPr>
          <p:cNvPr id="3" name="Subtitle 2">
            <a:extLst>
              <a:ext uri="{FF2B5EF4-FFF2-40B4-BE49-F238E27FC236}">
                <a16:creationId xmlns:a16="http://schemas.microsoft.com/office/drawing/2014/main" id="{06BB6028-0A5E-C64E-5231-49AFCB2BEAF1}"/>
              </a:ext>
            </a:extLst>
          </p:cNvPr>
          <p:cNvSpPr>
            <a:spLocks noGrp="1"/>
          </p:cNvSpPr>
          <p:nvPr>
            <p:ph type="subTitle" idx="1"/>
          </p:nvPr>
        </p:nvSpPr>
        <p:spPr>
          <a:xfrm>
            <a:off x="1371600" y="2296886"/>
            <a:ext cx="9448800" cy="2721427"/>
          </a:xfrm>
        </p:spPr>
        <p:txBody>
          <a:bodyPr>
            <a:normAutofit/>
          </a:bodyPr>
          <a:lstStyle/>
          <a:p>
            <a:r>
              <a:rPr lang="en-IN" b="1" dirty="0"/>
              <a:t>Data Governance</a:t>
            </a:r>
            <a:r>
              <a:rPr lang="en-IN" dirty="0"/>
              <a:t> is a framework of policies, processes, standards, and responsibilities that ensures data is accurate, secure, consistent, and available throughout its lifecycle. It defines how data should be collected, stored, accessed, shared, and maintained within an organization.</a:t>
            </a:r>
          </a:p>
          <a:p>
            <a:endParaRPr lang="en-IN" dirty="0"/>
          </a:p>
        </p:txBody>
      </p:sp>
    </p:spTree>
    <p:extLst>
      <p:ext uri="{BB962C8B-B14F-4D97-AF65-F5344CB8AC3E}">
        <p14:creationId xmlns:p14="http://schemas.microsoft.com/office/powerpoint/2010/main" val="650813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6528-4271-45DB-5136-290F98727C4B}"/>
              </a:ext>
            </a:extLst>
          </p:cNvPr>
          <p:cNvSpPr>
            <a:spLocks noGrp="1"/>
          </p:cNvSpPr>
          <p:nvPr>
            <p:ph type="title"/>
          </p:nvPr>
        </p:nvSpPr>
        <p:spPr/>
        <p:txBody>
          <a:bodyPr>
            <a:normAutofit/>
          </a:bodyPr>
          <a:lstStyle/>
          <a:p>
            <a:br>
              <a:rPr lang="en-IN" b="1" dirty="0"/>
            </a:br>
            <a:endParaRPr lang="en-IN" dirty="0"/>
          </a:p>
        </p:txBody>
      </p:sp>
      <p:sp>
        <p:nvSpPr>
          <p:cNvPr id="3" name="Content Placeholder 2">
            <a:extLst>
              <a:ext uri="{FF2B5EF4-FFF2-40B4-BE49-F238E27FC236}">
                <a16:creationId xmlns:a16="http://schemas.microsoft.com/office/drawing/2014/main" id="{BD1EC8C9-3526-5D7F-4ED8-984869111069}"/>
              </a:ext>
            </a:extLst>
          </p:cNvPr>
          <p:cNvSpPr>
            <a:spLocks noGrp="1"/>
          </p:cNvSpPr>
          <p:nvPr>
            <p:ph type="body" idx="1"/>
          </p:nvPr>
        </p:nvSpPr>
        <p:spPr>
          <a:xfrm>
            <a:off x="685799" y="2065866"/>
            <a:ext cx="3456432" cy="617320"/>
          </a:xfrm>
        </p:spPr>
        <p:txBody>
          <a:bodyPr/>
          <a:lstStyle/>
          <a:p>
            <a:r>
              <a:rPr lang="en-IN" b="1" u="sng" dirty="0"/>
              <a:t>Objectives of Data Governance</a:t>
            </a:r>
            <a:endParaRPr lang="en-IN" u="sng" dirty="0"/>
          </a:p>
        </p:txBody>
      </p:sp>
      <p:sp>
        <p:nvSpPr>
          <p:cNvPr id="6" name="Text Placeholder 5">
            <a:extLst>
              <a:ext uri="{FF2B5EF4-FFF2-40B4-BE49-F238E27FC236}">
                <a16:creationId xmlns:a16="http://schemas.microsoft.com/office/drawing/2014/main" id="{1FF24BC6-F082-905B-15E4-EFACF9884981}"/>
              </a:ext>
            </a:extLst>
          </p:cNvPr>
          <p:cNvSpPr>
            <a:spLocks noGrp="1"/>
          </p:cNvSpPr>
          <p:nvPr>
            <p:ph type="body" sz="half" idx="15"/>
          </p:nvPr>
        </p:nvSpPr>
        <p:spPr/>
        <p:txBody>
          <a:bodyPr/>
          <a:lstStyle/>
          <a:p>
            <a:pPr marL="285750" indent="-285750">
              <a:buFont typeface="Wingdings" panose="05000000000000000000" pitchFamily="2" charset="2"/>
              <a:buChar char="§"/>
            </a:pPr>
            <a:r>
              <a:rPr lang="en-IN" dirty="0"/>
              <a:t>Ensure high-quality and reliable data. </a:t>
            </a:r>
          </a:p>
          <a:p>
            <a:pPr marL="285750" indent="-285750">
              <a:buFont typeface="Wingdings" panose="05000000000000000000" pitchFamily="2" charset="2"/>
              <a:buChar char="§"/>
            </a:pPr>
            <a:r>
              <a:rPr lang="en-IN" dirty="0"/>
              <a:t>Protect sensitive information. </a:t>
            </a:r>
          </a:p>
          <a:p>
            <a:pPr marL="285750" indent="-285750">
              <a:buFont typeface="Wingdings" panose="05000000000000000000" pitchFamily="2" charset="2"/>
              <a:buChar char="§"/>
            </a:pPr>
            <a:r>
              <a:rPr lang="en-IN" dirty="0"/>
              <a:t>Standardize data management practices. </a:t>
            </a:r>
          </a:p>
          <a:p>
            <a:pPr marL="285750" indent="-285750">
              <a:buFont typeface="Wingdings" panose="05000000000000000000" pitchFamily="2" charset="2"/>
              <a:buChar char="§"/>
            </a:pPr>
            <a:r>
              <a:rPr lang="en-IN" dirty="0"/>
              <a:t>Improve decision-making. </a:t>
            </a:r>
          </a:p>
          <a:p>
            <a:pPr marL="285750" indent="-285750">
              <a:buFont typeface="Wingdings" panose="05000000000000000000" pitchFamily="2" charset="2"/>
              <a:buChar char="§"/>
            </a:pPr>
            <a:r>
              <a:rPr lang="en-IN" dirty="0"/>
              <a:t>Ensure compliance with laws and regulations. </a:t>
            </a:r>
          </a:p>
          <a:p>
            <a:pPr marL="285750" indent="-285750">
              <a:buFont typeface="Wingdings" panose="05000000000000000000" pitchFamily="2" charset="2"/>
              <a:buChar char="§"/>
            </a:pPr>
            <a:r>
              <a:rPr lang="en-IN" dirty="0"/>
              <a:t>Reduce risks related to data misuse.</a:t>
            </a:r>
          </a:p>
          <a:p>
            <a:endParaRPr lang="en-IN" dirty="0"/>
          </a:p>
        </p:txBody>
      </p:sp>
      <p:sp>
        <p:nvSpPr>
          <p:cNvPr id="4" name="Text Placeholder 3">
            <a:extLst>
              <a:ext uri="{FF2B5EF4-FFF2-40B4-BE49-F238E27FC236}">
                <a16:creationId xmlns:a16="http://schemas.microsoft.com/office/drawing/2014/main" id="{8B7577F5-4E47-5405-D38D-1B3AD96B0F51}"/>
              </a:ext>
            </a:extLst>
          </p:cNvPr>
          <p:cNvSpPr>
            <a:spLocks noGrp="1"/>
          </p:cNvSpPr>
          <p:nvPr>
            <p:ph type="body" sz="quarter" idx="3"/>
          </p:nvPr>
        </p:nvSpPr>
        <p:spPr/>
        <p:txBody>
          <a:bodyPr/>
          <a:lstStyle/>
          <a:p>
            <a:r>
              <a:rPr lang="en-IN" b="1" u="sng" dirty="0"/>
              <a:t>Policies</a:t>
            </a:r>
          </a:p>
          <a:p>
            <a:endParaRPr lang="en-IN" dirty="0"/>
          </a:p>
        </p:txBody>
      </p:sp>
      <p:sp>
        <p:nvSpPr>
          <p:cNvPr id="7" name="Text Placeholder 6">
            <a:extLst>
              <a:ext uri="{FF2B5EF4-FFF2-40B4-BE49-F238E27FC236}">
                <a16:creationId xmlns:a16="http://schemas.microsoft.com/office/drawing/2014/main" id="{3EB61132-A2E4-0B88-6390-6F15F0FBACED}"/>
              </a:ext>
            </a:extLst>
          </p:cNvPr>
          <p:cNvSpPr>
            <a:spLocks noGrp="1"/>
          </p:cNvSpPr>
          <p:nvPr>
            <p:ph type="body" sz="half" idx="16"/>
          </p:nvPr>
        </p:nvSpPr>
        <p:spPr>
          <a:xfrm>
            <a:off x="4366858" y="2904551"/>
            <a:ext cx="3456432" cy="3314133"/>
          </a:xfrm>
        </p:spPr>
        <p:txBody>
          <a:bodyPr>
            <a:normAutofit/>
          </a:bodyPr>
          <a:lstStyle/>
          <a:p>
            <a:r>
              <a:rPr lang="en-IN" dirty="0"/>
              <a:t>Data governance policies are formal rules that guide how data should be managed.</a:t>
            </a:r>
          </a:p>
          <a:p>
            <a:r>
              <a:rPr lang="en-IN" dirty="0"/>
              <a:t>Examples:</a:t>
            </a:r>
          </a:p>
          <a:p>
            <a:pPr marL="285750" indent="-285750">
              <a:buFont typeface="Arial" panose="020B0604020202020204" pitchFamily="34" charset="0"/>
              <a:buChar char="•"/>
            </a:pPr>
            <a:r>
              <a:rPr lang="en-IN" dirty="0"/>
              <a:t>Data privacy policy </a:t>
            </a:r>
          </a:p>
          <a:p>
            <a:pPr marL="285750" indent="-285750">
              <a:buFont typeface="Arial" panose="020B0604020202020204" pitchFamily="34" charset="0"/>
              <a:buChar char="•"/>
            </a:pPr>
            <a:r>
              <a:rPr lang="en-IN" dirty="0"/>
              <a:t>Data security policy </a:t>
            </a:r>
          </a:p>
          <a:p>
            <a:pPr marL="285750" indent="-285750">
              <a:buFont typeface="Arial" panose="020B0604020202020204" pitchFamily="34" charset="0"/>
              <a:buChar char="•"/>
            </a:pPr>
            <a:r>
              <a:rPr lang="en-IN" dirty="0"/>
              <a:t>Data retention policy </a:t>
            </a:r>
          </a:p>
          <a:p>
            <a:pPr marL="285750" indent="-285750">
              <a:buFont typeface="Arial" panose="020B0604020202020204" pitchFamily="34" charset="0"/>
              <a:buChar char="•"/>
            </a:pPr>
            <a:r>
              <a:rPr lang="en-IN" dirty="0"/>
              <a:t>Data classification policy </a:t>
            </a:r>
          </a:p>
          <a:p>
            <a:pPr marL="285750" indent="-285750">
              <a:buFont typeface="Arial" panose="020B0604020202020204" pitchFamily="34" charset="0"/>
              <a:buChar char="•"/>
            </a:pPr>
            <a:r>
              <a:rPr lang="en-IN" dirty="0"/>
              <a:t>Data access policy </a:t>
            </a:r>
          </a:p>
          <a:p>
            <a:pPr marL="285750" indent="-285750">
              <a:buFont typeface="Arial" panose="020B0604020202020204" pitchFamily="34" charset="0"/>
              <a:buChar char="•"/>
            </a:pPr>
            <a:r>
              <a:rPr lang="en-IN" dirty="0"/>
              <a:t>Data backup and recovery policy</a:t>
            </a:r>
          </a:p>
          <a:p>
            <a:endParaRPr lang="en-IN" dirty="0"/>
          </a:p>
        </p:txBody>
      </p:sp>
      <p:sp>
        <p:nvSpPr>
          <p:cNvPr id="5" name="Text Placeholder 4">
            <a:extLst>
              <a:ext uri="{FF2B5EF4-FFF2-40B4-BE49-F238E27FC236}">
                <a16:creationId xmlns:a16="http://schemas.microsoft.com/office/drawing/2014/main" id="{6F9E5EF9-83A9-A1FC-AF22-623E6FEFDB85}"/>
              </a:ext>
            </a:extLst>
          </p:cNvPr>
          <p:cNvSpPr>
            <a:spLocks noGrp="1"/>
          </p:cNvSpPr>
          <p:nvPr>
            <p:ph type="body" sz="quarter" idx="13"/>
          </p:nvPr>
        </p:nvSpPr>
        <p:spPr>
          <a:xfrm>
            <a:off x="8051800" y="2065866"/>
            <a:ext cx="3456432" cy="617320"/>
          </a:xfrm>
        </p:spPr>
        <p:txBody>
          <a:bodyPr/>
          <a:lstStyle/>
          <a:p>
            <a:r>
              <a:rPr lang="en-IN" b="1" u="sng" dirty="0"/>
              <a:t>Procedures</a:t>
            </a:r>
            <a:br>
              <a:rPr lang="en-IN" b="1" dirty="0"/>
            </a:br>
            <a:endParaRPr lang="en-IN" dirty="0"/>
          </a:p>
        </p:txBody>
      </p:sp>
      <p:sp>
        <p:nvSpPr>
          <p:cNvPr id="8" name="Text Placeholder 7">
            <a:extLst>
              <a:ext uri="{FF2B5EF4-FFF2-40B4-BE49-F238E27FC236}">
                <a16:creationId xmlns:a16="http://schemas.microsoft.com/office/drawing/2014/main" id="{29C08F45-CF95-4DA8-B34C-E8546EB89112}"/>
              </a:ext>
            </a:extLst>
          </p:cNvPr>
          <p:cNvSpPr>
            <a:spLocks noGrp="1"/>
          </p:cNvSpPr>
          <p:nvPr>
            <p:ph type="body" sz="half" idx="17"/>
          </p:nvPr>
        </p:nvSpPr>
        <p:spPr/>
        <p:txBody>
          <a:bodyPr>
            <a:normAutofit fontScale="92500"/>
          </a:bodyPr>
          <a:lstStyle/>
          <a:p>
            <a:r>
              <a:rPr lang="en-IN" dirty="0"/>
              <a:t>Procedures are step-by-step instructions that explain how to implement governance policies.</a:t>
            </a:r>
          </a:p>
          <a:p>
            <a:endParaRPr lang="en-IN" dirty="0"/>
          </a:p>
          <a:p>
            <a:r>
              <a:rPr lang="en-IN" dirty="0"/>
              <a:t>Examples:</a:t>
            </a:r>
          </a:p>
          <a:p>
            <a:pPr marL="285750" indent="-285750">
              <a:buFont typeface="Arial" panose="020B0604020202020204" pitchFamily="34" charset="0"/>
              <a:buChar char="•"/>
            </a:pPr>
            <a:r>
              <a:rPr lang="en-IN" dirty="0"/>
              <a:t>Creating and updating databases </a:t>
            </a:r>
          </a:p>
          <a:p>
            <a:pPr marL="285750" indent="-285750">
              <a:buFont typeface="Arial" panose="020B0604020202020204" pitchFamily="34" charset="0"/>
              <a:buChar char="•"/>
            </a:pPr>
            <a:r>
              <a:rPr lang="en-IN" dirty="0"/>
              <a:t>Granting user access permissions </a:t>
            </a:r>
          </a:p>
          <a:p>
            <a:pPr marL="285750" indent="-285750">
              <a:buFont typeface="Arial" panose="020B0604020202020204" pitchFamily="34" charset="0"/>
              <a:buChar char="•"/>
            </a:pPr>
            <a:r>
              <a:rPr lang="en-IN" dirty="0"/>
              <a:t>Data validation and quality checks </a:t>
            </a:r>
          </a:p>
          <a:p>
            <a:pPr marL="285750" indent="-285750">
              <a:buFont typeface="Arial" panose="020B0604020202020204" pitchFamily="34" charset="0"/>
              <a:buChar char="•"/>
            </a:pPr>
            <a:r>
              <a:rPr lang="en-IN" dirty="0"/>
              <a:t>Data backup schedules </a:t>
            </a:r>
          </a:p>
          <a:p>
            <a:pPr marL="285750" indent="-285750">
              <a:buFont typeface="Arial" panose="020B0604020202020204" pitchFamily="34" charset="0"/>
              <a:buChar char="•"/>
            </a:pPr>
            <a:r>
              <a:rPr lang="en-IN" dirty="0"/>
              <a:t>Incident reporting procedures </a:t>
            </a:r>
          </a:p>
          <a:p>
            <a:pPr marL="285750" indent="-285750">
              <a:buFont typeface="Arial" panose="020B0604020202020204" pitchFamily="34" charset="0"/>
              <a:buChar char="•"/>
            </a:pPr>
            <a:r>
              <a:rPr lang="en-IN" dirty="0"/>
              <a:t>Data deletion after retention periods</a:t>
            </a:r>
          </a:p>
          <a:p>
            <a:endParaRPr lang="en-IN" dirty="0"/>
          </a:p>
        </p:txBody>
      </p:sp>
    </p:spTree>
    <p:extLst>
      <p:ext uri="{BB962C8B-B14F-4D97-AF65-F5344CB8AC3E}">
        <p14:creationId xmlns:p14="http://schemas.microsoft.com/office/powerpoint/2010/main" val="179570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741A-9518-4EDE-5E25-4C2A32C9938E}"/>
              </a:ext>
            </a:extLst>
          </p:cNvPr>
          <p:cNvSpPr>
            <a:spLocks noGrp="1"/>
          </p:cNvSpPr>
          <p:nvPr>
            <p:ph type="title"/>
          </p:nvPr>
        </p:nvSpPr>
        <p:spPr/>
        <p:txBody>
          <a:bodyPr>
            <a:normAutofit/>
          </a:bodyPr>
          <a:lstStyle/>
          <a:p>
            <a:br>
              <a:rPr lang="en-IN" b="1" dirty="0"/>
            </a:br>
            <a:endParaRPr lang="en-IN" dirty="0"/>
          </a:p>
        </p:txBody>
      </p:sp>
      <p:sp>
        <p:nvSpPr>
          <p:cNvPr id="3" name="Subtitle 2">
            <a:extLst>
              <a:ext uri="{FF2B5EF4-FFF2-40B4-BE49-F238E27FC236}">
                <a16:creationId xmlns:a16="http://schemas.microsoft.com/office/drawing/2014/main" id="{3733BE32-0ED5-8B30-BD5C-7767EC96A794}"/>
              </a:ext>
            </a:extLst>
          </p:cNvPr>
          <p:cNvSpPr>
            <a:spLocks noGrp="1"/>
          </p:cNvSpPr>
          <p:nvPr>
            <p:ph type="body" idx="1"/>
          </p:nvPr>
        </p:nvSpPr>
        <p:spPr/>
        <p:txBody>
          <a:bodyPr/>
          <a:lstStyle/>
          <a:p>
            <a:r>
              <a:rPr lang="en-IN" b="1" u="sng" dirty="0"/>
              <a:t>Benefits</a:t>
            </a:r>
            <a:br>
              <a:rPr lang="en-IN" dirty="0"/>
            </a:br>
            <a:endParaRPr lang="en-IN" dirty="0"/>
          </a:p>
        </p:txBody>
      </p:sp>
      <p:sp>
        <p:nvSpPr>
          <p:cNvPr id="6" name="Text Placeholder 5">
            <a:extLst>
              <a:ext uri="{FF2B5EF4-FFF2-40B4-BE49-F238E27FC236}">
                <a16:creationId xmlns:a16="http://schemas.microsoft.com/office/drawing/2014/main" id="{1111646A-503A-4542-9DD9-E5530933CFEF}"/>
              </a:ext>
            </a:extLst>
          </p:cNvPr>
          <p:cNvSpPr>
            <a:spLocks noGrp="1"/>
          </p:cNvSpPr>
          <p:nvPr>
            <p:ph type="body" sz="half" idx="15"/>
          </p:nvPr>
        </p:nvSpPr>
        <p:spPr/>
        <p:txBody>
          <a:bodyPr/>
          <a:lstStyle/>
          <a:p>
            <a:pPr marL="285750" indent="-285750">
              <a:buFont typeface="Wingdings" panose="05000000000000000000" pitchFamily="2" charset="2"/>
              <a:buChar char="§"/>
            </a:pPr>
            <a:r>
              <a:rPr lang="en-IN" dirty="0"/>
              <a:t>Consistent data management </a:t>
            </a:r>
          </a:p>
          <a:p>
            <a:pPr marL="285750" indent="-285750">
              <a:buFont typeface="Wingdings" panose="05000000000000000000" pitchFamily="2" charset="2"/>
              <a:buChar char="§"/>
            </a:pPr>
            <a:r>
              <a:rPr lang="en-IN" dirty="0"/>
              <a:t>Reduced errors </a:t>
            </a:r>
          </a:p>
          <a:p>
            <a:pPr marL="285750" indent="-285750">
              <a:buFont typeface="Wingdings" panose="05000000000000000000" pitchFamily="2" charset="2"/>
              <a:buChar char="§"/>
            </a:pPr>
            <a:r>
              <a:rPr lang="en-IN" dirty="0"/>
              <a:t>Better security </a:t>
            </a:r>
          </a:p>
          <a:p>
            <a:pPr marL="285750" indent="-285750">
              <a:buFont typeface="Wingdings" panose="05000000000000000000" pitchFamily="2" charset="2"/>
              <a:buChar char="§"/>
            </a:pPr>
            <a:r>
              <a:rPr lang="en-IN" dirty="0"/>
              <a:t>Improved compliance </a:t>
            </a:r>
          </a:p>
          <a:p>
            <a:pPr marL="285750" indent="-285750">
              <a:buFont typeface="Wingdings" panose="05000000000000000000" pitchFamily="2" charset="2"/>
              <a:buChar char="§"/>
            </a:pPr>
            <a:r>
              <a:rPr lang="en-IN" dirty="0"/>
              <a:t>Increased efficiency </a:t>
            </a:r>
          </a:p>
          <a:p>
            <a:endParaRPr lang="en-IN" dirty="0"/>
          </a:p>
        </p:txBody>
      </p:sp>
      <p:sp>
        <p:nvSpPr>
          <p:cNvPr id="4" name="Text Placeholder 3">
            <a:extLst>
              <a:ext uri="{FF2B5EF4-FFF2-40B4-BE49-F238E27FC236}">
                <a16:creationId xmlns:a16="http://schemas.microsoft.com/office/drawing/2014/main" id="{BDA5288B-0959-976D-8953-740A58850FD7}"/>
              </a:ext>
            </a:extLst>
          </p:cNvPr>
          <p:cNvSpPr>
            <a:spLocks noGrp="1"/>
          </p:cNvSpPr>
          <p:nvPr>
            <p:ph type="body" sz="quarter" idx="3"/>
          </p:nvPr>
        </p:nvSpPr>
        <p:spPr/>
        <p:txBody>
          <a:bodyPr/>
          <a:lstStyle/>
          <a:p>
            <a:r>
              <a:rPr lang="en-IN" b="1" u="sng" dirty="0"/>
              <a:t>Roles and Responsibilities</a:t>
            </a:r>
            <a:endParaRPr lang="en-IN" b="1" dirty="0"/>
          </a:p>
        </p:txBody>
      </p:sp>
      <p:sp>
        <p:nvSpPr>
          <p:cNvPr id="7" name="Text Placeholder 6">
            <a:extLst>
              <a:ext uri="{FF2B5EF4-FFF2-40B4-BE49-F238E27FC236}">
                <a16:creationId xmlns:a16="http://schemas.microsoft.com/office/drawing/2014/main" id="{625215F6-C9C3-3B8F-EDDF-EB08723F1053}"/>
              </a:ext>
            </a:extLst>
          </p:cNvPr>
          <p:cNvSpPr>
            <a:spLocks noGrp="1"/>
          </p:cNvSpPr>
          <p:nvPr>
            <p:ph type="body" sz="half" idx="16"/>
          </p:nvPr>
        </p:nvSpPr>
        <p:spPr/>
        <p:txBody>
          <a:bodyPr>
            <a:normAutofit fontScale="92500" lnSpcReduction="20000"/>
          </a:bodyPr>
          <a:lstStyle/>
          <a:p>
            <a:r>
              <a:rPr lang="en-IN" dirty="0"/>
              <a:t>Successful data governance requires clearly defined roles.</a:t>
            </a:r>
          </a:p>
          <a:p>
            <a:endParaRPr lang="en-IN" dirty="0"/>
          </a:p>
          <a:p>
            <a:pPr marL="342900" indent="-342900">
              <a:buFont typeface="Wingdings" panose="05000000000000000000" pitchFamily="2" charset="2"/>
              <a:buChar char="q"/>
            </a:pPr>
            <a:r>
              <a:rPr lang="en-IN" b="1" u="sng" dirty="0"/>
              <a:t>Data Owner</a:t>
            </a:r>
          </a:p>
          <a:p>
            <a:pPr marL="342900" indent="-342900">
              <a:buFont typeface="Arial" panose="020B0604020202020204" pitchFamily="34" charset="0"/>
              <a:buChar char="•"/>
            </a:pPr>
            <a:r>
              <a:rPr lang="en-IN" dirty="0"/>
              <a:t>Owns business data. </a:t>
            </a:r>
          </a:p>
          <a:p>
            <a:pPr marL="342900" indent="-342900">
              <a:buFont typeface="Arial" panose="020B0604020202020204" pitchFamily="34" charset="0"/>
              <a:buChar char="•"/>
            </a:pPr>
            <a:r>
              <a:rPr lang="en-IN" dirty="0"/>
              <a:t>Defines data quality standards. </a:t>
            </a:r>
          </a:p>
          <a:p>
            <a:pPr marL="342900" indent="-342900">
              <a:buFont typeface="Arial" panose="020B0604020202020204" pitchFamily="34" charset="0"/>
              <a:buChar char="•"/>
            </a:pPr>
            <a:r>
              <a:rPr lang="en-IN" dirty="0"/>
              <a:t>Approves access requests.</a:t>
            </a:r>
          </a:p>
          <a:p>
            <a:pPr marL="342900" indent="-342900">
              <a:buFont typeface="Wingdings" panose="05000000000000000000" pitchFamily="2" charset="2"/>
              <a:buChar char="q"/>
            </a:pPr>
            <a:r>
              <a:rPr lang="en-IN" b="1" u="sng" dirty="0"/>
              <a:t>Data Steward</a:t>
            </a:r>
          </a:p>
          <a:p>
            <a:endParaRPr lang="en-IN" b="1" u="sng" dirty="0"/>
          </a:p>
          <a:p>
            <a:pPr marL="342900" indent="-342900">
              <a:buFont typeface="Arial" panose="020B0604020202020204" pitchFamily="34" charset="0"/>
              <a:buChar char="•"/>
            </a:pPr>
            <a:r>
              <a:rPr lang="en-IN" dirty="0"/>
              <a:t>Maintains data quality. </a:t>
            </a:r>
          </a:p>
          <a:p>
            <a:pPr marL="342900" indent="-342900">
              <a:buFont typeface="Arial" panose="020B0604020202020204" pitchFamily="34" charset="0"/>
              <a:buChar char="•"/>
            </a:pPr>
            <a:r>
              <a:rPr lang="en-IN" dirty="0"/>
              <a:t>Ensures data follows organizational standards. </a:t>
            </a:r>
          </a:p>
          <a:p>
            <a:pPr marL="342900" indent="-342900">
              <a:buFont typeface="Arial" panose="020B0604020202020204" pitchFamily="34" charset="0"/>
              <a:buChar char="•"/>
            </a:pPr>
            <a:r>
              <a:rPr lang="en-IN" dirty="0"/>
              <a:t>Resolves data issues</a:t>
            </a:r>
          </a:p>
        </p:txBody>
      </p:sp>
      <p:sp>
        <p:nvSpPr>
          <p:cNvPr id="5" name="Text Placeholder 4">
            <a:extLst>
              <a:ext uri="{FF2B5EF4-FFF2-40B4-BE49-F238E27FC236}">
                <a16:creationId xmlns:a16="http://schemas.microsoft.com/office/drawing/2014/main" id="{8589E5EB-A5C8-44BE-7731-6CB47EA3DD76}"/>
              </a:ext>
            </a:extLst>
          </p:cNvPr>
          <p:cNvSpPr>
            <a:spLocks noGrp="1"/>
          </p:cNvSpPr>
          <p:nvPr>
            <p:ph type="body" sz="quarter" idx="13"/>
          </p:nvPr>
        </p:nvSpPr>
        <p:spPr/>
        <p:txBody>
          <a:bodyPr/>
          <a:lstStyle/>
          <a:p>
            <a:r>
              <a:rPr lang="en-IN" dirty="0">
                <a:solidFill>
                  <a:schemeClr val="bg1"/>
                </a:solidFill>
              </a:rPr>
              <a:t>.</a:t>
            </a:r>
          </a:p>
        </p:txBody>
      </p:sp>
      <p:sp>
        <p:nvSpPr>
          <p:cNvPr id="8" name="Text Placeholder 7">
            <a:extLst>
              <a:ext uri="{FF2B5EF4-FFF2-40B4-BE49-F238E27FC236}">
                <a16:creationId xmlns:a16="http://schemas.microsoft.com/office/drawing/2014/main" id="{1DA2B2A9-D8BC-3F25-E628-51DB2AB1D0E7}"/>
              </a:ext>
            </a:extLst>
          </p:cNvPr>
          <p:cNvSpPr>
            <a:spLocks noGrp="1"/>
          </p:cNvSpPr>
          <p:nvPr>
            <p:ph type="body" sz="half" idx="17"/>
          </p:nvPr>
        </p:nvSpPr>
        <p:spPr/>
        <p:txBody>
          <a:bodyPr/>
          <a:lstStyle/>
          <a:p>
            <a:pPr marL="342900" indent="-342900">
              <a:buFont typeface="Wingdings" panose="05000000000000000000" pitchFamily="2" charset="2"/>
              <a:buChar char="q"/>
            </a:pPr>
            <a:endParaRPr lang="en-IN" b="1" u="sng" dirty="0"/>
          </a:p>
          <a:p>
            <a:pPr marL="342900" indent="-342900">
              <a:buFont typeface="Wingdings" panose="05000000000000000000" pitchFamily="2" charset="2"/>
              <a:buChar char="q"/>
            </a:pPr>
            <a:endParaRPr lang="en-IN" b="1" u="sng" dirty="0"/>
          </a:p>
          <a:p>
            <a:pPr marL="342900" indent="-342900">
              <a:buFont typeface="Wingdings" panose="05000000000000000000" pitchFamily="2" charset="2"/>
              <a:buChar char="q"/>
            </a:pPr>
            <a:r>
              <a:rPr lang="en-IN" b="1" u="sng" dirty="0"/>
              <a:t>Data Custodian</a:t>
            </a:r>
          </a:p>
          <a:p>
            <a:endParaRPr lang="en-IN" b="1" u="sng" dirty="0"/>
          </a:p>
          <a:p>
            <a:pPr marL="342900" indent="-342900">
              <a:buFont typeface="Arial" panose="020B0604020202020204" pitchFamily="34" charset="0"/>
              <a:buChar char="•"/>
            </a:pPr>
            <a:r>
              <a:rPr lang="en-IN" dirty="0"/>
              <a:t>Manages technical storage and security. </a:t>
            </a:r>
          </a:p>
          <a:p>
            <a:pPr marL="342900" indent="-342900">
              <a:buFont typeface="Arial" panose="020B0604020202020204" pitchFamily="34" charset="0"/>
              <a:buChar char="•"/>
            </a:pPr>
            <a:r>
              <a:rPr lang="en-IN" dirty="0"/>
              <a:t>Performs backups and recovery. </a:t>
            </a:r>
          </a:p>
          <a:p>
            <a:pPr marL="342900" indent="-342900">
              <a:buFont typeface="Arial" panose="020B0604020202020204" pitchFamily="34" charset="0"/>
              <a:buChar char="•"/>
            </a:pPr>
            <a:r>
              <a:rPr lang="en-IN" dirty="0"/>
              <a:t>Implements access controls.</a:t>
            </a:r>
          </a:p>
          <a:p>
            <a:endParaRPr lang="en-IN" dirty="0"/>
          </a:p>
        </p:txBody>
      </p:sp>
    </p:spTree>
    <p:extLst>
      <p:ext uri="{BB962C8B-B14F-4D97-AF65-F5344CB8AC3E}">
        <p14:creationId xmlns:p14="http://schemas.microsoft.com/office/powerpoint/2010/main" val="2889283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87DA59-2582-079F-814D-C0BEC6770A54}"/>
              </a:ext>
            </a:extLst>
          </p:cNvPr>
          <p:cNvSpPr>
            <a:spLocks noGrp="1"/>
          </p:cNvSpPr>
          <p:nvPr>
            <p:ph type="title"/>
          </p:nvPr>
        </p:nvSpPr>
        <p:spPr/>
        <p:txBody>
          <a:bodyPr>
            <a:normAutofit/>
          </a:bodyPr>
          <a:lstStyle/>
          <a:p>
            <a:r>
              <a:rPr lang="en-IN" dirty="0">
                <a:solidFill>
                  <a:schemeClr val="bg1"/>
                </a:solidFill>
              </a:rPr>
              <a:t>.</a:t>
            </a:r>
          </a:p>
        </p:txBody>
      </p:sp>
      <p:sp>
        <p:nvSpPr>
          <p:cNvPr id="5" name="Text Placeholder 4">
            <a:extLst>
              <a:ext uri="{FF2B5EF4-FFF2-40B4-BE49-F238E27FC236}">
                <a16:creationId xmlns:a16="http://schemas.microsoft.com/office/drawing/2014/main" id="{F7E92C6D-4DAA-D56A-8FBB-EAFC1A47CC7A}"/>
              </a:ext>
            </a:extLst>
          </p:cNvPr>
          <p:cNvSpPr>
            <a:spLocks noGrp="1"/>
          </p:cNvSpPr>
          <p:nvPr>
            <p:ph type="body" idx="1"/>
          </p:nvPr>
        </p:nvSpPr>
        <p:spPr/>
        <p:txBody>
          <a:bodyPr>
            <a:normAutofit/>
          </a:bodyPr>
          <a:lstStyle/>
          <a:p>
            <a:r>
              <a:rPr lang="en-IN" dirty="0">
                <a:solidFill>
                  <a:schemeClr val="bg1"/>
                </a:solidFill>
              </a:rPr>
              <a:t>.</a:t>
            </a:r>
          </a:p>
        </p:txBody>
      </p:sp>
      <p:sp>
        <p:nvSpPr>
          <p:cNvPr id="8" name="Text Placeholder 7">
            <a:extLst>
              <a:ext uri="{FF2B5EF4-FFF2-40B4-BE49-F238E27FC236}">
                <a16:creationId xmlns:a16="http://schemas.microsoft.com/office/drawing/2014/main" id="{03E0BAEB-8133-0190-D973-699EDFFB1050}"/>
              </a:ext>
            </a:extLst>
          </p:cNvPr>
          <p:cNvSpPr>
            <a:spLocks noGrp="1"/>
          </p:cNvSpPr>
          <p:nvPr>
            <p:ph type="body" sz="half" idx="15"/>
          </p:nvPr>
        </p:nvSpPr>
        <p:spPr/>
        <p:txBody>
          <a:bodyPr>
            <a:normAutofit/>
          </a:bodyPr>
          <a:lstStyle/>
          <a:p>
            <a:pPr marL="285750" indent="-285750">
              <a:buFont typeface="Wingdings" panose="05000000000000000000" pitchFamily="2" charset="2"/>
              <a:buChar char="q"/>
            </a:pPr>
            <a:r>
              <a:rPr lang="en-IN" sz="2000" b="1" u="sng" dirty="0"/>
              <a:t>Data Users</a:t>
            </a:r>
          </a:p>
          <a:p>
            <a:pPr marL="285750" indent="-285750">
              <a:buFont typeface="Arial" panose="020B0604020202020204" pitchFamily="34" charset="0"/>
              <a:buChar char="•"/>
            </a:pPr>
            <a:r>
              <a:rPr lang="en-IN" sz="2000" dirty="0"/>
              <a:t>Use data responsibly. </a:t>
            </a:r>
          </a:p>
          <a:p>
            <a:pPr marL="285750" indent="-285750">
              <a:buFont typeface="Arial" panose="020B0604020202020204" pitchFamily="34" charset="0"/>
              <a:buChar char="•"/>
            </a:pPr>
            <a:r>
              <a:rPr lang="en-IN" sz="2000" dirty="0"/>
              <a:t>Follow organizational policies. </a:t>
            </a:r>
          </a:p>
          <a:p>
            <a:pPr marL="285750" indent="-285750">
              <a:buFont typeface="Arial" panose="020B0604020202020204" pitchFamily="34" charset="0"/>
              <a:buChar char="•"/>
            </a:pPr>
            <a:r>
              <a:rPr lang="en-IN" sz="2000" dirty="0"/>
              <a:t>Report data issues. </a:t>
            </a:r>
          </a:p>
          <a:p>
            <a:endParaRPr lang="en-IN" dirty="0"/>
          </a:p>
          <a:p>
            <a:endParaRPr lang="en-IN" dirty="0"/>
          </a:p>
        </p:txBody>
      </p:sp>
      <p:sp>
        <p:nvSpPr>
          <p:cNvPr id="6" name="Text Placeholder 5">
            <a:extLst>
              <a:ext uri="{FF2B5EF4-FFF2-40B4-BE49-F238E27FC236}">
                <a16:creationId xmlns:a16="http://schemas.microsoft.com/office/drawing/2014/main" id="{E0FFAD21-88B7-2516-13D9-6303D5318AC9}"/>
              </a:ext>
            </a:extLst>
          </p:cNvPr>
          <p:cNvSpPr>
            <a:spLocks noGrp="1"/>
          </p:cNvSpPr>
          <p:nvPr>
            <p:ph type="body" sz="quarter" idx="3"/>
          </p:nvPr>
        </p:nvSpPr>
        <p:spPr/>
        <p:txBody>
          <a:bodyPr/>
          <a:lstStyle/>
          <a:p>
            <a:r>
              <a:rPr lang="en-IN" dirty="0">
                <a:solidFill>
                  <a:schemeClr val="bg1"/>
                </a:solidFill>
              </a:rPr>
              <a:t>.</a:t>
            </a:r>
          </a:p>
        </p:txBody>
      </p:sp>
      <p:sp>
        <p:nvSpPr>
          <p:cNvPr id="9" name="Text Placeholder 8">
            <a:extLst>
              <a:ext uri="{FF2B5EF4-FFF2-40B4-BE49-F238E27FC236}">
                <a16:creationId xmlns:a16="http://schemas.microsoft.com/office/drawing/2014/main" id="{68FA11DA-98A7-B5E2-6A72-1749B7FC02E0}"/>
              </a:ext>
            </a:extLst>
          </p:cNvPr>
          <p:cNvSpPr>
            <a:spLocks noGrp="1"/>
          </p:cNvSpPr>
          <p:nvPr>
            <p:ph type="body" sz="half" idx="16"/>
          </p:nvPr>
        </p:nvSpPr>
        <p:spPr/>
        <p:txBody>
          <a:bodyPr/>
          <a:lstStyle/>
          <a:p>
            <a:pPr marL="285750" indent="-285750">
              <a:buFont typeface="Wingdings" panose="05000000000000000000" pitchFamily="2" charset="2"/>
              <a:buChar char="q"/>
            </a:pPr>
            <a:r>
              <a:rPr lang="en-IN" sz="2000" b="1" u="sng" dirty="0"/>
              <a:t>IT Department</a:t>
            </a:r>
          </a:p>
          <a:p>
            <a:pPr marL="285750" indent="-285750">
              <a:buFont typeface="Arial" panose="020B0604020202020204" pitchFamily="34" charset="0"/>
              <a:buChar char="•"/>
            </a:pPr>
            <a:r>
              <a:rPr lang="en-IN" sz="2000" dirty="0"/>
              <a:t>Maintains infrastructure. </a:t>
            </a:r>
          </a:p>
          <a:p>
            <a:pPr marL="285750" indent="-285750">
              <a:buFont typeface="Arial" panose="020B0604020202020204" pitchFamily="34" charset="0"/>
              <a:buChar char="•"/>
            </a:pPr>
            <a:r>
              <a:rPr lang="en-IN" sz="2000" dirty="0"/>
              <a:t>Protects systems against cyber threats. </a:t>
            </a:r>
          </a:p>
          <a:p>
            <a:pPr marL="285750" indent="-285750">
              <a:buFont typeface="Arial" panose="020B0604020202020204" pitchFamily="34" charset="0"/>
              <a:buChar char="•"/>
            </a:pPr>
            <a:r>
              <a:rPr lang="en-IN" sz="2000" dirty="0"/>
              <a:t>Implements security technologies. </a:t>
            </a:r>
          </a:p>
          <a:p>
            <a:pPr marL="285750" indent="-285750">
              <a:buFont typeface="Arial" panose="020B0604020202020204" pitchFamily="34" charset="0"/>
              <a:buChar char="•"/>
            </a:pPr>
            <a:endParaRPr lang="en-IN" dirty="0"/>
          </a:p>
          <a:p>
            <a:endParaRPr lang="en-IN" dirty="0"/>
          </a:p>
        </p:txBody>
      </p:sp>
      <p:sp>
        <p:nvSpPr>
          <p:cNvPr id="7" name="Text Placeholder 6">
            <a:extLst>
              <a:ext uri="{FF2B5EF4-FFF2-40B4-BE49-F238E27FC236}">
                <a16:creationId xmlns:a16="http://schemas.microsoft.com/office/drawing/2014/main" id="{6C480B58-A59C-D19C-8BA3-73222CD66D37}"/>
              </a:ext>
            </a:extLst>
          </p:cNvPr>
          <p:cNvSpPr>
            <a:spLocks noGrp="1"/>
          </p:cNvSpPr>
          <p:nvPr>
            <p:ph type="body" sz="quarter" idx="13"/>
          </p:nvPr>
        </p:nvSpPr>
        <p:spPr/>
        <p:txBody>
          <a:bodyPr/>
          <a:lstStyle/>
          <a:p>
            <a:r>
              <a:rPr lang="en-IN" dirty="0">
                <a:solidFill>
                  <a:schemeClr val="bg1"/>
                </a:solidFill>
              </a:rPr>
              <a:t>.</a:t>
            </a:r>
          </a:p>
        </p:txBody>
      </p:sp>
      <p:sp>
        <p:nvSpPr>
          <p:cNvPr id="10" name="Text Placeholder 9">
            <a:extLst>
              <a:ext uri="{FF2B5EF4-FFF2-40B4-BE49-F238E27FC236}">
                <a16:creationId xmlns:a16="http://schemas.microsoft.com/office/drawing/2014/main" id="{7152C658-4EDC-9AF5-1BB3-95BBB41A8EEA}"/>
              </a:ext>
            </a:extLst>
          </p:cNvPr>
          <p:cNvSpPr>
            <a:spLocks noGrp="1"/>
          </p:cNvSpPr>
          <p:nvPr>
            <p:ph type="body" sz="half" idx="17"/>
          </p:nvPr>
        </p:nvSpPr>
        <p:spPr/>
        <p:txBody>
          <a:bodyPr/>
          <a:lstStyle/>
          <a:p>
            <a:pPr marL="285750" indent="-285750">
              <a:buFont typeface="Wingdings" panose="05000000000000000000" pitchFamily="2" charset="2"/>
              <a:buChar char="q"/>
            </a:pPr>
            <a:r>
              <a:rPr lang="en-IN" sz="2000" b="1" u="sng" dirty="0"/>
              <a:t>Senior Management</a:t>
            </a:r>
          </a:p>
          <a:p>
            <a:pPr marL="285750" indent="-285750">
              <a:buFont typeface="Arial" panose="020B0604020202020204" pitchFamily="34" charset="0"/>
              <a:buChar char="•"/>
            </a:pPr>
            <a:r>
              <a:rPr lang="en-IN" sz="2000" dirty="0"/>
              <a:t>Approves governance strategies. </a:t>
            </a:r>
          </a:p>
          <a:p>
            <a:pPr marL="285750" indent="-285750">
              <a:buFont typeface="Arial" panose="020B0604020202020204" pitchFamily="34" charset="0"/>
              <a:buChar char="•"/>
            </a:pPr>
            <a:r>
              <a:rPr lang="en-IN" sz="2000" dirty="0"/>
              <a:t>Provides funding and resources. </a:t>
            </a:r>
          </a:p>
          <a:p>
            <a:pPr marL="285750" indent="-285750">
              <a:buFont typeface="Arial" panose="020B0604020202020204" pitchFamily="34" charset="0"/>
              <a:buChar char="•"/>
            </a:pPr>
            <a:r>
              <a:rPr lang="en-IN" sz="2000" dirty="0"/>
              <a:t>Monitors governance performance.</a:t>
            </a:r>
          </a:p>
          <a:p>
            <a:endParaRPr lang="en-IN" dirty="0"/>
          </a:p>
        </p:txBody>
      </p:sp>
    </p:spTree>
    <p:extLst>
      <p:ext uri="{BB962C8B-B14F-4D97-AF65-F5344CB8AC3E}">
        <p14:creationId xmlns:p14="http://schemas.microsoft.com/office/powerpoint/2010/main" val="1119254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3BCD-A78F-E750-2744-E4F95B9EEF96}"/>
              </a:ext>
            </a:extLst>
          </p:cNvPr>
          <p:cNvSpPr>
            <a:spLocks noGrp="1"/>
          </p:cNvSpPr>
          <p:nvPr>
            <p:ph type="ctrTitle"/>
          </p:nvPr>
        </p:nvSpPr>
        <p:spPr>
          <a:xfrm>
            <a:off x="2242457" y="1262743"/>
            <a:ext cx="10472057" cy="1382486"/>
          </a:xfrm>
        </p:spPr>
        <p:txBody>
          <a:bodyPr>
            <a:normAutofit/>
          </a:bodyPr>
          <a:lstStyle/>
          <a:p>
            <a:r>
              <a:rPr lang="en-IN" sz="3600" b="1" u="sng" dirty="0"/>
              <a:t>B. Principles of Data Ethics</a:t>
            </a:r>
            <a:br>
              <a:rPr lang="en-IN" sz="3600" b="1" u="sng" dirty="0"/>
            </a:br>
            <a:endParaRPr lang="en-IN" sz="3600" u="sng" dirty="0"/>
          </a:p>
        </p:txBody>
      </p:sp>
      <p:sp>
        <p:nvSpPr>
          <p:cNvPr id="3" name="Subtitle 2">
            <a:extLst>
              <a:ext uri="{FF2B5EF4-FFF2-40B4-BE49-F238E27FC236}">
                <a16:creationId xmlns:a16="http://schemas.microsoft.com/office/drawing/2014/main" id="{AB0EDFAB-C725-8475-0EC9-C57A4CD88E2A}"/>
              </a:ext>
            </a:extLst>
          </p:cNvPr>
          <p:cNvSpPr>
            <a:spLocks noGrp="1"/>
          </p:cNvSpPr>
          <p:nvPr>
            <p:ph type="subTitle" idx="1"/>
          </p:nvPr>
        </p:nvSpPr>
        <p:spPr>
          <a:xfrm>
            <a:off x="1371600" y="2645229"/>
            <a:ext cx="9448800" cy="1672772"/>
          </a:xfrm>
        </p:spPr>
        <p:txBody>
          <a:bodyPr/>
          <a:lstStyle/>
          <a:p>
            <a:r>
              <a:rPr lang="en-IN" b="1" dirty="0"/>
              <a:t>Data Ethics</a:t>
            </a:r>
            <a:r>
              <a:rPr lang="en-IN" dirty="0"/>
              <a:t> refers to the moral principles that guide the responsible collection, storage, sharing, and use of data. It ensures that organizations respect individuals' rights while using data for business, research, or public services.</a:t>
            </a:r>
          </a:p>
          <a:p>
            <a:endParaRPr lang="en-IN" dirty="0"/>
          </a:p>
        </p:txBody>
      </p:sp>
    </p:spTree>
    <p:extLst>
      <p:ext uri="{BB962C8B-B14F-4D97-AF65-F5344CB8AC3E}">
        <p14:creationId xmlns:p14="http://schemas.microsoft.com/office/powerpoint/2010/main" val="127808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F64D-8064-537A-C7E9-943816CD8B84}"/>
              </a:ext>
            </a:extLst>
          </p:cNvPr>
          <p:cNvSpPr>
            <a:spLocks noGrp="1"/>
          </p:cNvSpPr>
          <p:nvPr>
            <p:ph type="title"/>
          </p:nvPr>
        </p:nvSpPr>
        <p:spPr>
          <a:xfrm>
            <a:off x="685800" y="1219200"/>
            <a:ext cx="10820399" cy="1513114"/>
          </a:xfrm>
        </p:spPr>
        <p:txBody>
          <a:bodyPr>
            <a:normAutofit fontScale="90000"/>
          </a:bodyPr>
          <a:lstStyle/>
          <a:p>
            <a:pPr algn="l"/>
            <a:r>
              <a:rPr lang="en-IN" b="1" u="sng" dirty="0"/>
              <a:t>Importance</a:t>
            </a:r>
            <a:br>
              <a:rPr lang="en-IN" b="1" dirty="0"/>
            </a:br>
            <a:br>
              <a:rPr lang="en-IN" dirty="0"/>
            </a:br>
            <a:endParaRPr lang="en-IN" dirty="0"/>
          </a:p>
        </p:txBody>
      </p:sp>
      <p:sp>
        <p:nvSpPr>
          <p:cNvPr id="6" name="Text Placeholder 5">
            <a:extLst>
              <a:ext uri="{FF2B5EF4-FFF2-40B4-BE49-F238E27FC236}">
                <a16:creationId xmlns:a16="http://schemas.microsoft.com/office/drawing/2014/main" id="{00A8373E-9452-0ED5-40BE-FE0F436E511D}"/>
              </a:ext>
            </a:extLst>
          </p:cNvPr>
          <p:cNvSpPr>
            <a:spLocks noGrp="1"/>
          </p:cNvSpPr>
          <p:nvPr>
            <p:ph type="body" idx="1"/>
          </p:nvPr>
        </p:nvSpPr>
        <p:spPr>
          <a:xfrm>
            <a:off x="850899" y="2177142"/>
            <a:ext cx="10490200" cy="2764972"/>
          </a:xfrm>
        </p:spPr>
        <p:txBody>
          <a:bodyPr>
            <a:normAutofit/>
          </a:bodyPr>
          <a:lstStyle/>
          <a:p>
            <a:pPr marL="342900" indent="-342900" algn="l">
              <a:buFont typeface="Arial" panose="020B0604020202020204" pitchFamily="34" charset="0"/>
              <a:buChar char="•"/>
            </a:pPr>
            <a:r>
              <a:rPr lang="en-IN" dirty="0"/>
              <a:t>Protects individuals' rights. </a:t>
            </a:r>
          </a:p>
          <a:p>
            <a:pPr marL="342900" indent="-342900" algn="l">
              <a:buFont typeface="Arial" panose="020B0604020202020204" pitchFamily="34" charset="0"/>
              <a:buChar char="•"/>
            </a:pPr>
            <a:r>
              <a:rPr lang="en-IN" dirty="0"/>
              <a:t>Prevents misuse of personal information. </a:t>
            </a:r>
          </a:p>
          <a:p>
            <a:pPr marL="342900" indent="-342900" algn="l">
              <a:buFont typeface="Arial" panose="020B0604020202020204" pitchFamily="34" charset="0"/>
              <a:buChar char="•"/>
            </a:pPr>
            <a:r>
              <a:rPr lang="en-IN" dirty="0"/>
              <a:t>Builds customer trust. </a:t>
            </a:r>
          </a:p>
          <a:p>
            <a:pPr marL="342900" indent="-342900" algn="l">
              <a:buFont typeface="Arial" panose="020B0604020202020204" pitchFamily="34" charset="0"/>
              <a:buChar char="•"/>
            </a:pPr>
            <a:r>
              <a:rPr lang="en-IN" dirty="0"/>
              <a:t>Promotes fairness and transparency. </a:t>
            </a:r>
          </a:p>
          <a:p>
            <a:pPr marL="342900" indent="-342900" algn="l">
              <a:buFont typeface="Arial" panose="020B0604020202020204" pitchFamily="34" charset="0"/>
              <a:buChar char="•"/>
            </a:pPr>
            <a:r>
              <a:rPr lang="en-IN" dirty="0"/>
              <a:t>Supports responsible innovation.</a:t>
            </a:r>
          </a:p>
          <a:p>
            <a:pPr algn="l"/>
            <a:endParaRPr lang="en-IN" dirty="0"/>
          </a:p>
        </p:txBody>
      </p:sp>
    </p:spTree>
    <p:extLst>
      <p:ext uri="{BB962C8B-B14F-4D97-AF65-F5344CB8AC3E}">
        <p14:creationId xmlns:p14="http://schemas.microsoft.com/office/powerpoint/2010/main" val="413760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E077-F5BF-C5C8-B65F-DD1A96D39488}"/>
              </a:ext>
            </a:extLst>
          </p:cNvPr>
          <p:cNvSpPr>
            <a:spLocks noGrp="1"/>
          </p:cNvSpPr>
          <p:nvPr>
            <p:ph type="ctrTitle"/>
          </p:nvPr>
        </p:nvSpPr>
        <p:spPr>
          <a:xfrm>
            <a:off x="1371600" y="914400"/>
            <a:ext cx="9448800" cy="1534885"/>
          </a:xfrm>
        </p:spPr>
        <p:txBody>
          <a:bodyPr>
            <a:normAutofit/>
          </a:bodyPr>
          <a:lstStyle/>
          <a:p>
            <a:r>
              <a:rPr lang="en-IN" sz="4400" b="1" u="sng" dirty="0"/>
              <a:t>Privacy and Confidentiality</a:t>
            </a:r>
            <a:br>
              <a:rPr lang="en-IN" b="1" u="sng" dirty="0"/>
            </a:br>
            <a:endParaRPr lang="en-IN" u="sng" dirty="0"/>
          </a:p>
        </p:txBody>
      </p:sp>
      <p:sp>
        <p:nvSpPr>
          <p:cNvPr id="3" name="Subtitle 2">
            <a:extLst>
              <a:ext uri="{FF2B5EF4-FFF2-40B4-BE49-F238E27FC236}">
                <a16:creationId xmlns:a16="http://schemas.microsoft.com/office/drawing/2014/main" id="{D1AD5F5C-B967-A0EE-B1D3-3DD99FEE0A3C}"/>
              </a:ext>
            </a:extLst>
          </p:cNvPr>
          <p:cNvSpPr>
            <a:spLocks noGrp="1"/>
          </p:cNvSpPr>
          <p:nvPr>
            <p:ph type="subTitle" idx="1"/>
          </p:nvPr>
        </p:nvSpPr>
        <p:spPr>
          <a:xfrm>
            <a:off x="1611086" y="1807029"/>
            <a:ext cx="9209314" cy="3548742"/>
          </a:xfrm>
        </p:spPr>
        <p:txBody>
          <a:bodyPr>
            <a:normAutofit fontScale="92500" lnSpcReduction="20000"/>
          </a:bodyPr>
          <a:lstStyle/>
          <a:p>
            <a:r>
              <a:rPr lang="en-IN" sz="2400" b="1" u="sng" dirty="0"/>
              <a:t>Privacy</a:t>
            </a:r>
          </a:p>
          <a:p>
            <a:endParaRPr lang="en-IN" b="1" dirty="0"/>
          </a:p>
          <a:p>
            <a:r>
              <a:rPr lang="en-IN" dirty="0"/>
              <a:t>Privacy refers to an individual's right to control how their personal information is collected, used, and shared.</a:t>
            </a:r>
          </a:p>
          <a:p>
            <a:endParaRPr lang="en-IN" dirty="0"/>
          </a:p>
          <a:p>
            <a:r>
              <a:rPr lang="en-IN" dirty="0"/>
              <a:t>Organizations should:-</a:t>
            </a:r>
          </a:p>
          <a:p>
            <a:endParaRPr lang="en-IN" dirty="0"/>
          </a:p>
          <a:p>
            <a:pPr marL="342900" indent="-342900">
              <a:buFont typeface="Wingdings" panose="05000000000000000000" pitchFamily="2" charset="2"/>
              <a:buChar char="§"/>
            </a:pPr>
            <a:r>
              <a:rPr lang="en-IN" dirty="0"/>
              <a:t>Collect only necessary data. </a:t>
            </a:r>
          </a:p>
          <a:p>
            <a:pPr marL="342900" indent="-342900">
              <a:buFont typeface="Wingdings" panose="05000000000000000000" pitchFamily="2" charset="2"/>
              <a:buChar char="§"/>
            </a:pPr>
            <a:r>
              <a:rPr lang="en-IN" dirty="0"/>
              <a:t>Obtain user consent. </a:t>
            </a:r>
          </a:p>
          <a:p>
            <a:pPr marL="342900" indent="-342900">
              <a:buFont typeface="Wingdings" panose="05000000000000000000" pitchFamily="2" charset="2"/>
              <a:buChar char="§"/>
            </a:pPr>
            <a:r>
              <a:rPr lang="en-IN" dirty="0"/>
              <a:t>Explain why data is collected. </a:t>
            </a:r>
          </a:p>
          <a:p>
            <a:pPr marL="342900" indent="-342900">
              <a:buFont typeface="Wingdings" panose="05000000000000000000" pitchFamily="2" charset="2"/>
              <a:buChar char="§"/>
            </a:pPr>
            <a:r>
              <a:rPr lang="en-IN" dirty="0"/>
              <a:t>Allow users to update or delete their information.</a:t>
            </a:r>
          </a:p>
          <a:p>
            <a:endParaRPr lang="en-IN" dirty="0"/>
          </a:p>
        </p:txBody>
      </p:sp>
    </p:spTree>
    <p:extLst>
      <p:ext uri="{BB962C8B-B14F-4D97-AF65-F5344CB8AC3E}">
        <p14:creationId xmlns:p14="http://schemas.microsoft.com/office/powerpoint/2010/main" val="2069743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1BB9-2720-4F63-67F2-708028973A2C}"/>
              </a:ext>
            </a:extLst>
          </p:cNvPr>
          <p:cNvSpPr>
            <a:spLocks noGrp="1"/>
          </p:cNvSpPr>
          <p:nvPr>
            <p:ph type="title"/>
          </p:nvPr>
        </p:nvSpPr>
        <p:spPr>
          <a:xfrm>
            <a:off x="1817914" y="424543"/>
            <a:ext cx="9688286" cy="402771"/>
          </a:xfrm>
        </p:spPr>
        <p:txBody>
          <a:bodyPr>
            <a:normAutofit fontScale="90000"/>
          </a:bodyPr>
          <a:lstStyle/>
          <a:p>
            <a:r>
              <a:rPr lang="en-IN" b="1" u="sng" dirty="0" err="1"/>
              <a:t>ConfidentialitY</a:t>
            </a:r>
            <a:endParaRPr lang="en-IN" u="sng" dirty="0"/>
          </a:p>
        </p:txBody>
      </p:sp>
      <p:sp>
        <p:nvSpPr>
          <p:cNvPr id="3" name="Text Placeholder 2">
            <a:extLst>
              <a:ext uri="{FF2B5EF4-FFF2-40B4-BE49-F238E27FC236}">
                <a16:creationId xmlns:a16="http://schemas.microsoft.com/office/drawing/2014/main" id="{8D6641C7-4F75-270A-DF86-975DBB1A3CEB}"/>
              </a:ext>
            </a:extLst>
          </p:cNvPr>
          <p:cNvSpPr>
            <a:spLocks noGrp="1"/>
          </p:cNvSpPr>
          <p:nvPr>
            <p:ph type="body" sz="half" idx="2"/>
          </p:nvPr>
        </p:nvSpPr>
        <p:spPr>
          <a:xfrm>
            <a:off x="1611086" y="947057"/>
            <a:ext cx="9550172" cy="4288972"/>
          </a:xfrm>
        </p:spPr>
        <p:txBody>
          <a:bodyPr>
            <a:normAutofit/>
          </a:bodyPr>
          <a:lstStyle/>
          <a:p>
            <a:endParaRPr lang="en-IN" b="1" dirty="0"/>
          </a:p>
          <a:p>
            <a:r>
              <a:rPr lang="en-IN" dirty="0"/>
              <a:t>Confidentiality ensures that sensitive information is accessible only to authorized individuals.</a:t>
            </a:r>
          </a:p>
          <a:p>
            <a:endParaRPr lang="en-IN" dirty="0"/>
          </a:p>
          <a:p>
            <a:r>
              <a:rPr lang="en-IN" dirty="0"/>
              <a:t>Methods to maintain confidentiality:</a:t>
            </a:r>
          </a:p>
          <a:p>
            <a:endParaRPr lang="en-IN" dirty="0"/>
          </a:p>
          <a:p>
            <a:pPr marL="285750" indent="-285750">
              <a:buFont typeface="Wingdings" panose="05000000000000000000" pitchFamily="2" charset="2"/>
              <a:buChar char="§"/>
            </a:pPr>
            <a:r>
              <a:rPr lang="en-IN" dirty="0"/>
              <a:t>Encryption </a:t>
            </a:r>
          </a:p>
          <a:p>
            <a:pPr marL="285750" indent="-285750">
              <a:buFont typeface="Wingdings" panose="05000000000000000000" pitchFamily="2" charset="2"/>
              <a:buChar char="§"/>
            </a:pPr>
            <a:r>
              <a:rPr lang="en-IN" dirty="0"/>
              <a:t>Password protection </a:t>
            </a:r>
          </a:p>
          <a:p>
            <a:pPr marL="285750" indent="-285750">
              <a:buFont typeface="Wingdings" panose="05000000000000000000" pitchFamily="2" charset="2"/>
              <a:buChar char="§"/>
            </a:pPr>
            <a:r>
              <a:rPr lang="en-IN" dirty="0"/>
              <a:t>Multi-factor authentication </a:t>
            </a:r>
          </a:p>
          <a:p>
            <a:pPr marL="285750" indent="-285750">
              <a:buFont typeface="Wingdings" panose="05000000000000000000" pitchFamily="2" charset="2"/>
              <a:buChar char="§"/>
            </a:pPr>
            <a:r>
              <a:rPr lang="en-IN" dirty="0"/>
              <a:t>Access control </a:t>
            </a:r>
          </a:p>
          <a:p>
            <a:pPr marL="285750" indent="-285750">
              <a:buFont typeface="Wingdings" panose="05000000000000000000" pitchFamily="2" charset="2"/>
              <a:buChar char="§"/>
            </a:pPr>
            <a:r>
              <a:rPr lang="en-IN" dirty="0"/>
              <a:t>Secure data storage </a:t>
            </a:r>
          </a:p>
          <a:p>
            <a:pPr marL="285750" indent="-285750">
              <a:buFont typeface="Wingdings" panose="05000000000000000000" pitchFamily="2" charset="2"/>
              <a:buChar char="§"/>
            </a:pPr>
            <a:r>
              <a:rPr lang="en-IN" dirty="0"/>
              <a:t>Employee confidentiality agreements</a:t>
            </a:r>
          </a:p>
          <a:p>
            <a:endParaRPr lang="en-IN" dirty="0"/>
          </a:p>
        </p:txBody>
      </p:sp>
    </p:spTree>
    <p:extLst>
      <p:ext uri="{BB962C8B-B14F-4D97-AF65-F5344CB8AC3E}">
        <p14:creationId xmlns:p14="http://schemas.microsoft.com/office/powerpoint/2010/main" val="2938766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7CC7-066A-CFE7-306B-1229F3186702}"/>
              </a:ext>
            </a:extLst>
          </p:cNvPr>
          <p:cNvSpPr>
            <a:spLocks noGrp="1"/>
          </p:cNvSpPr>
          <p:nvPr>
            <p:ph type="ctrTitle"/>
          </p:nvPr>
        </p:nvSpPr>
        <p:spPr>
          <a:xfrm>
            <a:off x="1850570" y="936170"/>
            <a:ext cx="8969829" cy="1611087"/>
          </a:xfrm>
        </p:spPr>
        <p:txBody>
          <a:bodyPr>
            <a:normAutofit/>
          </a:bodyPr>
          <a:lstStyle/>
          <a:p>
            <a:r>
              <a:rPr lang="en-IN" sz="4400" b="1" u="sng" dirty="0"/>
              <a:t>Benefits</a:t>
            </a:r>
            <a:br>
              <a:rPr lang="en-IN" sz="4400" b="1" dirty="0"/>
            </a:br>
            <a:endParaRPr lang="en-IN" sz="4400" dirty="0"/>
          </a:p>
        </p:txBody>
      </p:sp>
      <p:sp>
        <p:nvSpPr>
          <p:cNvPr id="3" name="Subtitle 2">
            <a:extLst>
              <a:ext uri="{FF2B5EF4-FFF2-40B4-BE49-F238E27FC236}">
                <a16:creationId xmlns:a16="http://schemas.microsoft.com/office/drawing/2014/main" id="{CB82156E-40F4-F202-8A4E-A1F18769A855}"/>
              </a:ext>
            </a:extLst>
          </p:cNvPr>
          <p:cNvSpPr>
            <a:spLocks noGrp="1"/>
          </p:cNvSpPr>
          <p:nvPr>
            <p:ph type="subTitle" idx="1"/>
          </p:nvPr>
        </p:nvSpPr>
        <p:spPr>
          <a:xfrm>
            <a:off x="1371600" y="2198915"/>
            <a:ext cx="9448800" cy="1999345"/>
          </a:xfrm>
        </p:spPr>
        <p:txBody>
          <a:bodyPr>
            <a:normAutofit/>
          </a:bodyPr>
          <a:lstStyle/>
          <a:p>
            <a:pPr marL="342900" indent="-342900">
              <a:buFont typeface="Wingdings" panose="05000000000000000000" pitchFamily="2" charset="2"/>
              <a:buChar char="§"/>
            </a:pPr>
            <a:r>
              <a:rPr lang="en-IN" dirty="0"/>
              <a:t>Prevents identity theft </a:t>
            </a:r>
          </a:p>
          <a:p>
            <a:pPr marL="342900" indent="-342900">
              <a:buFont typeface="Wingdings" panose="05000000000000000000" pitchFamily="2" charset="2"/>
              <a:buChar char="§"/>
            </a:pPr>
            <a:r>
              <a:rPr lang="en-IN" dirty="0"/>
              <a:t>Protects customer trust </a:t>
            </a:r>
          </a:p>
          <a:p>
            <a:pPr marL="342900" indent="-342900">
              <a:buFont typeface="Wingdings" panose="05000000000000000000" pitchFamily="2" charset="2"/>
              <a:buChar char="§"/>
            </a:pPr>
            <a:r>
              <a:rPr lang="en-IN" dirty="0"/>
              <a:t>Reduces legal risks </a:t>
            </a:r>
          </a:p>
          <a:p>
            <a:pPr marL="342900" indent="-342900">
              <a:buFont typeface="Wingdings" panose="05000000000000000000" pitchFamily="2" charset="2"/>
              <a:buChar char="§"/>
            </a:pPr>
            <a:r>
              <a:rPr lang="en-IN" dirty="0"/>
              <a:t>Improves organizational reputation</a:t>
            </a:r>
          </a:p>
          <a:p>
            <a:endParaRPr lang="en-IN" dirty="0"/>
          </a:p>
        </p:txBody>
      </p:sp>
    </p:spTree>
    <p:extLst>
      <p:ext uri="{BB962C8B-B14F-4D97-AF65-F5344CB8AC3E}">
        <p14:creationId xmlns:p14="http://schemas.microsoft.com/office/powerpoint/2010/main" val="1169576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6128-EE93-8C20-8C28-61250D969A5A}"/>
              </a:ext>
            </a:extLst>
          </p:cNvPr>
          <p:cNvSpPr>
            <a:spLocks noGrp="1"/>
          </p:cNvSpPr>
          <p:nvPr>
            <p:ph type="ctrTitle"/>
          </p:nvPr>
        </p:nvSpPr>
        <p:spPr>
          <a:xfrm>
            <a:off x="1926770" y="827315"/>
            <a:ext cx="8893629" cy="827314"/>
          </a:xfrm>
        </p:spPr>
        <p:txBody>
          <a:bodyPr>
            <a:normAutofit/>
          </a:bodyPr>
          <a:lstStyle/>
          <a:p>
            <a:r>
              <a:rPr lang="en-IN" sz="3600" b="1" u="sng" dirty="0"/>
              <a:t>Transparency and Accountability</a:t>
            </a:r>
          </a:p>
        </p:txBody>
      </p:sp>
      <p:sp>
        <p:nvSpPr>
          <p:cNvPr id="3" name="Subtitle 2">
            <a:extLst>
              <a:ext uri="{FF2B5EF4-FFF2-40B4-BE49-F238E27FC236}">
                <a16:creationId xmlns:a16="http://schemas.microsoft.com/office/drawing/2014/main" id="{801AA434-9FD8-98EE-28FD-CC0E09075FB7}"/>
              </a:ext>
            </a:extLst>
          </p:cNvPr>
          <p:cNvSpPr>
            <a:spLocks noGrp="1"/>
          </p:cNvSpPr>
          <p:nvPr>
            <p:ph type="subTitle" idx="1"/>
          </p:nvPr>
        </p:nvSpPr>
        <p:spPr>
          <a:xfrm>
            <a:off x="2133600" y="1839687"/>
            <a:ext cx="8686799" cy="3635828"/>
          </a:xfrm>
        </p:spPr>
        <p:txBody>
          <a:bodyPr>
            <a:normAutofit fontScale="92500" lnSpcReduction="10000"/>
          </a:bodyPr>
          <a:lstStyle/>
          <a:p>
            <a:pPr>
              <a:buNone/>
            </a:pPr>
            <a:r>
              <a:rPr lang="en-IN" sz="2600" b="1" u="sng" dirty="0"/>
              <a:t>Transparency</a:t>
            </a:r>
          </a:p>
          <a:p>
            <a:pPr>
              <a:buNone/>
            </a:pPr>
            <a:r>
              <a:rPr lang="en-IN" dirty="0"/>
              <a:t>Organizations should openly explain:</a:t>
            </a:r>
          </a:p>
          <a:p>
            <a:pPr>
              <a:buFont typeface="Arial" panose="020B0604020202020204" pitchFamily="34" charset="0"/>
              <a:buChar char="•"/>
            </a:pPr>
            <a:r>
              <a:rPr lang="en-IN" dirty="0"/>
              <a:t>What data is collected </a:t>
            </a:r>
          </a:p>
          <a:p>
            <a:pPr>
              <a:buFont typeface="Arial" panose="020B0604020202020204" pitchFamily="34" charset="0"/>
              <a:buChar char="•"/>
            </a:pPr>
            <a:r>
              <a:rPr lang="en-IN" dirty="0"/>
              <a:t>Why it is collected </a:t>
            </a:r>
          </a:p>
          <a:p>
            <a:pPr>
              <a:buFont typeface="Arial" panose="020B0604020202020204" pitchFamily="34" charset="0"/>
              <a:buChar char="•"/>
            </a:pPr>
            <a:r>
              <a:rPr lang="en-IN" dirty="0"/>
              <a:t>How it is stored </a:t>
            </a:r>
          </a:p>
          <a:p>
            <a:pPr>
              <a:buFont typeface="Arial" panose="020B0604020202020204" pitchFamily="34" charset="0"/>
              <a:buChar char="•"/>
            </a:pPr>
            <a:r>
              <a:rPr lang="en-IN" dirty="0"/>
              <a:t>Who can access it </a:t>
            </a:r>
          </a:p>
          <a:p>
            <a:pPr>
              <a:buFont typeface="Arial" panose="020B0604020202020204" pitchFamily="34" charset="0"/>
              <a:buChar char="•"/>
            </a:pPr>
            <a:r>
              <a:rPr lang="en-IN" dirty="0"/>
              <a:t>How long it is retained </a:t>
            </a:r>
          </a:p>
          <a:p>
            <a:pPr>
              <a:buFont typeface="Arial" panose="020B0604020202020204" pitchFamily="34" charset="0"/>
              <a:buChar char="•"/>
            </a:pPr>
            <a:r>
              <a:rPr lang="en-IN" dirty="0"/>
              <a:t>Whether it is shared with third parties </a:t>
            </a:r>
          </a:p>
          <a:p>
            <a:endParaRPr lang="en-IN" dirty="0"/>
          </a:p>
          <a:p>
            <a:pPr>
              <a:buNone/>
            </a:pPr>
            <a:r>
              <a:rPr lang="en-IN" dirty="0"/>
              <a:t>Transparency helps users make informed decisions.</a:t>
            </a:r>
          </a:p>
          <a:p>
            <a:endParaRPr lang="en-IN" dirty="0"/>
          </a:p>
        </p:txBody>
      </p:sp>
    </p:spTree>
    <p:extLst>
      <p:ext uri="{BB962C8B-B14F-4D97-AF65-F5344CB8AC3E}">
        <p14:creationId xmlns:p14="http://schemas.microsoft.com/office/powerpoint/2010/main" val="280792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B88C-8D76-8D4E-E763-4E37C468BFBF}"/>
              </a:ext>
            </a:extLst>
          </p:cNvPr>
          <p:cNvSpPr>
            <a:spLocks noGrp="1"/>
          </p:cNvSpPr>
          <p:nvPr>
            <p:ph type="ctrTitle"/>
          </p:nvPr>
        </p:nvSpPr>
        <p:spPr>
          <a:xfrm>
            <a:off x="2275114" y="1273629"/>
            <a:ext cx="8545286" cy="914399"/>
          </a:xfrm>
        </p:spPr>
        <p:txBody>
          <a:bodyPr>
            <a:normAutofit fontScale="90000"/>
          </a:bodyPr>
          <a:lstStyle/>
          <a:p>
            <a:r>
              <a:rPr lang="en-IN" sz="4000" b="1" u="sng" dirty="0"/>
              <a:t>Accountability</a:t>
            </a:r>
            <a:br>
              <a:rPr lang="en-IN" sz="4000" b="1" dirty="0"/>
            </a:br>
            <a:endParaRPr lang="en-IN" sz="4000" dirty="0"/>
          </a:p>
        </p:txBody>
      </p:sp>
      <p:sp>
        <p:nvSpPr>
          <p:cNvPr id="3" name="Subtitle 2">
            <a:extLst>
              <a:ext uri="{FF2B5EF4-FFF2-40B4-BE49-F238E27FC236}">
                <a16:creationId xmlns:a16="http://schemas.microsoft.com/office/drawing/2014/main" id="{E6D16B6E-1CFC-015E-37EB-E550195E630E}"/>
              </a:ext>
            </a:extLst>
          </p:cNvPr>
          <p:cNvSpPr>
            <a:spLocks noGrp="1"/>
          </p:cNvSpPr>
          <p:nvPr>
            <p:ph type="subTitle" idx="1"/>
          </p:nvPr>
        </p:nvSpPr>
        <p:spPr>
          <a:xfrm>
            <a:off x="1970314" y="1785257"/>
            <a:ext cx="8850086" cy="3037114"/>
          </a:xfrm>
        </p:spPr>
        <p:txBody>
          <a:bodyPr>
            <a:normAutofit fontScale="92500" lnSpcReduction="20000"/>
          </a:bodyPr>
          <a:lstStyle/>
          <a:p>
            <a:r>
              <a:rPr lang="en-IN" dirty="0"/>
              <a:t>Organizations must take responsibility for how they manage data.</a:t>
            </a:r>
          </a:p>
          <a:p>
            <a:endParaRPr lang="en-IN" dirty="0"/>
          </a:p>
          <a:p>
            <a:r>
              <a:rPr lang="en-IN" dirty="0"/>
              <a:t>This includes:</a:t>
            </a:r>
          </a:p>
          <a:p>
            <a:pPr marL="342900" indent="-342900">
              <a:buFont typeface="Wingdings" panose="05000000000000000000" pitchFamily="2" charset="2"/>
              <a:buChar char="§"/>
            </a:pPr>
            <a:r>
              <a:rPr lang="en-IN" dirty="0"/>
              <a:t>Following ethical standards </a:t>
            </a:r>
          </a:p>
          <a:p>
            <a:pPr marL="342900" indent="-342900">
              <a:buFont typeface="Wingdings" panose="05000000000000000000" pitchFamily="2" charset="2"/>
              <a:buChar char="§"/>
            </a:pPr>
            <a:r>
              <a:rPr lang="en-IN" dirty="0"/>
              <a:t>Maintaining audit trails </a:t>
            </a:r>
          </a:p>
          <a:p>
            <a:pPr marL="342900" indent="-342900">
              <a:buFont typeface="Wingdings" panose="05000000000000000000" pitchFamily="2" charset="2"/>
              <a:buChar char="§"/>
            </a:pPr>
            <a:r>
              <a:rPr lang="en-IN" dirty="0"/>
              <a:t>Conducting regular security audits </a:t>
            </a:r>
          </a:p>
          <a:p>
            <a:pPr marL="342900" indent="-342900">
              <a:buFont typeface="Wingdings" panose="05000000000000000000" pitchFamily="2" charset="2"/>
              <a:buChar char="§"/>
            </a:pPr>
            <a:r>
              <a:rPr lang="en-IN" dirty="0"/>
              <a:t>Reporting data breaches </a:t>
            </a:r>
          </a:p>
          <a:p>
            <a:pPr marL="342900" indent="-342900">
              <a:buFont typeface="Wingdings" panose="05000000000000000000" pitchFamily="2" charset="2"/>
              <a:buChar char="§"/>
            </a:pPr>
            <a:r>
              <a:rPr lang="en-IN" dirty="0"/>
              <a:t>Correcting mistakes promptly </a:t>
            </a:r>
          </a:p>
          <a:p>
            <a:pPr marL="342900" indent="-342900">
              <a:buFont typeface="Wingdings" panose="05000000000000000000" pitchFamily="2" charset="2"/>
              <a:buChar char="§"/>
            </a:pPr>
            <a:r>
              <a:rPr lang="en-IN" dirty="0"/>
              <a:t>Training employees</a:t>
            </a:r>
          </a:p>
          <a:p>
            <a:endParaRPr lang="en-IN" dirty="0"/>
          </a:p>
        </p:txBody>
      </p:sp>
    </p:spTree>
    <p:extLst>
      <p:ext uri="{BB962C8B-B14F-4D97-AF65-F5344CB8AC3E}">
        <p14:creationId xmlns:p14="http://schemas.microsoft.com/office/powerpoint/2010/main" val="123709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B9FC5-51FA-A564-72C6-7527A5B954B3}"/>
              </a:ext>
            </a:extLst>
          </p:cNvPr>
          <p:cNvSpPr>
            <a:spLocks noGrp="1"/>
          </p:cNvSpPr>
          <p:nvPr>
            <p:ph type="title"/>
          </p:nvPr>
        </p:nvSpPr>
        <p:spPr>
          <a:xfrm>
            <a:off x="1992086" y="141515"/>
            <a:ext cx="9514114" cy="250372"/>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05B67FAD-10DA-A0A4-1586-C243057AB759}"/>
              </a:ext>
            </a:extLst>
          </p:cNvPr>
          <p:cNvSpPr>
            <a:spLocks noGrp="1"/>
          </p:cNvSpPr>
          <p:nvPr>
            <p:ph type="body" sz="half" idx="2"/>
          </p:nvPr>
        </p:nvSpPr>
        <p:spPr>
          <a:xfrm>
            <a:off x="2275113" y="522515"/>
            <a:ext cx="8879869" cy="4125686"/>
          </a:xfrm>
        </p:spPr>
        <p:txBody>
          <a:bodyPr/>
          <a:lstStyle/>
          <a:p>
            <a:r>
              <a:rPr lang="en-IN" sz="3200" b="1" u="sng" dirty="0"/>
              <a:t>Benefits</a:t>
            </a:r>
          </a:p>
          <a:p>
            <a:pPr algn="ctr"/>
            <a:endParaRPr lang="en-IN" sz="3200" b="1" dirty="0"/>
          </a:p>
          <a:p>
            <a:pPr marL="342900" indent="-342900">
              <a:buFont typeface="Wingdings" panose="05000000000000000000" pitchFamily="2" charset="2"/>
              <a:buChar char="§"/>
            </a:pPr>
            <a:r>
              <a:rPr lang="en-IN" sz="2400" dirty="0"/>
              <a:t>Increased public trust </a:t>
            </a:r>
          </a:p>
          <a:p>
            <a:pPr marL="342900" indent="-342900">
              <a:buFont typeface="Wingdings" panose="05000000000000000000" pitchFamily="2" charset="2"/>
              <a:buChar char="§"/>
            </a:pPr>
            <a:r>
              <a:rPr lang="en-IN" sz="2400" dirty="0"/>
              <a:t>Better compliance </a:t>
            </a:r>
          </a:p>
          <a:p>
            <a:pPr marL="342900" indent="-342900">
              <a:buFont typeface="Wingdings" panose="05000000000000000000" pitchFamily="2" charset="2"/>
              <a:buChar char="§"/>
            </a:pPr>
            <a:r>
              <a:rPr lang="en-IN" sz="2400" dirty="0"/>
              <a:t>Improved decision-making </a:t>
            </a:r>
          </a:p>
          <a:p>
            <a:pPr marL="342900" indent="-342900">
              <a:buFont typeface="Wingdings" panose="05000000000000000000" pitchFamily="2" charset="2"/>
              <a:buChar char="§"/>
            </a:pPr>
            <a:r>
              <a:rPr lang="en-IN" sz="2400" dirty="0"/>
              <a:t>Reduced misuse of data</a:t>
            </a:r>
          </a:p>
          <a:p>
            <a:endParaRPr lang="en-IN" dirty="0"/>
          </a:p>
        </p:txBody>
      </p:sp>
    </p:spTree>
    <p:extLst>
      <p:ext uri="{BB962C8B-B14F-4D97-AF65-F5344CB8AC3E}">
        <p14:creationId xmlns:p14="http://schemas.microsoft.com/office/powerpoint/2010/main" val="1879669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E46D-CEE9-702D-4310-DA26A0EFB632}"/>
              </a:ext>
            </a:extLst>
          </p:cNvPr>
          <p:cNvSpPr>
            <a:spLocks noGrp="1"/>
          </p:cNvSpPr>
          <p:nvPr>
            <p:ph type="title"/>
          </p:nvPr>
        </p:nvSpPr>
        <p:spPr>
          <a:xfrm>
            <a:off x="685800" y="753532"/>
            <a:ext cx="10820400" cy="879325"/>
          </a:xfrm>
        </p:spPr>
        <p:txBody>
          <a:bodyPr>
            <a:normAutofit fontScale="90000"/>
          </a:bodyPr>
          <a:lstStyle/>
          <a:p>
            <a:r>
              <a:rPr lang="en-IN" b="1" dirty="0"/>
              <a:t>C. </a:t>
            </a:r>
            <a:r>
              <a:rPr lang="en-IN" b="1" u="sng" dirty="0"/>
              <a:t>Regulatory Compliance (e.g., GDPR, CCPA)</a:t>
            </a:r>
            <a:br>
              <a:rPr lang="en-IN" b="1" u="sng" dirty="0"/>
            </a:br>
            <a:endParaRPr lang="en-IN" u="sng" dirty="0"/>
          </a:p>
        </p:txBody>
      </p:sp>
      <p:sp>
        <p:nvSpPr>
          <p:cNvPr id="3" name="Text Placeholder 2">
            <a:extLst>
              <a:ext uri="{FF2B5EF4-FFF2-40B4-BE49-F238E27FC236}">
                <a16:creationId xmlns:a16="http://schemas.microsoft.com/office/drawing/2014/main" id="{8EACE567-47CF-4776-8B31-B2A6E8215C76}"/>
              </a:ext>
            </a:extLst>
          </p:cNvPr>
          <p:cNvSpPr>
            <a:spLocks noGrp="1"/>
          </p:cNvSpPr>
          <p:nvPr>
            <p:ph type="body" sz="half" idx="2"/>
          </p:nvPr>
        </p:nvSpPr>
        <p:spPr>
          <a:xfrm>
            <a:off x="892629" y="1632857"/>
            <a:ext cx="9622972" cy="2318657"/>
          </a:xfrm>
        </p:spPr>
        <p:txBody>
          <a:bodyPr/>
          <a:lstStyle/>
          <a:p>
            <a:pPr marL="285750" indent="-285750">
              <a:buFont typeface="Wingdings" panose="05000000000000000000" pitchFamily="2" charset="2"/>
              <a:buChar char="q"/>
            </a:pPr>
            <a:r>
              <a:rPr lang="en-IN" dirty="0"/>
              <a:t>Regulatory compliance means following laws and regulations related to data privacy and protection.</a:t>
            </a:r>
          </a:p>
          <a:p>
            <a:endParaRPr lang="en-IN" dirty="0"/>
          </a:p>
          <a:p>
            <a:pPr marL="285750" indent="-285750">
              <a:buFont typeface="Wingdings" panose="05000000000000000000" pitchFamily="2" charset="2"/>
              <a:buChar char="q"/>
            </a:pPr>
            <a:r>
              <a:rPr lang="en-IN" dirty="0"/>
              <a:t>Organizations that collect personal data must comply with relevant legal requirements.</a:t>
            </a:r>
          </a:p>
          <a:p>
            <a:endParaRPr lang="en-IN" dirty="0"/>
          </a:p>
        </p:txBody>
      </p:sp>
    </p:spTree>
    <p:extLst>
      <p:ext uri="{BB962C8B-B14F-4D97-AF65-F5344CB8AC3E}">
        <p14:creationId xmlns:p14="http://schemas.microsoft.com/office/powerpoint/2010/main" val="83630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D814-77DB-0C94-8803-54DC7638B63A}"/>
              </a:ext>
            </a:extLst>
          </p:cNvPr>
          <p:cNvSpPr>
            <a:spLocks noGrp="1"/>
          </p:cNvSpPr>
          <p:nvPr>
            <p:ph type="ctrTitle"/>
          </p:nvPr>
        </p:nvSpPr>
        <p:spPr>
          <a:xfrm>
            <a:off x="2503714" y="1197428"/>
            <a:ext cx="8316686" cy="827315"/>
          </a:xfrm>
        </p:spPr>
        <p:txBody>
          <a:bodyPr>
            <a:noAutofit/>
          </a:bodyPr>
          <a:lstStyle/>
          <a:p>
            <a:r>
              <a:rPr lang="en-IN" sz="3600" b="1" u="sng" dirty="0"/>
              <a:t>GDPR (General Data Protection Regulation)</a:t>
            </a:r>
            <a:br>
              <a:rPr lang="en-IN" sz="3600" b="1" u="sng" dirty="0"/>
            </a:br>
            <a:endParaRPr lang="en-IN" sz="3600" u="sng" dirty="0"/>
          </a:p>
        </p:txBody>
      </p:sp>
      <p:sp>
        <p:nvSpPr>
          <p:cNvPr id="3" name="Subtitle 2">
            <a:extLst>
              <a:ext uri="{FF2B5EF4-FFF2-40B4-BE49-F238E27FC236}">
                <a16:creationId xmlns:a16="http://schemas.microsoft.com/office/drawing/2014/main" id="{7181EAEF-DF3B-250C-51A3-5647CD952658}"/>
              </a:ext>
            </a:extLst>
          </p:cNvPr>
          <p:cNvSpPr>
            <a:spLocks noGrp="1"/>
          </p:cNvSpPr>
          <p:nvPr>
            <p:ph type="subTitle" idx="1"/>
          </p:nvPr>
        </p:nvSpPr>
        <p:spPr>
          <a:xfrm>
            <a:off x="1605643" y="1665514"/>
            <a:ext cx="9448800" cy="3276600"/>
          </a:xfrm>
        </p:spPr>
        <p:txBody>
          <a:bodyPr>
            <a:normAutofit fontScale="92500" lnSpcReduction="20000"/>
          </a:bodyPr>
          <a:lstStyle/>
          <a:p>
            <a:r>
              <a:rPr lang="en-IN" dirty="0"/>
              <a:t>The </a:t>
            </a:r>
            <a:r>
              <a:rPr lang="en-IN" b="1" dirty="0"/>
              <a:t>GDPR</a:t>
            </a:r>
            <a:r>
              <a:rPr lang="en-IN" dirty="0"/>
              <a:t> is a European Union regulation that protects the personal data and privacy of individuals.</a:t>
            </a:r>
          </a:p>
          <a:p>
            <a:endParaRPr lang="en-IN" dirty="0"/>
          </a:p>
          <a:p>
            <a:r>
              <a:rPr lang="en-IN" b="1" u="sng" dirty="0"/>
              <a:t>Key Features</a:t>
            </a:r>
          </a:p>
          <a:p>
            <a:pPr marL="342900" indent="-342900">
              <a:buFont typeface="Wingdings" panose="05000000000000000000" pitchFamily="2" charset="2"/>
              <a:buChar char="§"/>
            </a:pPr>
            <a:r>
              <a:rPr lang="en-IN" dirty="0"/>
              <a:t>Requires user consent before collecting personal data. </a:t>
            </a:r>
          </a:p>
          <a:p>
            <a:pPr marL="342900" indent="-342900">
              <a:buFont typeface="Wingdings" panose="05000000000000000000" pitchFamily="2" charset="2"/>
              <a:buChar char="§"/>
            </a:pPr>
            <a:r>
              <a:rPr lang="en-IN" dirty="0"/>
              <a:t>Gives individuals the right to access their data. </a:t>
            </a:r>
          </a:p>
          <a:p>
            <a:pPr marL="342900" indent="-342900">
              <a:buFont typeface="Wingdings" panose="05000000000000000000" pitchFamily="2" charset="2"/>
              <a:buChar char="§"/>
            </a:pPr>
            <a:r>
              <a:rPr lang="en-IN" dirty="0"/>
              <a:t>Allows users to correct inaccurate data. </a:t>
            </a:r>
          </a:p>
          <a:p>
            <a:pPr marL="342900" indent="-342900">
              <a:buFont typeface="Wingdings" panose="05000000000000000000" pitchFamily="2" charset="2"/>
              <a:buChar char="§"/>
            </a:pPr>
            <a:r>
              <a:rPr lang="en-IN" dirty="0"/>
              <a:t>Provides the "Right to be Forgotten." </a:t>
            </a:r>
          </a:p>
          <a:p>
            <a:pPr marL="342900" indent="-342900">
              <a:buFont typeface="Wingdings" panose="05000000000000000000" pitchFamily="2" charset="2"/>
              <a:buChar char="§"/>
            </a:pPr>
            <a:r>
              <a:rPr lang="en-IN" dirty="0"/>
              <a:t>Requires organizations to report data breaches. </a:t>
            </a:r>
          </a:p>
          <a:p>
            <a:pPr marL="342900" indent="-342900">
              <a:buFont typeface="Wingdings" panose="05000000000000000000" pitchFamily="2" charset="2"/>
              <a:buChar char="§"/>
            </a:pPr>
            <a:r>
              <a:rPr lang="en-IN" dirty="0"/>
              <a:t>Imposes significant penalties for non-compliance.</a:t>
            </a:r>
          </a:p>
          <a:p>
            <a:endParaRPr lang="en-IN" dirty="0"/>
          </a:p>
        </p:txBody>
      </p:sp>
    </p:spTree>
    <p:extLst>
      <p:ext uri="{BB962C8B-B14F-4D97-AF65-F5344CB8AC3E}">
        <p14:creationId xmlns:p14="http://schemas.microsoft.com/office/powerpoint/2010/main" val="4220002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BE99-C2C4-4BA4-2304-04E5B404CB90}"/>
              </a:ext>
            </a:extLst>
          </p:cNvPr>
          <p:cNvSpPr>
            <a:spLocks noGrp="1"/>
          </p:cNvSpPr>
          <p:nvPr>
            <p:ph type="title"/>
          </p:nvPr>
        </p:nvSpPr>
        <p:spPr>
          <a:xfrm>
            <a:off x="685800" y="753534"/>
            <a:ext cx="10820399" cy="726924"/>
          </a:xfrm>
        </p:spPr>
        <p:txBody>
          <a:bodyPr/>
          <a:lstStyle/>
          <a:p>
            <a:pPr algn="l"/>
            <a:r>
              <a:rPr lang="en-IN" dirty="0">
                <a:solidFill>
                  <a:schemeClr val="bg1"/>
                </a:solidFill>
              </a:rPr>
              <a:t>.</a:t>
            </a:r>
          </a:p>
        </p:txBody>
      </p:sp>
      <p:sp>
        <p:nvSpPr>
          <p:cNvPr id="3" name="Text Placeholder 2">
            <a:extLst>
              <a:ext uri="{FF2B5EF4-FFF2-40B4-BE49-F238E27FC236}">
                <a16:creationId xmlns:a16="http://schemas.microsoft.com/office/drawing/2014/main" id="{551EAD4E-DD39-8DDA-ECD9-C480160F7F12}"/>
              </a:ext>
            </a:extLst>
          </p:cNvPr>
          <p:cNvSpPr>
            <a:spLocks noGrp="1"/>
          </p:cNvSpPr>
          <p:nvPr>
            <p:ph type="body" idx="1"/>
          </p:nvPr>
        </p:nvSpPr>
        <p:spPr>
          <a:xfrm>
            <a:off x="2449286" y="903514"/>
            <a:ext cx="8488438" cy="3552373"/>
          </a:xfrm>
        </p:spPr>
        <p:txBody>
          <a:bodyPr/>
          <a:lstStyle/>
          <a:p>
            <a:pPr algn="l"/>
            <a:r>
              <a:rPr lang="en-IN" sz="3200" b="1" u="sng" dirty="0"/>
              <a:t>Benefits</a:t>
            </a:r>
          </a:p>
          <a:p>
            <a:pPr algn="l"/>
            <a:endParaRPr lang="en-IN" sz="3200" b="1" u="sng" dirty="0"/>
          </a:p>
          <a:p>
            <a:pPr marL="342900" indent="-342900" algn="l">
              <a:buFont typeface="Arial" panose="020B0604020202020204" pitchFamily="34" charset="0"/>
              <a:buChar char="•"/>
            </a:pPr>
            <a:r>
              <a:rPr lang="en-IN" dirty="0"/>
              <a:t>Strong privacy protection </a:t>
            </a:r>
          </a:p>
          <a:p>
            <a:pPr marL="342900" indent="-342900" algn="l">
              <a:buFont typeface="Arial" panose="020B0604020202020204" pitchFamily="34" charset="0"/>
              <a:buChar char="•"/>
            </a:pPr>
            <a:r>
              <a:rPr lang="en-IN" dirty="0"/>
              <a:t>Increased transparency </a:t>
            </a:r>
          </a:p>
          <a:p>
            <a:pPr marL="342900" indent="-342900" algn="l">
              <a:buFont typeface="Arial" panose="020B0604020202020204" pitchFamily="34" charset="0"/>
              <a:buChar char="•"/>
            </a:pPr>
            <a:r>
              <a:rPr lang="en-IN" dirty="0"/>
              <a:t>Better consumer trust </a:t>
            </a:r>
          </a:p>
          <a:p>
            <a:pPr marL="342900" indent="-342900" algn="l">
              <a:buFont typeface="Arial" panose="020B0604020202020204" pitchFamily="34" charset="0"/>
              <a:buChar char="•"/>
            </a:pPr>
            <a:r>
              <a:rPr lang="en-IN" dirty="0"/>
              <a:t>Improved data security</a:t>
            </a:r>
          </a:p>
          <a:p>
            <a:pPr algn="l"/>
            <a:endParaRPr lang="en-IN" dirty="0"/>
          </a:p>
        </p:txBody>
      </p:sp>
    </p:spTree>
    <p:extLst>
      <p:ext uri="{BB962C8B-B14F-4D97-AF65-F5344CB8AC3E}">
        <p14:creationId xmlns:p14="http://schemas.microsoft.com/office/powerpoint/2010/main" val="3774576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A8EB-F173-CAAA-87B4-31CAB85A5F4F}"/>
              </a:ext>
            </a:extLst>
          </p:cNvPr>
          <p:cNvSpPr>
            <a:spLocks noGrp="1"/>
          </p:cNvSpPr>
          <p:nvPr>
            <p:ph type="title"/>
          </p:nvPr>
        </p:nvSpPr>
        <p:spPr>
          <a:xfrm>
            <a:off x="685800" y="753534"/>
            <a:ext cx="10820399" cy="596295"/>
          </a:xfrm>
        </p:spPr>
        <p:txBody>
          <a:bodyPr>
            <a:normAutofit fontScale="90000"/>
          </a:bodyPr>
          <a:lstStyle/>
          <a:p>
            <a:pPr algn="l"/>
            <a:r>
              <a:rPr lang="en-IN" b="1" u="sng" dirty="0"/>
              <a:t>CCPA (California Consumer Privacy Act)</a:t>
            </a:r>
            <a:br>
              <a:rPr lang="en-IN" b="1" u="sng" dirty="0"/>
            </a:br>
            <a:endParaRPr lang="en-IN" u="sng" dirty="0"/>
          </a:p>
        </p:txBody>
      </p:sp>
      <p:sp>
        <p:nvSpPr>
          <p:cNvPr id="3" name="Text Placeholder 2">
            <a:extLst>
              <a:ext uri="{FF2B5EF4-FFF2-40B4-BE49-F238E27FC236}">
                <a16:creationId xmlns:a16="http://schemas.microsoft.com/office/drawing/2014/main" id="{19C2B853-BCF0-AA51-E186-738011C51FE9}"/>
              </a:ext>
            </a:extLst>
          </p:cNvPr>
          <p:cNvSpPr>
            <a:spLocks noGrp="1"/>
          </p:cNvSpPr>
          <p:nvPr>
            <p:ph type="body" idx="1"/>
          </p:nvPr>
        </p:nvSpPr>
        <p:spPr>
          <a:xfrm>
            <a:off x="1024467" y="1262743"/>
            <a:ext cx="10490200" cy="3334657"/>
          </a:xfrm>
        </p:spPr>
        <p:txBody>
          <a:bodyPr>
            <a:normAutofit/>
          </a:bodyPr>
          <a:lstStyle/>
          <a:p>
            <a:pPr algn="l"/>
            <a:r>
              <a:rPr lang="en-IN" dirty="0"/>
              <a:t>The </a:t>
            </a:r>
            <a:r>
              <a:rPr lang="en-IN" b="1" dirty="0"/>
              <a:t>CCPA</a:t>
            </a:r>
            <a:r>
              <a:rPr lang="en-IN" dirty="0"/>
              <a:t> protects the privacy rights of California residents.</a:t>
            </a:r>
          </a:p>
          <a:p>
            <a:pPr algn="l"/>
            <a:endParaRPr lang="en-IN" dirty="0"/>
          </a:p>
          <a:p>
            <a:pPr algn="l"/>
            <a:r>
              <a:rPr lang="en-IN" b="1" u="sng" dirty="0"/>
              <a:t>Consumer Rights</a:t>
            </a:r>
          </a:p>
          <a:p>
            <a:pPr marL="342900" indent="-342900" algn="l">
              <a:buFont typeface="Wingdings" panose="05000000000000000000" pitchFamily="2" charset="2"/>
              <a:buChar char="§"/>
            </a:pPr>
            <a:r>
              <a:rPr lang="en-IN" dirty="0"/>
              <a:t>Know what personal information is collected. </a:t>
            </a:r>
          </a:p>
          <a:p>
            <a:pPr marL="342900" indent="-342900" algn="l">
              <a:buFont typeface="Wingdings" panose="05000000000000000000" pitchFamily="2" charset="2"/>
              <a:buChar char="§"/>
            </a:pPr>
            <a:r>
              <a:rPr lang="en-IN" dirty="0"/>
              <a:t>Request deletion of personal information. </a:t>
            </a:r>
          </a:p>
          <a:p>
            <a:pPr marL="342900" indent="-342900" algn="l">
              <a:buFont typeface="Wingdings" panose="05000000000000000000" pitchFamily="2" charset="2"/>
              <a:buChar char="§"/>
            </a:pPr>
            <a:r>
              <a:rPr lang="en-IN" dirty="0" err="1"/>
              <a:t>Opt</a:t>
            </a:r>
            <a:r>
              <a:rPr lang="en-IN" dirty="0"/>
              <a:t> out of the sale of personal information. </a:t>
            </a:r>
          </a:p>
          <a:p>
            <a:pPr marL="342900" indent="-342900" algn="l">
              <a:buFont typeface="Wingdings" panose="05000000000000000000" pitchFamily="2" charset="2"/>
              <a:buChar char="§"/>
            </a:pPr>
            <a:r>
              <a:rPr lang="en-IN" dirty="0"/>
              <a:t>Receive equal service regardless of privacy choices.</a:t>
            </a:r>
          </a:p>
          <a:p>
            <a:pPr algn="l"/>
            <a:endParaRPr lang="en-IN" dirty="0"/>
          </a:p>
        </p:txBody>
      </p:sp>
    </p:spTree>
    <p:extLst>
      <p:ext uri="{BB962C8B-B14F-4D97-AF65-F5344CB8AC3E}">
        <p14:creationId xmlns:p14="http://schemas.microsoft.com/office/powerpoint/2010/main" val="1036617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4DE9A-6F28-CDF1-FA55-CD8DB7DF2AB6}"/>
              </a:ext>
            </a:extLst>
          </p:cNvPr>
          <p:cNvSpPr>
            <a:spLocks noGrp="1"/>
          </p:cNvSpPr>
          <p:nvPr>
            <p:ph type="title"/>
          </p:nvPr>
        </p:nvSpPr>
        <p:spPr>
          <a:xfrm>
            <a:off x="685800" y="0"/>
            <a:ext cx="10820399" cy="239486"/>
          </a:xfrm>
        </p:spPr>
        <p:txBody>
          <a:bodyPr>
            <a:normAutofit fontScale="90000"/>
          </a:bodyPr>
          <a:lstStyle/>
          <a:p>
            <a:pPr algn="l"/>
            <a:r>
              <a:rPr lang="en-IN" dirty="0">
                <a:solidFill>
                  <a:schemeClr val="bg1"/>
                </a:solidFill>
              </a:rPr>
              <a:t>.</a:t>
            </a:r>
          </a:p>
        </p:txBody>
      </p:sp>
      <p:sp>
        <p:nvSpPr>
          <p:cNvPr id="3" name="Text Placeholder 2">
            <a:extLst>
              <a:ext uri="{FF2B5EF4-FFF2-40B4-BE49-F238E27FC236}">
                <a16:creationId xmlns:a16="http://schemas.microsoft.com/office/drawing/2014/main" id="{6BB656D5-6894-F93C-4D1E-359EE47B041D}"/>
              </a:ext>
            </a:extLst>
          </p:cNvPr>
          <p:cNvSpPr>
            <a:spLocks noGrp="1"/>
          </p:cNvSpPr>
          <p:nvPr>
            <p:ph type="body" idx="1"/>
          </p:nvPr>
        </p:nvSpPr>
        <p:spPr>
          <a:xfrm>
            <a:off x="1534886" y="326570"/>
            <a:ext cx="9525000" cy="5007429"/>
          </a:xfrm>
        </p:spPr>
        <p:txBody>
          <a:bodyPr>
            <a:normAutofit fontScale="92500" lnSpcReduction="10000"/>
          </a:bodyPr>
          <a:lstStyle/>
          <a:p>
            <a:pPr algn="l"/>
            <a:r>
              <a:rPr lang="en-IN" b="1" u="sng" dirty="0"/>
              <a:t>Organizational Responsibilities</a:t>
            </a:r>
          </a:p>
          <a:p>
            <a:pPr marL="342900" indent="-342900" algn="l">
              <a:buFont typeface="Wingdings" panose="05000000000000000000" pitchFamily="2" charset="2"/>
              <a:buChar char="§"/>
            </a:pPr>
            <a:r>
              <a:rPr lang="en-IN" dirty="0"/>
              <a:t>Inform consumers about data collection. </a:t>
            </a:r>
          </a:p>
          <a:p>
            <a:pPr marL="342900" indent="-342900" algn="l">
              <a:buFont typeface="Wingdings" panose="05000000000000000000" pitchFamily="2" charset="2"/>
              <a:buChar char="§"/>
            </a:pPr>
            <a:r>
              <a:rPr lang="en-IN" dirty="0"/>
              <a:t>Respond to privacy requests. </a:t>
            </a:r>
          </a:p>
          <a:p>
            <a:pPr marL="342900" indent="-342900" algn="l">
              <a:buFont typeface="Wingdings" panose="05000000000000000000" pitchFamily="2" charset="2"/>
              <a:buChar char="§"/>
            </a:pPr>
            <a:r>
              <a:rPr lang="en-IN" dirty="0"/>
              <a:t>Protect consumer information. </a:t>
            </a:r>
          </a:p>
          <a:p>
            <a:pPr marL="342900" indent="-342900" algn="l">
              <a:buFont typeface="Wingdings" panose="05000000000000000000" pitchFamily="2" charset="2"/>
              <a:buChar char="§"/>
            </a:pPr>
            <a:r>
              <a:rPr lang="en-IN" dirty="0"/>
              <a:t>Maintain privacy notices. </a:t>
            </a:r>
            <a:br>
              <a:rPr lang="en-IN" dirty="0"/>
            </a:br>
            <a:endParaRPr lang="en-IN" dirty="0"/>
          </a:p>
          <a:p>
            <a:pPr algn="l"/>
            <a:r>
              <a:rPr lang="en-IN" b="1" u="sng" dirty="0"/>
              <a:t>Importance of Regulatory Compliance</a:t>
            </a:r>
          </a:p>
          <a:p>
            <a:pPr marL="342900" indent="-342900" algn="l">
              <a:buFont typeface="Wingdings" panose="05000000000000000000" pitchFamily="2" charset="2"/>
              <a:buChar char="§"/>
            </a:pPr>
            <a:r>
              <a:rPr lang="en-IN" dirty="0"/>
              <a:t>Avoids legal penalties </a:t>
            </a:r>
          </a:p>
          <a:p>
            <a:pPr marL="342900" indent="-342900" algn="l">
              <a:buFont typeface="Wingdings" panose="05000000000000000000" pitchFamily="2" charset="2"/>
              <a:buChar char="§"/>
            </a:pPr>
            <a:r>
              <a:rPr lang="en-IN" dirty="0"/>
              <a:t>Protects customer data </a:t>
            </a:r>
          </a:p>
          <a:p>
            <a:pPr marL="342900" indent="-342900" algn="l">
              <a:buFont typeface="Wingdings" panose="05000000000000000000" pitchFamily="2" charset="2"/>
              <a:buChar char="§"/>
            </a:pPr>
            <a:r>
              <a:rPr lang="en-IN" dirty="0"/>
              <a:t>Builds customer confidence </a:t>
            </a:r>
          </a:p>
          <a:p>
            <a:pPr marL="342900" indent="-342900" algn="l">
              <a:buFont typeface="Wingdings" panose="05000000000000000000" pitchFamily="2" charset="2"/>
              <a:buChar char="§"/>
            </a:pPr>
            <a:r>
              <a:rPr lang="en-IN" dirty="0"/>
              <a:t>Improves business reputation </a:t>
            </a:r>
          </a:p>
          <a:p>
            <a:pPr marL="342900" indent="-342900" algn="l">
              <a:buFont typeface="Wingdings" panose="05000000000000000000" pitchFamily="2" charset="2"/>
              <a:buChar char="§"/>
            </a:pPr>
            <a:r>
              <a:rPr lang="en-IN" dirty="0"/>
              <a:t>Encourages responsible data management </a:t>
            </a:r>
          </a:p>
          <a:p>
            <a:pPr marL="342900" indent="-342900" algn="l">
              <a:buFont typeface="Wingdings" panose="05000000000000000000" pitchFamily="2" charset="2"/>
              <a:buChar char="§"/>
            </a:pPr>
            <a:r>
              <a:rPr lang="en-IN" dirty="0"/>
              <a:t>Supports international business operations</a:t>
            </a:r>
          </a:p>
          <a:p>
            <a:pPr algn="l"/>
            <a:endParaRPr lang="en-IN" dirty="0"/>
          </a:p>
        </p:txBody>
      </p:sp>
    </p:spTree>
    <p:extLst>
      <p:ext uri="{BB962C8B-B14F-4D97-AF65-F5344CB8AC3E}">
        <p14:creationId xmlns:p14="http://schemas.microsoft.com/office/powerpoint/2010/main" val="4248452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9B2-D786-5826-9521-071247D3E9BC}"/>
              </a:ext>
            </a:extLst>
          </p:cNvPr>
          <p:cNvSpPr>
            <a:spLocks noGrp="1"/>
          </p:cNvSpPr>
          <p:nvPr>
            <p:ph type="title"/>
          </p:nvPr>
        </p:nvSpPr>
        <p:spPr>
          <a:xfrm>
            <a:off x="1208314" y="283029"/>
            <a:ext cx="10820399" cy="1785257"/>
          </a:xfrm>
        </p:spPr>
        <p:txBody>
          <a:bodyPr>
            <a:normAutofit/>
          </a:bodyPr>
          <a:lstStyle/>
          <a:p>
            <a:pPr algn="l"/>
            <a:r>
              <a:rPr lang="en-IN" sz="3200" b="1" u="sng" dirty="0"/>
              <a:t>D. Building a Culture of Responsible Data Use</a:t>
            </a:r>
            <a:br>
              <a:rPr lang="en-IN" b="1" dirty="0"/>
            </a:br>
            <a:endParaRPr lang="en-IN" dirty="0"/>
          </a:p>
        </p:txBody>
      </p:sp>
      <p:sp>
        <p:nvSpPr>
          <p:cNvPr id="3" name="Text Placeholder 2">
            <a:extLst>
              <a:ext uri="{FF2B5EF4-FFF2-40B4-BE49-F238E27FC236}">
                <a16:creationId xmlns:a16="http://schemas.microsoft.com/office/drawing/2014/main" id="{52B7A2B6-C713-2559-58E7-3B6A5E6818C5}"/>
              </a:ext>
            </a:extLst>
          </p:cNvPr>
          <p:cNvSpPr>
            <a:spLocks noGrp="1"/>
          </p:cNvSpPr>
          <p:nvPr>
            <p:ph type="body" idx="1"/>
          </p:nvPr>
        </p:nvSpPr>
        <p:spPr>
          <a:xfrm>
            <a:off x="1088571" y="2068286"/>
            <a:ext cx="10080172" cy="2002971"/>
          </a:xfrm>
        </p:spPr>
        <p:txBody>
          <a:bodyPr/>
          <a:lstStyle/>
          <a:p>
            <a:pPr algn="l"/>
            <a:r>
              <a:rPr lang="en-IN" dirty="0"/>
              <a:t>A responsible data culture means that every employee understands the importance of handling data ethically, securely, and legally.</a:t>
            </a:r>
          </a:p>
          <a:p>
            <a:pPr algn="l"/>
            <a:endParaRPr lang="en-IN" dirty="0"/>
          </a:p>
        </p:txBody>
      </p:sp>
    </p:spTree>
    <p:extLst>
      <p:ext uri="{BB962C8B-B14F-4D97-AF65-F5344CB8AC3E}">
        <p14:creationId xmlns:p14="http://schemas.microsoft.com/office/powerpoint/2010/main" val="276217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BBEF-4A57-2475-AAA0-5E4689D56980}"/>
              </a:ext>
            </a:extLst>
          </p:cNvPr>
          <p:cNvSpPr>
            <a:spLocks noGrp="1"/>
          </p:cNvSpPr>
          <p:nvPr>
            <p:ph type="title"/>
          </p:nvPr>
        </p:nvSpPr>
        <p:spPr/>
        <p:txBody>
          <a:bodyPr>
            <a:normAutofit/>
          </a:bodyPr>
          <a:lstStyle/>
          <a:p>
            <a:pPr algn="l"/>
            <a:r>
              <a:rPr lang="en-IN" sz="3600" u="sng" dirty="0"/>
              <a:t>Key Practice</a:t>
            </a:r>
          </a:p>
        </p:txBody>
      </p:sp>
      <p:sp>
        <p:nvSpPr>
          <p:cNvPr id="3" name="Subtitle 2">
            <a:extLst>
              <a:ext uri="{FF2B5EF4-FFF2-40B4-BE49-F238E27FC236}">
                <a16:creationId xmlns:a16="http://schemas.microsoft.com/office/drawing/2014/main" id="{0995C82F-9764-DD69-2B3A-4D0AD7E52986}"/>
              </a:ext>
            </a:extLst>
          </p:cNvPr>
          <p:cNvSpPr>
            <a:spLocks noGrp="1"/>
          </p:cNvSpPr>
          <p:nvPr>
            <p:ph type="body" idx="1"/>
          </p:nvPr>
        </p:nvSpPr>
        <p:spPr/>
        <p:txBody>
          <a:bodyPr>
            <a:normAutofit fontScale="25000" lnSpcReduction="20000"/>
          </a:bodyPr>
          <a:lstStyle/>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endParaRPr lang="en-IN" dirty="0"/>
          </a:p>
          <a:p>
            <a:r>
              <a:rPr lang="en-IN" sz="9600" b="1" dirty="0"/>
              <a:t>1. </a:t>
            </a:r>
            <a:r>
              <a:rPr lang="en-IN" sz="9600" b="1" u="sng" dirty="0"/>
              <a:t>Clear Policies</a:t>
            </a:r>
          </a:p>
          <a:p>
            <a:endParaRPr lang="en-IN" dirty="0"/>
          </a:p>
        </p:txBody>
      </p:sp>
      <p:sp>
        <p:nvSpPr>
          <p:cNvPr id="6" name="Text Placeholder 5">
            <a:extLst>
              <a:ext uri="{FF2B5EF4-FFF2-40B4-BE49-F238E27FC236}">
                <a16:creationId xmlns:a16="http://schemas.microsoft.com/office/drawing/2014/main" id="{6EEDF2FF-DB6B-1360-484C-58765DBE5BEC}"/>
              </a:ext>
            </a:extLst>
          </p:cNvPr>
          <p:cNvSpPr>
            <a:spLocks noGrp="1"/>
          </p:cNvSpPr>
          <p:nvPr>
            <p:ph type="body" sz="half" idx="15"/>
          </p:nvPr>
        </p:nvSpPr>
        <p:spPr/>
        <p:txBody>
          <a:bodyPr/>
          <a:lstStyle/>
          <a:p>
            <a:pPr marL="342900" indent="-342900">
              <a:buFont typeface="Wingdings" panose="05000000000000000000" pitchFamily="2" charset="2"/>
              <a:buChar char="§"/>
            </a:pPr>
            <a:r>
              <a:rPr lang="en-IN" sz="1800" dirty="0"/>
              <a:t>Create simple and understandable data policies. </a:t>
            </a:r>
          </a:p>
          <a:p>
            <a:pPr marL="342900" indent="-342900">
              <a:buFont typeface="Wingdings" panose="05000000000000000000" pitchFamily="2" charset="2"/>
              <a:buChar char="§"/>
            </a:pPr>
            <a:r>
              <a:rPr lang="en-IN" sz="1800" dirty="0"/>
              <a:t>Ensure all employees follow them consistently</a:t>
            </a:r>
            <a:r>
              <a:rPr lang="en-IN" dirty="0"/>
              <a:t>.</a:t>
            </a:r>
          </a:p>
          <a:p>
            <a:endParaRPr lang="en-IN" dirty="0"/>
          </a:p>
        </p:txBody>
      </p:sp>
      <p:sp>
        <p:nvSpPr>
          <p:cNvPr id="4" name="Text Placeholder 3">
            <a:extLst>
              <a:ext uri="{FF2B5EF4-FFF2-40B4-BE49-F238E27FC236}">
                <a16:creationId xmlns:a16="http://schemas.microsoft.com/office/drawing/2014/main" id="{49CD0A07-7F7D-3165-4C33-F1919E9FB154}"/>
              </a:ext>
            </a:extLst>
          </p:cNvPr>
          <p:cNvSpPr>
            <a:spLocks noGrp="1"/>
          </p:cNvSpPr>
          <p:nvPr>
            <p:ph type="body" sz="quarter" idx="3"/>
          </p:nvPr>
        </p:nvSpPr>
        <p:spPr>
          <a:xfrm>
            <a:off x="4368800" y="2201333"/>
            <a:ext cx="3456432" cy="890210"/>
          </a:xfrm>
        </p:spPr>
        <p:txBody>
          <a:bodyPr/>
          <a:lstStyle/>
          <a:p>
            <a:r>
              <a:rPr lang="en-IN" b="1" dirty="0"/>
              <a:t>2. </a:t>
            </a:r>
            <a:r>
              <a:rPr lang="en-IN" b="1" u="sng" dirty="0"/>
              <a:t>Strong Leadership</a:t>
            </a:r>
          </a:p>
          <a:p>
            <a:endParaRPr lang="en-IN" dirty="0"/>
          </a:p>
        </p:txBody>
      </p:sp>
      <p:sp>
        <p:nvSpPr>
          <p:cNvPr id="7" name="Text Placeholder 6">
            <a:extLst>
              <a:ext uri="{FF2B5EF4-FFF2-40B4-BE49-F238E27FC236}">
                <a16:creationId xmlns:a16="http://schemas.microsoft.com/office/drawing/2014/main" id="{640F4095-3694-9967-BADE-894B07CDCDBA}"/>
              </a:ext>
            </a:extLst>
          </p:cNvPr>
          <p:cNvSpPr>
            <a:spLocks noGrp="1"/>
          </p:cNvSpPr>
          <p:nvPr>
            <p:ph type="body" sz="half" idx="16"/>
          </p:nvPr>
        </p:nvSpPr>
        <p:spPr/>
        <p:txBody>
          <a:bodyPr/>
          <a:lstStyle/>
          <a:p>
            <a:pPr marL="342900" indent="-342900">
              <a:buFont typeface="Wingdings" panose="05000000000000000000" pitchFamily="2" charset="2"/>
              <a:buChar char="§"/>
            </a:pPr>
            <a:r>
              <a:rPr lang="en-IN" sz="2000" dirty="0"/>
              <a:t>Management should promote ethical data practices. </a:t>
            </a:r>
          </a:p>
          <a:p>
            <a:pPr marL="342900" indent="-342900">
              <a:buFont typeface="Wingdings" panose="05000000000000000000" pitchFamily="2" charset="2"/>
              <a:buChar char="§"/>
            </a:pPr>
            <a:r>
              <a:rPr lang="en-IN" sz="2000" dirty="0"/>
              <a:t>Leaders should set a positive example. </a:t>
            </a:r>
          </a:p>
          <a:p>
            <a:endParaRPr lang="en-IN" dirty="0"/>
          </a:p>
        </p:txBody>
      </p:sp>
      <p:sp>
        <p:nvSpPr>
          <p:cNvPr id="5" name="Text Placeholder 4">
            <a:extLst>
              <a:ext uri="{FF2B5EF4-FFF2-40B4-BE49-F238E27FC236}">
                <a16:creationId xmlns:a16="http://schemas.microsoft.com/office/drawing/2014/main" id="{B8078B29-2581-40B0-88F4-0DBE26C939A5}"/>
              </a:ext>
            </a:extLst>
          </p:cNvPr>
          <p:cNvSpPr>
            <a:spLocks noGrp="1"/>
          </p:cNvSpPr>
          <p:nvPr>
            <p:ph type="body" sz="quarter" idx="13"/>
          </p:nvPr>
        </p:nvSpPr>
        <p:spPr>
          <a:xfrm>
            <a:off x="8051800" y="2192865"/>
            <a:ext cx="3456432" cy="898677"/>
          </a:xfrm>
        </p:spPr>
        <p:txBody>
          <a:bodyPr/>
          <a:lstStyle/>
          <a:p>
            <a:r>
              <a:rPr lang="en-IN" b="1" dirty="0"/>
              <a:t>3. </a:t>
            </a:r>
            <a:r>
              <a:rPr lang="en-IN" b="1" u="sng" dirty="0"/>
              <a:t>Employee Training</a:t>
            </a:r>
          </a:p>
          <a:p>
            <a:endParaRPr lang="en-IN" dirty="0"/>
          </a:p>
        </p:txBody>
      </p:sp>
      <p:sp>
        <p:nvSpPr>
          <p:cNvPr id="8" name="Text Placeholder 7">
            <a:extLst>
              <a:ext uri="{FF2B5EF4-FFF2-40B4-BE49-F238E27FC236}">
                <a16:creationId xmlns:a16="http://schemas.microsoft.com/office/drawing/2014/main" id="{D3304434-F20E-035B-D773-1EA1F12C1284}"/>
              </a:ext>
            </a:extLst>
          </p:cNvPr>
          <p:cNvSpPr>
            <a:spLocks noGrp="1"/>
          </p:cNvSpPr>
          <p:nvPr>
            <p:ph type="body" sz="half" idx="17"/>
          </p:nvPr>
        </p:nvSpPr>
        <p:spPr>
          <a:xfrm>
            <a:off x="8051801" y="2569029"/>
            <a:ext cx="3456432" cy="3649668"/>
          </a:xfrm>
        </p:spPr>
        <p:txBody>
          <a:bodyPr/>
          <a:lstStyle/>
          <a:p>
            <a:endParaRPr lang="en-IN" b="1" dirty="0"/>
          </a:p>
          <a:p>
            <a:pPr marL="342900" indent="-342900">
              <a:buFont typeface="Wingdings" panose="05000000000000000000" pitchFamily="2" charset="2"/>
              <a:buChar char="§"/>
            </a:pPr>
            <a:r>
              <a:rPr lang="en-IN" sz="2000" dirty="0"/>
              <a:t>Conduct regular privacy and security training. </a:t>
            </a:r>
          </a:p>
          <a:p>
            <a:pPr marL="342900" indent="-342900">
              <a:buFont typeface="Wingdings" panose="05000000000000000000" pitchFamily="2" charset="2"/>
              <a:buChar char="§"/>
            </a:pPr>
            <a:r>
              <a:rPr lang="en-IN" sz="2000" dirty="0"/>
              <a:t>Teach ethical decision-making. </a:t>
            </a:r>
          </a:p>
          <a:p>
            <a:pPr marL="342900" indent="-342900">
              <a:buFont typeface="Wingdings" panose="05000000000000000000" pitchFamily="2" charset="2"/>
              <a:buChar char="§"/>
            </a:pPr>
            <a:r>
              <a:rPr lang="en-IN" sz="2000" dirty="0"/>
              <a:t>Raise awareness about cyber threats. </a:t>
            </a:r>
          </a:p>
          <a:p>
            <a:endParaRPr lang="en-IN" dirty="0"/>
          </a:p>
        </p:txBody>
      </p:sp>
    </p:spTree>
    <p:extLst>
      <p:ext uri="{BB962C8B-B14F-4D97-AF65-F5344CB8AC3E}">
        <p14:creationId xmlns:p14="http://schemas.microsoft.com/office/powerpoint/2010/main" val="639354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0141-9936-6B11-5EC8-22FADF9036DE}"/>
              </a:ext>
            </a:extLst>
          </p:cNvPr>
          <p:cNvSpPr>
            <a:spLocks noGrp="1"/>
          </p:cNvSpPr>
          <p:nvPr>
            <p:ph type="title"/>
          </p:nvPr>
        </p:nvSpPr>
        <p:spPr>
          <a:xfrm>
            <a:off x="1832429" y="98576"/>
            <a:ext cx="4615544" cy="1303867"/>
          </a:xfrm>
        </p:spPr>
        <p:txBody>
          <a:bodyPr/>
          <a:lstStyle/>
          <a:p>
            <a:pPr algn="l"/>
            <a:r>
              <a:rPr lang="en-IN" u="sng" dirty="0"/>
              <a:t>KEY PRACTICES</a:t>
            </a:r>
          </a:p>
        </p:txBody>
      </p:sp>
      <p:sp>
        <p:nvSpPr>
          <p:cNvPr id="3" name="Text Placeholder 2">
            <a:extLst>
              <a:ext uri="{FF2B5EF4-FFF2-40B4-BE49-F238E27FC236}">
                <a16:creationId xmlns:a16="http://schemas.microsoft.com/office/drawing/2014/main" id="{6D1967E8-EF22-A1E5-013C-145142134142}"/>
              </a:ext>
            </a:extLst>
          </p:cNvPr>
          <p:cNvSpPr>
            <a:spLocks noGrp="1"/>
          </p:cNvSpPr>
          <p:nvPr>
            <p:ph type="body" idx="1"/>
          </p:nvPr>
        </p:nvSpPr>
        <p:spPr>
          <a:xfrm>
            <a:off x="685800" y="2202079"/>
            <a:ext cx="3456432" cy="900349"/>
          </a:xfrm>
        </p:spPr>
        <p:txBody>
          <a:bodyPr/>
          <a:lstStyle/>
          <a:p>
            <a:r>
              <a:rPr lang="en-IN" b="1" dirty="0"/>
              <a:t>4. Data Security</a:t>
            </a:r>
          </a:p>
          <a:p>
            <a:endParaRPr lang="en-IN" dirty="0"/>
          </a:p>
        </p:txBody>
      </p:sp>
      <p:sp>
        <p:nvSpPr>
          <p:cNvPr id="4" name="Text Placeholder 3">
            <a:extLst>
              <a:ext uri="{FF2B5EF4-FFF2-40B4-BE49-F238E27FC236}">
                <a16:creationId xmlns:a16="http://schemas.microsoft.com/office/drawing/2014/main" id="{B21E10D6-811A-D051-ED6F-7C8C4B90D279}"/>
              </a:ext>
            </a:extLst>
          </p:cNvPr>
          <p:cNvSpPr>
            <a:spLocks noGrp="1"/>
          </p:cNvSpPr>
          <p:nvPr>
            <p:ph type="body" sz="half" idx="15"/>
          </p:nvPr>
        </p:nvSpPr>
        <p:spPr>
          <a:xfrm>
            <a:off x="685799" y="3331027"/>
            <a:ext cx="3456432" cy="2887670"/>
          </a:xfrm>
        </p:spPr>
        <p:txBody>
          <a:bodyPr>
            <a:normAutofit/>
          </a:bodyPr>
          <a:lstStyle/>
          <a:p>
            <a:pPr marL="285750" indent="-285750">
              <a:buFont typeface="Wingdings" panose="05000000000000000000" pitchFamily="2" charset="2"/>
              <a:buChar char="§"/>
            </a:pPr>
            <a:r>
              <a:rPr lang="en-IN" sz="1800" dirty="0"/>
              <a:t>Use encryption. </a:t>
            </a:r>
          </a:p>
          <a:p>
            <a:pPr marL="285750" indent="-285750">
              <a:buFont typeface="Wingdings" panose="05000000000000000000" pitchFamily="2" charset="2"/>
              <a:buChar char="§"/>
            </a:pPr>
            <a:r>
              <a:rPr lang="en-IN" sz="1800" dirty="0"/>
              <a:t>Enable multi-factor authentication. </a:t>
            </a:r>
          </a:p>
          <a:p>
            <a:pPr marL="285750" indent="-285750">
              <a:buFont typeface="Wingdings" panose="05000000000000000000" pitchFamily="2" charset="2"/>
              <a:buChar char="§"/>
            </a:pPr>
            <a:r>
              <a:rPr lang="en-IN" sz="1800" dirty="0"/>
              <a:t>Perform regular security updates. </a:t>
            </a:r>
          </a:p>
          <a:p>
            <a:pPr marL="285750" indent="-285750">
              <a:buFont typeface="Wingdings" panose="05000000000000000000" pitchFamily="2" charset="2"/>
              <a:buChar char="§"/>
            </a:pPr>
            <a:r>
              <a:rPr lang="en-IN" sz="1800" dirty="0"/>
              <a:t>Monitor systems continuously. </a:t>
            </a:r>
          </a:p>
          <a:p>
            <a:endParaRPr lang="en-IN" dirty="0"/>
          </a:p>
        </p:txBody>
      </p:sp>
      <p:sp>
        <p:nvSpPr>
          <p:cNvPr id="5" name="Text Placeholder 4">
            <a:extLst>
              <a:ext uri="{FF2B5EF4-FFF2-40B4-BE49-F238E27FC236}">
                <a16:creationId xmlns:a16="http://schemas.microsoft.com/office/drawing/2014/main" id="{C42E13DC-9FE5-B22C-068F-28040B7874D9}"/>
              </a:ext>
            </a:extLst>
          </p:cNvPr>
          <p:cNvSpPr>
            <a:spLocks noGrp="1"/>
          </p:cNvSpPr>
          <p:nvPr>
            <p:ph type="body" sz="quarter" idx="3"/>
          </p:nvPr>
        </p:nvSpPr>
        <p:spPr>
          <a:xfrm>
            <a:off x="4368800" y="2201333"/>
            <a:ext cx="3456432" cy="1129696"/>
          </a:xfrm>
        </p:spPr>
        <p:txBody>
          <a:bodyPr/>
          <a:lstStyle/>
          <a:p>
            <a:r>
              <a:rPr lang="en-IN" b="1" dirty="0"/>
              <a:t>5. Encourage Accountability</a:t>
            </a:r>
          </a:p>
          <a:p>
            <a:endParaRPr lang="en-IN" dirty="0"/>
          </a:p>
        </p:txBody>
      </p:sp>
      <p:sp>
        <p:nvSpPr>
          <p:cNvPr id="6" name="Text Placeholder 5">
            <a:extLst>
              <a:ext uri="{FF2B5EF4-FFF2-40B4-BE49-F238E27FC236}">
                <a16:creationId xmlns:a16="http://schemas.microsoft.com/office/drawing/2014/main" id="{81F77BBD-0D7B-4566-1699-33095939C90A}"/>
              </a:ext>
            </a:extLst>
          </p:cNvPr>
          <p:cNvSpPr>
            <a:spLocks noGrp="1"/>
          </p:cNvSpPr>
          <p:nvPr>
            <p:ph type="body" sz="half" idx="16"/>
          </p:nvPr>
        </p:nvSpPr>
        <p:spPr>
          <a:xfrm>
            <a:off x="4366858" y="3331027"/>
            <a:ext cx="3456432" cy="2887657"/>
          </a:xfrm>
        </p:spPr>
        <p:txBody>
          <a:bodyPr>
            <a:normAutofit/>
          </a:bodyPr>
          <a:lstStyle/>
          <a:p>
            <a:pPr marL="285750" indent="-285750">
              <a:buFont typeface="Wingdings" panose="05000000000000000000" pitchFamily="2" charset="2"/>
              <a:buChar char="§"/>
            </a:pPr>
            <a:r>
              <a:rPr lang="en-IN" sz="1800" dirty="0"/>
              <a:t>Define responsibilities clearly. </a:t>
            </a:r>
          </a:p>
          <a:p>
            <a:pPr marL="285750" indent="-285750">
              <a:buFont typeface="Wingdings" panose="05000000000000000000" pitchFamily="2" charset="2"/>
              <a:buChar char="§"/>
            </a:pPr>
            <a:r>
              <a:rPr lang="en-IN" sz="1800" dirty="0"/>
              <a:t>Report violations immediately. </a:t>
            </a:r>
          </a:p>
          <a:p>
            <a:pPr marL="285750" indent="-285750">
              <a:buFont typeface="Wingdings" panose="05000000000000000000" pitchFamily="2" charset="2"/>
              <a:buChar char="§"/>
            </a:pPr>
            <a:r>
              <a:rPr lang="en-IN" sz="1800" dirty="0"/>
              <a:t>Conduct regular audits</a:t>
            </a:r>
          </a:p>
        </p:txBody>
      </p:sp>
      <p:sp>
        <p:nvSpPr>
          <p:cNvPr id="7" name="Text Placeholder 6">
            <a:extLst>
              <a:ext uri="{FF2B5EF4-FFF2-40B4-BE49-F238E27FC236}">
                <a16:creationId xmlns:a16="http://schemas.microsoft.com/office/drawing/2014/main" id="{41CBF11D-637B-B64F-91D6-AE02A7AE3DDA}"/>
              </a:ext>
            </a:extLst>
          </p:cNvPr>
          <p:cNvSpPr>
            <a:spLocks noGrp="1"/>
          </p:cNvSpPr>
          <p:nvPr>
            <p:ph type="body" sz="quarter" idx="13"/>
          </p:nvPr>
        </p:nvSpPr>
        <p:spPr>
          <a:xfrm>
            <a:off x="8051800" y="947057"/>
            <a:ext cx="3456432" cy="947057"/>
          </a:xfrm>
        </p:spPr>
        <p:txBody>
          <a:bodyPr/>
          <a:lstStyle/>
          <a:p>
            <a:r>
              <a:rPr lang="en-IN" b="1" dirty="0"/>
              <a:t>6. Promote Transparency</a:t>
            </a:r>
          </a:p>
          <a:p>
            <a:endParaRPr lang="en-IN" dirty="0"/>
          </a:p>
        </p:txBody>
      </p:sp>
      <p:sp>
        <p:nvSpPr>
          <p:cNvPr id="8" name="Text Placeholder 7">
            <a:extLst>
              <a:ext uri="{FF2B5EF4-FFF2-40B4-BE49-F238E27FC236}">
                <a16:creationId xmlns:a16="http://schemas.microsoft.com/office/drawing/2014/main" id="{B3842527-4F1D-95BE-1D0A-84BCB34FD9DB}"/>
              </a:ext>
            </a:extLst>
          </p:cNvPr>
          <p:cNvSpPr>
            <a:spLocks noGrp="1"/>
          </p:cNvSpPr>
          <p:nvPr>
            <p:ph type="body" sz="half" idx="17"/>
          </p:nvPr>
        </p:nvSpPr>
        <p:spPr>
          <a:xfrm>
            <a:off x="8051801" y="1730829"/>
            <a:ext cx="3456432" cy="4487868"/>
          </a:xfrm>
        </p:spPr>
        <p:txBody>
          <a:bodyPr>
            <a:normAutofit fontScale="77500" lnSpcReduction="20000"/>
          </a:bodyPr>
          <a:lstStyle/>
          <a:p>
            <a:pPr marL="285750" indent="-285750">
              <a:buFont typeface="Wingdings" panose="05000000000000000000" pitchFamily="2" charset="2"/>
              <a:buChar char="§"/>
            </a:pPr>
            <a:r>
              <a:rPr lang="en-IN" sz="2400" dirty="0"/>
              <a:t>Inform customers how their data is used. </a:t>
            </a:r>
          </a:p>
          <a:p>
            <a:pPr marL="285750" indent="-285750">
              <a:buFont typeface="Wingdings" panose="05000000000000000000" pitchFamily="2" charset="2"/>
              <a:buChar char="§"/>
            </a:pPr>
            <a:r>
              <a:rPr lang="en-IN" sz="2400" dirty="0"/>
              <a:t>Respect customer choices. </a:t>
            </a:r>
          </a:p>
          <a:p>
            <a:pPr marL="285750" indent="-285750">
              <a:buFont typeface="Wingdings" panose="05000000000000000000" pitchFamily="2" charset="2"/>
              <a:buChar char="§"/>
            </a:pPr>
            <a:r>
              <a:rPr lang="en-IN" sz="2400" dirty="0"/>
              <a:t>Maintain honest communication. </a:t>
            </a:r>
          </a:p>
          <a:p>
            <a:endParaRPr lang="en-IN" sz="2200" dirty="0"/>
          </a:p>
          <a:p>
            <a:endParaRPr lang="en-IN" sz="1600" dirty="0"/>
          </a:p>
          <a:p>
            <a:r>
              <a:rPr lang="en-IN" sz="2400" b="1" dirty="0"/>
              <a:t>7. Continuous Improvement</a:t>
            </a:r>
          </a:p>
          <a:p>
            <a:endParaRPr lang="en-IN" sz="2400" b="1" dirty="0"/>
          </a:p>
          <a:p>
            <a:pPr marL="285750" indent="-285750">
              <a:buFont typeface="Wingdings" panose="05000000000000000000" pitchFamily="2" charset="2"/>
              <a:buChar char="§"/>
            </a:pPr>
            <a:r>
              <a:rPr lang="en-IN" sz="2400" dirty="0"/>
              <a:t>Review policies regularly. </a:t>
            </a:r>
          </a:p>
          <a:p>
            <a:pPr marL="285750" indent="-285750">
              <a:buFont typeface="Wingdings" panose="05000000000000000000" pitchFamily="2" charset="2"/>
              <a:buChar char="§"/>
            </a:pPr>
            <a:r>
              <a:rPr lang="en-IN" sz="2400" dirty="0"/>
              <a:t>Update security practices. </a:t>
            </a:r>
          </a:p>
          <a:p>
            <a:pPr marL="285750" indent="-285750">
              <a:buFont typeface="Wingdings" panose="05000000000000000000" pitchFamily="2" charset="2"/>
              <a:buChar char="§"/>
            </a:pPr>
            <a:r>
              <a:rPr lang="en-IN" sz="2400" dirty="0"/>
              <a:t>Learn from incidents and feedback. </a:t>
            </a:r>
          </a:p>
          <a:p>
            <a:endParaRPr lang="en-IN" dirty="0"/>
          </a:p>
        </p:txBody>
      </p:sp>
    </p:spTree>
    <p:extLst>
      <p:ext uri="{BB962C8B-B14F-4D97-AF65-F5344CB8AC3E}">
        <p14:creationId xmlns:p14="http://schemas.microsoft.com/office/powerpoint/2010/main" val="2920762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5C2D9-F28A-0643-EEED-DE45C604ADE0}"/>
              </a:ext>
            </a:extLst>
          </p:cNvPr>
          <p:cNvSpPr>
            <a:spLocks noGrp="1"/>
          </p:cNvSpPr>
          <p:nvPr>
            <p:ph type="title"/>
          </p:nvPr>
        </p:nvSpPr>
        <p:spPr>
          <a:xfrm>
            <a:off x="685800" y="753533"/>
            <a:ext cx="10820400" cy="683382"/>
          </a:xfrm>
        </p:spPr>
        <p:txBody>
          <a:bodyPr>
            <a:normAutofit fontScale="90000"/>
          </a:bodyPr>
          <a:lstStyle/>
          <a:p>
            <a:r>
              <a:rPr lang="en-IN" b="1" u="sng" dirty="0"/>
              <a:t>Benefits of Responsible Data Use</a:t>
            </a:r>
            <a:br>
              <a:rPr lang="en-IN" b="1" dirty="0"/>
            </a:br>
            <a:endParaRPr lang="en-IN" dirty="0"/>
          </a:p>
        </p:txBody>
      </p:sp>
      <p:sp>
        <p:nvSpPr>
          <p:cNvPr id="3" name="Text Placeholder 2">
            <a:extLst>
              <a:ext uri="{FF2B5EF4-FFF2-40B4-BE49-F238E27FC236}">
                <a16:creationId xmlns:a16="http://schemas.microsoft.com/office/drawing/2014/main" id="{D561EC7E-F4E6-0D26-0BFB-008F41E16D14}"/>
              </a:ext>
            </a:extLst>
          </p:cNvPr>
          <p:cNvSpPr>
            <a:spLocks noGrp="1"/>
          </p:cNvSpPr>
          <p:nvPr>
            <p:ph type="body" sz="half" idx="2"/>
          </p:nvPr>
        </p:nvSpPr>
        <p:spPr>
          <a:xfrm>
            <a:off x="1545771" y="1338943"/>
            <a:ext cx="9609212" cy="3886200"/>
          </a:xfrm>
        </p:spPr>
        <p:txBody>
          <a:bodyPr>
            <a:normAutofit/>
          </a:bodyPr>
          <a:lstStyle/>
          <a:p>
            <a:pPr marL="285750" indent="-285750">
              <a:buFont typeface="Wingdings" panose="05000000000000000000" pitchFamily="2" charset="2"/>
              <a:buChar char="ü"/>
            </a:pPr>
            <a:r>
              <a:rPr lang="en-IN" sz="1800" dirty="0"/>
              <a:t>Protects personal information </a:t>
            </a:r>
          </a:p>
          <a:p>
            <a:pPr marL="285750" indent="-285750">
              <a:buFont typeface="Wingdings" panose="05000000000000000000" pitchFamily="2" charset="2"/>
              <a:buChar char="ü"/>
            </a:pPr>
            <a:r>
              <a:rPr lang="en-IN" sz="1800" dirty="0"/>
              <a:t>Improves data quality </a:t>
            </a:r>
          </a:p>
          <a:p>
            <a:pPr marL="285750" indent="-285750">
              <a:buFont typeface="Wingdings" panose="05000000000000000000" pitchFamily="2" charset="2"/>
              <a:buChar char="ü"/>
            </a:pPr>
            <a:r>
              <a:rPr lang="en-IN" sz="1800" dirty="0"/>
              <a:t>Builds customer trust </a:t>
            </a:r>
          </a:p>
          <a:p>
            <a:pPr marL="285750" indent="-285750">
              <a:buFont typeface="Wingdings" panose="05000000000000000000" pitchFamily="2" charset="2"/>
              <a:buChar char="ü"/>
            </a:pPr>
            <a:r>
              <a:rPr lang="en-IN" sz="1800" dirty="0"/>
              <a:t>Ensures legal compliance </a:t>
            </a:r>
          </a:p>
          <a:p>
            <a:pPr marL="285750" indent="-285750">
              <a:buFont typeface="Wingdings" panose="05000000000000000000" pitchFamily="2" charset="2"/>
              <a:buChar char="ü"/>
            </a:pPr>
            <a:r>
              <a:rPr lang="en-IN" sz="1800" dirty="0"/>
              <a:t>Reduces cybersecurity risks </a:t>
            </a:r>
          </a:p>
          <a:p>
            <a:pPr marL="285750" indent="-285750">
              <a:buFont typeface="Wingdings" panose="05000000000000000000" pitchFamily="2" charset="2"/>
              <a:buChar char="ü"/>
            </a:pPr>
            <a:r>
              <a:rPr lang="en-IN" sz="1800" dirty="0"/>
              <a:t>Enhances organizational reputation </a:t>
            </a:r>
          </a:p>
          <a:p>
            <a:pPr marL="285750" indent="-285750">
              <a:buFont typeface="Wingdings" panose="05000000000000000000" pitchFamily="2" charset="2"/>
              <a:buChar char="ü"/>
            </a:pPr>
            <a:r>
              <a:rPr lang="en-IN" sz="1800" dirty="0"/>
              <a:t>Supports ethical innovation </a:t>
            </a:r>
          </a:p>
          <a:p>
            <a:pPr marL="285750" indent="-285750">
              <a:buFont typeface="Wingdings" panose="05000000000000000000" pitchFamily="2" charset="2"/>
              <a:buChar char="ü"/>
            </a:pPr>
            <a:r>
              <a:rPr lang="en-IN" sz="1800" dirty="0"/>
              <a:t>Enables better business decisions</a:t>
            </a:r>
          </a:p>
          <a:p>
            <a:endParaRPr lang="en-IN" dirty="0"/>
          </a:p>
        </p:txBody>
      </p:sp>
    </p:spTree>
    <p:extLst>
      <p:ext uri="{BB962C8B-B14F-4D97-AF65-F5344CB8AC3E}">
        <p14:creationId xmlns:p14="http://schemas.microsoft.com/office/powerpoint/2010/main" val="3277562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C11E-4A48-A527-8A6E-B3A3A096575B}"/>
              </a:ext>
            </a:extLst>
          </p:cNvPr>
          <p:cNvSpPr>
            <a:spLocks noGrp="1"/>
          </p:cNvSpPr>
          <p:nvPr>
            <p:ph type="ctrTitle"/>
          </p:nvPr>
        </p:nvSpPr>
        <p:spPr>
          <a:xfrm>
            <a:off x="1371600" y="620487"/>
            <a:ext cx="9448800" cy="979714"/>
          </a:xfrm>
        </p:spPr>
        <p:txBody>
          <a:bodyPr>
            <a:normAutofit/>
          </a:bodyPr>
          <a:lstStyle/>
          <a:p>
            <a:r>
              <a:rPr lang="en-IN" sz="3200" b="1" u="sng" dirty="0"/>
              <a:t>Introduction to IT and Business Systems</a:t>
            </a:r>
            <a:br>
              <a:rPr lang="en-IN" sz="3200" b="1" dirty="0"/>
            </a:br>
            <a:endParaRPr lang="en-IN" sz="3200" dirty="0"/>
          </a:p>
        </p:txBody>
      </p:sp>
      <p:sp>
        <p:nvSpPr>
          <p:cNvPr id="3" name="Subtitle 2">
            <a:extLst>
              <a:ext uri="{FF2B5EF4-FFF2-40B4-BE49-F238E27FC236}">
                <a16:creationId xmlns:a16="http://schemas.microsoft.com/office/drawing/2014/main" id="{BE20E640-1997-3677-4F1A-850560CFDC40}"/>
              </a:ext>
            </a:extLst>
          </p:cNvPr>
          <p:cNvSpPr>
            <a:spLocks noGrp="1"/>
          </p:cNvSpPr>
          <p:nvPr>
            <p:ph type="subTitle" idx="1"/>
          </p:nvPr>
        </p:nvSpPr>
        <p:spPr>
          <a:xfrm>
            <a:off x="1371600" y="1469570"/>
            <a:ext cx="9448800" cy="3483429"/>
          </a:xfrm>
        </p:spPr>
        <p:txBody>
          <a:bodyPr>
            <a:normAutofit fontScale="92500"/>
          </a:bodyPr>
          <a:lstStyle/>
          <a:p>
            <a:r>
              <a:rPr lang="en-IN" sz="2400" u="sng" dirty="0"/>
              <a:t>Introduction</a:t>
            </a:r>
          </a:p>
          <a:p>
            <a:endParaRPr lang="en-IN" sz="2400" u="sng" dirty="0"/>
          </a:p>
          <a:p>
            <a:r>
              <a:rPr lang="en-IN" sz="2400" dirty="0"/>
              <a:t>Information Technology (IT) has become an essential part of modern businesses. It enables organizations to collect, process, store, and communicate information efficiently. From small businesses to multinational corporations, IT supports daily operations, improves productivity, enhances customer service, and helps organizations gain a competitive advantage. Business systems integrate technology with business processes to streamline operations and support informed decision-making.</a:t>
            </a:r>
          </a:p>
          <a:p>
            <a:endParaRPr lang="en-IN" dirty="0"/>
          </a:p>
        </p:txBody>
      </p:sp>
    </p:spTree>
    <p:extLst>
      <p:ext uri="{BB962C8B-B14F-4D97-AF65-F5344CB8AC3E}">
        <p14:creationId xmlns:p14="http://schemas.microsoft.com/office/powerpoint/2010/main" val="2575624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49525-D043-1918-C6ED-D7A7ED889B1C}"/>
              </a:ext>
            </a:extLst>
          </p:cNvPr>
          <p:cNvSpPr>
            <a:spLocks noGrp="1"/>
          </p:cNvSpPr>
          <p:nvPr>
            <p:ph type="title"/>
          </p:nvPr>
        </p:nvSpPr>
        <p:spPr>
          <a:xfrm>
            <a:off x="1600200" y="206829"/>
            <a:ext cx="9905999" cy="925285"/>
          </a:xfrm>
        </p:spPr>
        <p:txBody>
          <a:bodyPr>
            <a:noAutofit/>
          </a:bodyPr>
          <a:lstStyle/>
          <a:p>
            <a:pPr algn="l"/>
            <a:r>
              <a:rPr lang="en-IN" sz="2800" b="1" u="sng" dirty="0"/>
              <a:t>A. Fundamentals of Information Technology</a:t>
            </a:r>
            <a:br>
              <a:rPr lang="en-IN" sz="2800" b="1" dirty="0"/>
            </a:br>
            <a:endParaRPr lang="en-IN" sz="2800" dirty="0"/>
          </a:p>
        </p:txBody>
      </p:sp>
      <p:sp>
        <p:nvSpPr>
          <p:cNvPr id="3" name="Text Placeholder 2">
            <a:extLst>
              <a:ext uri="{FF2B5EF4-FFF2-40B4-BE49-F238E27FC236}">
                <a16:creationId xmlns:a16="http://schemas.microsoft.com/office/drawing/2014/main" id="{C9AAA2C6-BE9F-705B-BFD4-0619FD17A371}"/>
              </a:ext>
            </a:extLst>
          </p:cNvPr>
          <p:cNvSpPr>
            <a:spLocks noGrp="1"/>
          </p:cNvSpPr>
          <p:nvPr>
            <p:ph type="body" idx="1"/>
          </p:nvPr>
        </p:nvSpPr>
        <p:spPr>
          <a:xfrm>
            <a:off x="914400" y="1023257"/>
            <a:ext cx="10600267" cy="3574143"/>
          </a:xfrm>
        </p:spPr>
        <p:txBody>
          <a:bodyPr/>
          <a:lstStyle/>
          <a:p>
            <a:pPr algn="l"/>
            <a:r>
              <a:rPr lang="en-IN" b="1" dirty="0"/>
              <a:t>What is Information Technology (IT)?</a:t>
            </a:r>
          </a:p>
          <a:p>
            <a:pPr algn="l"/>
            <a:endParaRPr lang="en-IN" b="1" dirty="0"/>
          </a:p>
          <a:p>
            <a:pPr algn="l"/>
            <a:r>
              <a:rPr lang="en-IN" b="1" dirty="0"/>
              <a:t>Information Technology (IT)</a:t>
            </a:r>
            <a:r>
              <a:rPr lang="en-IN" dirty="0"/>
              <a:t> refers to the use of computers, software, networks, databases, and electronic systems to create, process, store, retrieve, and exchange information.</a:t>
            </a:r>
          </a:p>
          <a:p>
            <a:pPr algn="l"/>
            <a:endParaRPr lang="en-IN" dirty="0"/>
          </a:p>
          <a:p>
            <a:pPr algn="l"/>
            <a:r>
              <a:rPr lang="en-IN" dirty="0"/>
              <a:t>IT helps organizations automate business activities, improve communication, manage data, and make informed decisions.</a:t>
            </a:r>
          </a:p>
          <a:p>
            <a:endParaRPr lang="en-IN" dirty="0"/>
          </a:p>
        </p:txBody>
      </p:sp>
    </p:spTree>
    <p:extLst>
      <p:ext uri="{BB962C8B-B14F-4D97-AF65-F5344CB8AC3E}">
        <p14:creationId xmlns:p14="http://schemas.microsoft.com/office/powerpoint/2010/main" val="3307651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834DF-D350-3719-06F0-B2FB7D07279B}"/>
              </a:ext>
            </a:extLst>
          </p:cNvPr>
          <p:cNvSpPr>
            <a:spLocks noGrp="1"/>
          </p:cNvSpPr>
          <p:nvPr>
            <p:ph type="title"/>
          </p:nvPr>
        </p:nvSpPr>
        <p:spPr/>
        <p:txBody>
          <a:bodyPr>
            <a:normAutofit fontScale="90000"/>
          </a:bodyPr>
          <a:lstStyle/>
          <a:p>
            <a:pPr algn="ctr"/>
            <a:r>
              <a:rPr lang="en-IN" u="sng" dirty="0"/>
              <a:t>Components of Information Technology</a:t>
            </a:r>
            <a:br>
              <a:rPr lang="en-IN" u="sng" dirty="0"/>
            </a:br>
            <a:endParaRPr lang="en-IN" u="sng" dirty="0"/>
          </a:p>
        </p:txBody>
      </p:sp>
      <p:sp>
        <p:nvSpPr>
          <p:cNvPr id="3" name="Text Placeholder 2">
            <a:extLst>
              <a:ext uri="{FF2B5EF4-FFF2-40B4-BE49-F238E27FC236}">
                <a16:creationId xmlns:a16="http://schemas.microsoft.com/office/drawing/2014/main" id="{F8B61014-8103-E965-FE5F-8A6C8AF11C2A}"/>
              </a:ext>
            </a:extLst>
          </p:cNvPr>
          <p:cNvSpPr>
            <a:spLocks noGrp="1"/>
          </p:cNvSpPr>
          <p:nvPr>
            <p:ph type="body" idx="1"/>
          </p:nvPr>
        </p:nvSpPr>
        <p:spPr>
          <a:xfrm>
            <a:off x="685800" y="2202080"/>
            <a:ext cx="3456432" cy="911234"/>
          </a:xfrm>
        </p:spPr>
        <p:txBody>
          <a:bodyPr/>
          <a:lstStyle/>
          <a:p>
            <a:r>
              <a:rPr lang="en-IN" b="1" u="sng" dirty="0"/>
              <a:t>1. Hardware</a:t>
            </a:r>
          </a:p>
          <a:p>
            <a:endParaRPr lang="en-IN" dirty="0"/>
          </a:p>
        </p:txBody>
      </p:sp>
      <p:sp>
        <p:nvSpPr>
          <p:cNvPr id="4" name="Text Placeholder 3">
            <a:extLst>
              <a:ext uri="{FF2B5EF4-FFF2-40B4-BE49-F238E27FC236}">
                <a16:creationId xmlns:a16="http://schemas.microsoft.com/office/drawing/2014/main" id="{2B00A14A-EE9D-6FC8-5966-64C6A9416719}"/>
              </a:ext>
            </a:extLst>
          </p:cNvPr>
          <p:cNvSpPr>
            <a:spLocks noGrp="1"/>
          </p:cNvSpPr>
          <p:nvPr>
            <p:ph type="body" sz="half" idx="15"/>
          </p:nvPr>
        </p:nvSpPr>
        <p:spPr/>
        <p:txBody>
          <a:bodyPr>
            <a:normAutofit/>
          </a:bodyPr>
          <a:lstStyle/>
          <a:p>
            <a:r>
              <a:rPr lang="en-IN" sz="1600" dirty="0"/>
              <a:t>Physical devices used in computing.</a:t>
            </a:r>
          </a:p>
          <a:p>
            <a:endParaRPr lang="en-IN" sz="1600" dirty="0"/>
          </a:p>
          <a:p>
            <a:r>
              <a:rPr lang="en-IN" sz="1600" dirty="0"/>
              <a:t>Examples:</a:t>
            </a:r>
          </a:p>
          <a:p>
            <a:pPr marL="285750" indent="-285750">
              <a:buFont typeface="Wingdings" panose="05000000000000000000" pitchFamily="2" charset="2"/>
              <a:buChar char="§"/>
            </a:pPr>
            <a:r>
              <a:rPr lang="en-IN" sz="1600" dirty="0"/>
              <a:t>Computers </a:t>
            </a:r>
          </a:p>
          <a:p>
            <a:pPr marL="285750" indent="-285750">
              <a:buFont typeface="Wingdings" panose="05000000000000000000" pitchFamily="2" charset="2"/>
              <a:buChar char="§"/>
            </a:pPr>
            <a:r>
              <a:rPr lang="en-IN" sz="1600" dirty="0"/>
              <a:t>Servers </a:t>
            </a:r>
          </a:p>
          <a:p>
            <a:pPr marL="285750" indent="-285750">
              <a:buFont typeface="Wingdings" panose="05000000000000000000" pitchFamily="2" charset="2"/>
              <a:buChar char="§"/>
            </a:pPr>
            <a:r>
              <a:rPr lang="en-IN" sz="1600" dirty="0"/>
              <a:t>Laptops </a:t>
            </a:r>
          </a:p>
          <a:p>
            <a:pPr marL="285750" indent="-285750">
              <a:buFont typeface="Wingdings" panose="05000000000000000000" pitchFamily="2" charset="2"/>
              <a:buChar char="§"/>
            </a:pPr>
            <a:r>
              <a:rPr lang="en-IN" sz="1600" dirty="0"/>
              <a:t>Printers </a:t>
            </a:r>
          </a:p>
          <a:p>
            <a:pPr marL="285750" indent="-285750">
              <a:buFont typeface="Wingdings" panose="05000000000000000000" pitchFamily="2" charset="2"/>
              <a:buChar char="§"/>
            </a:pPr>
            <a:r>
              <a:rPr lang="en-IN" sz="1600" dirty="0"/>
              <a:t>Routers </a:t>
            </a:r>
          </a:p>
          <a:p>
            <a:pPr marL="285750" indent="-285750">
              <a:buFont typeface="Wingdings" panose="05000000000000000000" pitchFamily="2" charset="2"/>
              <a:buChar char="§"/>
            </a:pPr>
            <a:r>
              <a:rPr lang="en-IN" sz="1600" dirty="0"/>
              <a:t>Storage devices</a:t>
            </a:r>
          </a:p>
          <a:p>
            <a:endParaRPr lang="en-IN" dirty="0"/>
          </a:p>
        </p:txBody>
      </p:sp>
      <p:sp>
        <p:nvSpPr>
          <p:cNvPr id="5" name="Text Placeholder 4">
            <a:extLst>
              <a:ext uri="{FF2B5EF4-FFF2-40B4-BE49-F238E27FC236}">
                <a16:creationId xmlns:a16="http://schemas.microsoft.com/office/drawing/2014/main" id="{53A3A9A8-0DD3-9249-99F5-4FCAEAFAAD06}"/>
              </a:ext>
            </a:extLst>
          </p:cNvPr>
          <p:cNvSpPr>
            <a:spLocks noGrp="1"/>
          </p:cNvSpPr>
          <p:nvPr>
            <p:ph type="body" sz="quarter" idx="3"/>
          </p:nvPr>
        </p:nvSpPr>
        <p:spPr>
          <a:xfrm>
            <a:off x="4368800" y="2201333"/>
            <a:ext cx="3456432" cy="911234"/>
          </a:xfrm>
        </p:spPr>
        <p:txBody>
          <a:bodyPr/>
          <a:lstStyle/>
          <a:p>
            <a:r>
              <a:rPr lang="en-IN" b="1" u="sng" dirty="0"/>
              <a:t>2. Software</a:t>
            </a:r>
          </a:p>
          <a:p>
            <a:endParaRPr lang="en-IN" dirty="0"/>
          </a:p>
        </p:txBody>
      </p:sp>
      <p:sp>
        <p:nvSpPr>
          <p:cNvPr id="6" name="Text Placeholder 5">
            <a:extLst>
              <a:ext uri="{FF2B5EF4-FFF2-40B4-BE49-F238E27FC236}">
                <a16:creationId xmlns:a16="http://schemas.microsoft.com/office/drawing/2014/main" id="{F5634527-DA96-5BC7-D55B-F42889E6ADE1}"/>
              </a:ext>
            </a:extLst>
          </p:cNvPr>
          <p:cNvSpPr>
            <a:spLocks noGrp="1"/>
          </p:cNvSpPr>
          <p:nvPr>
            <p:ph type="body" sz="half" idx="16"/>
          </p:nvPr>
        </p:nvSpPr>
        <p:spPr/>
        <p:txBody>
          <a:bodyPr>
            <a:normAutofit fontScale="92500" lnSpcReduction="10000"/>
          </a:bodyPr>
          <a:lstStyle/>
          <a:p>
            <a:r>
              <a:rPr lang="en-IN" sz="1800" dirty="0"/>
              <a:t>Programs that instruct hardware to perform specific tasks.</a:t>
            </a:r>
          </a:p>
          <a:p>
            <a:endParaRPr lang="en-IN" sz="1800" dirty="0"/>
          </a:p>
          <a:p>
            <a:r>
              <a:rPr lang="en-IN" sz="1800" dirty="0"/>
              <a:t>Types:</a:t>
            </a:r>
          </a:p>
          <a:p>
            <a:pPr marL="285750" indent="-285750">
              <a:buFont typeface="Wingdings" panose="05000000000000000000" pitchFamily="2" charset="2"/>
              <a:buChar char="§"/>
            </a:pPr>
            <a:r>
              <a:rPr lang="en-IN" sz="1800" b="1" dirty="0"/>
              <a:t>System Software:</a:t>
            </a:r>
            <a:r>
              <a:rPr lang="en-IN" sz="1800" dirty="0"/>
              <a:t> Operating systems (Windows, Linux, macOS) </a:t>
            </a:r>
          </a:p>
          <a:p>
            <a:endParaRPr lang="en-IN" sz="1800" dirty="0"/>
          </a:p>
          <a:p>
            <a:pPr marL="285750" indent="-285750">
              <a:buFont typeface="Wingdings" panose="05000000000000000000" pitchFamily="2" charset="2"/>
              <a:buChar char="§"/>
            </a:pPr>
            <a:r>
              <a:rPr lang="en-IN" sz="1800" b="1" dirty="0"/>
              <a:t>Application Software:</a:t>
            </a:r>
            <a:r>
              <a:rPr lang="en-IN" sz="1800" dirty="0"/>
              <a:t> Microsoft Office, Google Workspace, SAP, Tally </a:t>
            </a:r>
          </a:p>
          <a:p>
            <a:endParaRPr lang="en-IN" dirty="0"/>
          </a:p>
        </p:txBody>
      </p:sp>
      <p:sp>
        <p:nvSpPr>
          <p:cNvPr id="7" name="Text Placeholder 6">
            <a:extLst>
              <a:ext uri="{FF2B5EF4-FFF2-40B4-BE49-F238E27FC236}">
                <a16:creationId xmlns:a16="http://schemas.microsoft.com/office/drawing/2014/main" id="{A3EE5BBD-516C-835D-6876-C57E898C699A}"/>
              </a:ext>
            </a:extLst>
          </p:cNvPr>
          <p:cNvSpPr>
            <a:spLocks noGrp="1"/>
          </p:cNvSpPr>
          <p:nvPr>
            <p:ph type="body" sz="quarter" idx="13"/>
          </p:nvPr>
        </p:nvSpPr>
        <p:spPr>
          <a:xfrm>
            <a:off x="8051800" y="2192865"/>
            <a:ext cx="3456432" cy="911233"/>
          </a:xfrm>
        </p:spPr>
        <p:txBody>
          <a:bodyPr/>
          <a:lstStyle/>
          <a:p>
            <a:r>
              <a:rPr lang="en-IN" b="1" u="sng" dirty="0"/>
              <a:t>3. Data</a:t>
            </a:r>
          </a:p>
          <a:p>
            <a:endParaRPr lang="en-IN" dirty="0"/>
          </a:p>
        </p:txBody>
      </p:sp>
      <p:sp>
        <p:nvSpPr>
          <p:cNvPr id="8" name="Text Placeholder 7">
            <a:extLst>
              <a:ext uri="{FF2B5EF4-FFF2-40B4-BE49-F238E27FC236}">
                <a16:creationId xmlns:a16="http://schemas.microsoft.com/office/drawing/2014/main" id="{F368B2DA-329C-958C-99FC-F925DF4EB88D}"/>
              </a:ext>
            </a:extLst>
          </p:cNvPr>
          <p:cNvSpPr>
            <a:spLocks noGrp="1"/>
          </p:cNvSpPr>
          <p:nvPr>
            <p:ph type="body" sz="half" idx="17"/>
          </p:nvPr>
        </p:nvSpPr>
        <p:spPr/>
        <p:txBody>
          <a:bodyPr/>
          <a:lstStyle/>
          <a:p>
            <a:r>
              <a:rPr lang="en-IN" sz="1800" dirty="0"/>
              <a:t>Raw facts and figures that are processed into meaningful information.</a:t>
            </a:r>
          </a:p>
          <a:p>
            <a:endParaRPr lang="en-IN" sz="1800" dirty="0"/>
          </a:p>
          <a:p>
            <a:r>
              <a:rPr lang="en-IN" sz="1800" dirty="0"/>
              <a:t>Examples:</a:t>
            </a:r>
          </a:p>
          <a:p>
            <a:pPr marL="285750" indent="-285750">
              <a:buFont typeface="Wingdings" panose="05000000000000000000" pitchFamily="2" charset="2"/>
              <a:buChar char="§"/>
            </a:pPr>
            <a:r>
              <a:rPr lang="en-IN" sz="1800" dirty="0"/>
              <a:t>Customer records </a:t>
            </a:r>
          </a:p>
          <a:p>
            <a:pPr marL="285750" indent="-285750">
              <a:buFont typeface="Wingdings" panose="05000000000000000000" pitchFamily="2" charset="2"/>
              <a:buChar char="§"/>
            </a:pPr>
            <a:r>
              <a:rPr lang="en-IN" sz="1800" dirty="0"/>
              <a:t>Sales transactions </a:t>
            </a:r>
          </a:p>
          <a:p>
            <a:pPr marL="285750" indent="-285750">
              <a:buFont typeface="Wingdings" panose="05000000000000000000" pitchFamily="2" charset="2"/>
              <a:buChar char="§"/>
            </a:pPr>
            <a:r>
              <a:rPr lang="en-IN" sz="1800" dirty="0"/>
              <a:t>Employee details </a:t>
            </a:r>
          </a:p>
          <a:p>
            <a:pPr marL="285750" indent="-285750">
              <a:buFont typeface="Wingdings" panose="05000000000000000000" pitchFamily="2" charset="2"/>
              <a:buChar char="§"/>
            </a:pPr>
            <a:r>
              <a:rPr lang="en-IN" sz="1800" dirty="0"/>
              <a:t>Inventory data</a:t>
            </a:r>
          </a:p>
          <a:p>
            <a:endParaRPr lang="en-IN" dirty="0"/>
          </a:p>
        </p:txBody>
      </p:sp>
    </p:spTree>
    <p:extLst>
      <p:ext uri="{BB962C8B-B14F-4D97-AF65-F5344CB8AC3E}">
        <p14:creationId xmlns:p14="http://schemas.microsoft.com/office/powerpoint/2010/main" val="2822272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DE53-4514-C621-1BB7-4BCC62C9566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78F9625-C85E-CF74-684F-AF4C5A3B0ED6}"/>
              </a:ext>
            </a:extLst>
          </p:cNvPr>
          <p:cNvSpPr>
            <a:spLocks noGrp="1"/>
          </p:cNvSpPr>
          <p:nvPr>
            <p:ph type="body" idx="1"/>
          </p:nvPr>
        </p:nvSpPr>
        <p:spPr>
          <a:xfrm>
            <a:off x="685800" y="2202079"/>
            <a:ext cx="3456432" cy="1041863"/>
          </a:xfrm>
        </p:spPr>
        <p:txBody>
          <a:bodyPr/>
          <a:lstStyle/>
          <a:p>
            <a:r>
              <a:rPr lang="en-IN" b="1" u="sng" dirty="0"/>
              <a:t>4. Networks</a:t>
            </a:r>
          </a:p>
          <a:p>
            <a:endParaRPr lang="en-IN" dirty="0"/>
          </a:p>
        </p:txBody>
      </p:sp>
      <p:sp>
        <p:nvSpPr>
          <p:cNvPr id="4" name="Text Placeholder 3">
            <a:extLst>
              <a:ext uri="{FF2B5EF4-FFF2-40B4-BE49-F238E27FC236}">
                <a16:creationId xmlns:a16="http://schemas.microsoft.com/office/drawing/2014/main" id="{7F92B782-7BD7-0D57-F6E1-6C2340D8F4EA}"/>
              </a:ext>
            </a:extLst>
          </p:cNvPr>
          <p:cNvSpPr>
            <a:spLocks noGrp="1"/>
          </p:cNvSpPr>
          <p:nvPr>
            <p:ph type="body" sz="half" idx="15"/>
          </p:nvPr>
        </p:nvSpPr>
        <p:spPr>
          <a:xfrm>
            <a:off x="683768" y="2913020"/>
            <a:ext cx="3456432" cy="3314132"/>
          </a:xfrm>
        </p:spPr>
        <p:txBody>
          <a:bodyPr>
            <a:normAutofit lnSpcReduction="10000"/>
          </a:bodyPr>
          <a:lstStyle/>
          <a:p>
            <a:r>
              <a:rPr lang="en-IN" sz="2000" dirty="0"/>
              <a:t>Communication systems that connect devices.</a:t>
            </a:r>
          </a:p>
          <a:p>
            <a:endParaRPr lang="en-IN" sz="2000" dirty="0"/>
          </a:p>
          <a:p>
            <a:r>
              <a:rPr lang="en-IN" sz="2000" dirty="0"/>
              <a:t>Examples:</a:t>
            </a:r>
          </a:p>
          <a:p>
            <a:pPr marL="342900" indent="-342900">
              <a:buFont typeface="Wingdings" panose="05000000000000000000" pitchFamily="2" charset="2"/>
              <a:buChar char="§"/>
            </a:pPr>
            <a:r>
              <a:rPr lang="en-IN" sz="2000" dirty="0"/>
              <a:t>Local Area Network (LAN) </a:t>
            </a:r>
          </a:p>
          <a:p>
            <a:pPr marL="342900" indent="-342900">
              <a:buFont typeface="Wingdings" panose="05000000000000000000" pitchFamily="2" charset="2"/>
              <a:buChar char="§"/>
            </a:pPr>
            <a:r>
              <a:rPr lang="en-IN" sz="2000" dirty="0"/>
              <a:t>Wide Area Network (WAN) </a:t>
            </a:r>
          </a:p>
          <a:p>
            <a:pPr marL="342900" indent="-342900">
              <a:buFont typeface="Wingdings" panose="05000000000000000000" pitchFamily="2" charset="2"/>
              <a:buChar char="§"/>
            </a:pPr>
            <a:r>
              <a:rPr lang="en-IN" sz="2000" dirty="0"/>
              <a:t>Internet </a:t>
            </a:r>
          </a:p>
          <a:p>
            <a:pPr marL="342900" indent="-342900">
              <a:buFont typeface="Wingdings" panose="05000000000000000000" pitchFamily="2" charset="2"/>
              <a:buChar char="§"/>
            </a:pPr>
            <a:r>
              <a:rPr lang="en-IN" sz="2000" dirty="0"/>
              <a:t>Wi-Fi</a:t>
            </a:r>
          </a:p>
          <a:p>
            <a:endParaRPr lang="en-IN" dirty="0"/>
          </a:p>
        </p:txBody>
      </p:sp>
      <p:sp>
        <p:nvSpPr>
          <p:cNvPr id="5" name="Text Placeholder 4">
            <a:extLst>
              <a:ext uri="{FF2B5EF4-FFF2-40B4-BE49-F238E27FC236}">
                <a16:creationId xmlns:a16="http://schemas.microsoft.com/office/drawing/2014/main" id="{0E027C9E-234D-C1D6-8D33-E296E2F1BF72}"/>
              </a:ext>
            </a:extLst>
          </p:cNvPr>
          <p:cNvSpPr>
            <a:spLocks noGrp="1"/>
          </p:cNvSpPr>
          <p:nvPr>
            <p:ph type="body" sz="quarter" idx="3"/>
          </p:nvPr>
        </p:nvSpPr>
        <p:spPr>
          <a:xfrm>
            <a:off x="4368800" y="2201333"/>
            <a:ext cx="3456432" cy="1041862"/>
          </a:xfrm>
        </p:spPr>
        <p:txBody>
          <a:bodyPr/>
          <a:lstStyle/>
          <a:p>
            <a:r>
              <a:rPr lang="en-IN" b="1" u="sng" dirty="0"/>
              <a:t>5. Databases</a:t>
            </a:r>
          </a:p>
          <a:p>
            <a:endParaRPr lang="en-IN" dirty="0"/>
          </a:p>
        </p:txBody>
      </p:sp>
      <p:sp>
        <p:nvSpPr>
          <p:cNvPr id="6" name="Text Placeholder 5">
            <a:extLst>
              <a:ext uri="{FF2B5EF4-FFF2-40B4-BE49-F238E27FC236}">
                <a16:creationId xmlns:a16="http://schemas.microsoft.com/office/drawing/2014/main" id="{C509974F-92F1-A2FB-42FF-A844564D6F29}"/>
              </a:ext>
            </a:extLst>
          </p:cNvPr>
          <p:cNvSpPr>
            <a:spLocks noGrp="1"/>
          </p:cNvSpPr>
          <p:nvPr>
            <p:ph type="body" sz="half" idx="16"/>
          </p:nvPr>
        </p:nvSpPr>
        <p:spPr/>
        <p:txBody>
          <a:bodyPr>
            <a:normAutofit lnSpcReduction="10000"/>
          </a:bodyPr>
          <a:lstStyle/>
          <a:p>
            <a:r>
              <a:rPr lang="en-IN" sz="2000" dirty="0"/>
              <a:t>Organized collections of data for easy storage and retrieval.</a:t>
            </a:r>
          </a:p>
          <a:p>
            <a:endParaRPr lang="en-IN" sz="2000" dirty="0"/>
          </a:p>
          <a:p>
            <a:r>
              <a:rPr lang="en-IN" sz="2000" dirty="0"/>
              <a:t>Examples:</a:t>
            </a:r>
          </a:p>
          <a:p>
            <a:pPr marL="342900" indent="-342900">
              <a:buFont typeface="Wingdings" panose="05000000000000000000" pitchFamily="2" charset="2"/>
              <a:buChar char="§"/>
            </a:pPr>
            <a:r>
              <a:rPr lang="en-IN" sz="2000" dirty="0"/>
              <a:t>MySQL </a:t>
            </a:r>
          </a:p>
          <a:p>
            <a:pPr marL="342900" indent="-342900">
              <a:buFont typeface="Wingdings" panose="05000000000000000000" pitchFamily="2" charset="2"/>
              <a:buChar char="§"/>
            </a:pPr>
            <a:r>
              <a:rPr lang="en-IN" sz="2000" dirty="0"/>
              <a:t>Oracle Database </a:t>
            </a:r>
          </a:p>
          <a:p>
            <a:pPr marL="342900" indent="-342900">
              <a:buFont typeface="Wingdings" panose="05000000000000000000" pitchFamily="2" charset="2"/>
              <a:buChar char="§"/>
            </a:pPr>
            <a:r>
              <a:rPr lang="en-IN" sz="2000" dirty="0"/>
              <a:t>Microsoft SQL Server </a:t>
            </a:r>
          </a:p>
          <a:p>
            <a:pPr marL="342900" indent="-342900">
              <a:buFont typeface="Wingdings" panose="05000000000000000000" pitchFamily="2" charset="2"/>
              <a:buChar char="§"/>
            </a:pPr>
            <a:r>
              <a:rPr lang="en-IN" sz="2000" dirty="0"/>
              <a:t>PostgreSQL </a:t>
            </a:r>
          </a:p>
          <a:p>
            <a:endParaRPr lang="en-IN" dirty="0"/>
          </a:p>
        </p:txBody>
      </p:sp>
      <p:sp>
        <p:nvSpPr>
          <p:cNvPr id="7" name="Text Placeholder 6">
            <a:extLst>
              <a:ext uri="{FF2B5EF4-FFF2-40B4-BE49-F238E27FC236}">
                <a16:creationId xmlns:a16="http://schemas.microsoft.com/office/drawing/2014/main" id="{9CC8FF57-0F8E-488C-4888-8A1BBF7B3943}"/>
              </a:ext>
            </a:extLst>
          </p:cNvPr>
          <p:cNvSpPr>
            <a:spLocks noGrp="1"/>
          </p:cNvSpPr>
          <p:nvPr>
            <p:ph type="body" sz="quarter" idx="13"/>
          </p:nvPr>
        </p:nvSpPr>
        <p:spPr>
          <a:xfrm>
            <a:off x="8051800" y="2192865"/>
            <a:ext cx="3456432" cy="1041861"/>
          </a:xfrm>
        </p:spPr>
        <p:txBody>
          <a:bodyPr/>
          <a:lstStyle/>
          <a:p>
            <a:r>
              <a:rPr lang="en-IN" b="1" u="sng" dirty="0"/>
              <a:t>6. People</a:t>
            </a:r>
          </a:p>
          <a:p>
            <a:endParaRPr lang="en-IN" dirty="0"/>
          </a:p>
        </p:txBody>
      </p:sp>
      <p:sp>
        <p:nvSpPr>
          <p:cNvPr id="8" name="Text Placeholder 7">
            <a:extLst>
              <a:ext uri="{FF2B5EF4-FFF2-40B4-BE49-F238E27FC236}">
                <a16:creationId xmlns:a16="http://schemas.microsoft.com/office/drawing/2014/main" id="{1052E39C-0043-F0A7-499B-0FDD27B6DAFA}"/>
              </a:ext>
            </a:extLst>
          </p:cNvPr>
          <p:cNvSpPr>
            <a:spLocks noGrp="1"/>
          </p:cNvSpPr>
          <p:nvPr>
            <p:ph type="body" sz="half" idx="17"/>
          </p:nvPr>
        </p:nvSpPr>
        <p:spPr/>
        <p:txBody>
          <a:bodyPr/>
          <a:lstStyle/>
          <a:p>
            <a:r>
              <a:rPr lang="en-IN" sz="2000" dirty="0"/>
              <a:t>Users who interact with IT systems.</a:t>
            </a:r>
          </a:p>
          <a:p>
            <a:endParaRPr lang="en-IN" sz="2000" dirty="0"/>
          </a:p>
          <a:p>
            <a:r>
              <a:rPr lang="en-IN" sz="2000" dirty="0"/>
              <a:t>Examples:</a:t>
            </a:r>
          </a:p>
          <a:p>
            <a:pPr marL="342900" indent="-342900">
              <a:buFont typeface="Wingdings" panose="05000000000000000000" pitchFamily="2" charset="2"/>
              <a:buChar char="§"/>
            </a:pPr>
            <a:r>
              <a:rPr lang="en-IN" sz="2000" dirty="0"/>
              <a:t>Employees </a:t>
            </a:r>
          </a:p>
          <a:p>
            <a:pPr marL="342900" indent="-342900">
              <a:buFont typeface="Wingdings" panose="05000000000000000000" pitchFamily="2" charset="2"/>
              <a:buChar char="§"/>
            </a:pPr>
            <a:r>
              <a:rPr lang="en-IN" sz="2000" dirty="0"/>
              <a:t>Managers </a:t>
            </a:r>
          </a:p>
          <a:p>
            <a:pPr marL="342900" indent="-342900">
              <a:buFont typeface="Wingdings" panose="05000000000000000000" pitchFamily="2" charset="2"/>
              <a:buChar char="§"/>
            </a:pPr>
            <a:r>
              <a:rPr lang="en-IN" sz="2000" dirty="0"/>
              <a:t>Customers </a:t>
            </a:r>
          </a:p>
          <a:p>
            <a:pPr marL="342900" indent="-342900">
              <a:buFont typeface="Wingdings" panose="05000000000000000000" pitchFamily="2" charset="2"/>
              <a:buChar char="§"/>
            </a:pPr>
            <a:r>
              <a:rPr lang="en-IN" sz="2000" dirty="0"/>
              <a:t>IT professionals</a:t>
            </a:r>
          </a:p>
          <a:p>
            <a:endParaRPr lang="en-IN" dirty="0"/>
          </a:p>
        </p:txBody>
      </p:sp>
    </p:spTree>
    <p:extLst>
      <p:ext uri="{BB962C8B-B14F-4D97-AF65-F5344CB8AC3E}">
        <p14:creationId xmlns:p14="http://schemas.microsoft.com/office/powerpoint/2010/main" val="3017738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BC6F-20CC-03D2-BB8E-EFB3F8B9BBE3}"/>
              </a:ext>
            </a:extLst>
          </p:cNvPr>
          <p:cNvSpPr>
            <a:spLocks noGrp="1"/>
          </p:cNvSpPr>
          <p:nvPr>
            <p:ph type="title"/>
          </p:nvPr>
        </p:nvSpPr>
        <p:spPr>
          <a:xfrm>
            <a:off x="2895600" y="764373"/>
            <a:ext cx="8610600" cy="160913"/>
          </a:xfrm>
        </p:spPr>
        <p:txBody>
          <a:bodyPr>
            <a:normAutofit fontScale="90000"/>
          </a:bodyPr>
          <a:lstStyle/>
          <a:p>
            <a:r>
              <a:rPr lang="en-IN" dirty="0">
                <a:solidFill>
                  <a:schemeClr val="bg1"/>
                </a:solidFill>
              </a:rPr>
              <a:t>.</a:t>
            </a:r>
          </a:p>
        </p:txBody>
      </p:sp>
      <p:sp>
        <p:nvSpPr>
          <p:cNvPr id="3" name="Content Placeholder 2">
            <a:extLst>
              <a:ext uri="{FF2B5EF4-FFF2-40B4-BE49-F238E27FC236}">
                <a16:creationId xmlns:a16="http://schemas.microsoft.com/office/drawing/2014/main" id="{4686B2D2-203B-6BED-31E5-5FB464A127A3}"/>
              </a:ext>
            </a:extLst>
          </p:cNvPr>
          <p:cNvSpPr>
            <a:spLocks noGrp="1"/>
          </p:cNvSpPr>
          <p:nvPr>
            <p:ph sz="half" idx="1"/>
          </p:nvPr>
        </p:nvSpPr>
        <p:spPr>
          <a:xfrm>
            <a:off x="685800" y="1513115"/>
            <a:ext cx="5334000" cy="4705570"/>
          </a:xfrm>
        </p:spPr>
        <p:txBody>
          <a:bodyPr>
            <a:normAutofit/>
          </a:bodyPr>
          <a:lstStyle/>
          <a:p>
            <a:pPr marL="0" indent="0">
              <a:buNone/>
            </a:pPr>
            <a:r>
              <a:rPr lang="en-IN" b="1" u="sng" dirty="0"/>
              <a:t>Characteristics of Information Technology</a:t>
            </a:r>
          </a:p>
          <a:p>
            <a:pPr marL="0" indent="0">
              <a:buNone/>
            </a:pPr>
            <a:endParaRPr lang="en-IN" b="1" u="sng" dirty="0"/>
          </a:p>
          <a:p>
            <a:r>
              <a:rPr lang="en-IN" dirty="0"/>
              <a:t>High speed processing </a:t>
            </a:r>
          </a:p>
          <a:p>
            <a:r>
              <a:rPr lang="en-IN" dirty="0"/>
              <a:t>Accuracy </a:t>
            </a:r>
          </a:p>
          <a:p>
            <a:r>
              <a:rPr lang="en-IN" dirty="0"/>
              <a:t>Automation </a:t>
            </a:r>
          </a:p>
          <a:p>
            <a:r>
              <a:rPr lang="en-IN" dirty="0"/>
              <a:t>Reliability </a:t>
            </a:r>
          </a:p>
          <a:p>
            <a:r>
              <a:rPr lang="en-IN" dirty="0"/>
              <a:t>Scalability </a:t>
            </a:r>
          </a:p>
          <a:p>
            <a:r>
              <a:rPr lang="en-IN" dirty="0"/>
              <a:t>Data security </a:t>
            </a:r>
          </a:p>
          <a:p>
            <a:r>
              <a:rPr lang="en-IN" dirty="0"/>
              <a:t>Real-time communication </a:t>
            </a:r>
          </a:p>
          <a:p>
            <a:r>
              <a:rPr lang="en-IN" dirty="0"/>
              <a:t>Global connectivity</a:t>
            </a:r>
          </a:p>
          <a:p>
            <a:endParaRPr lang="en-IN" dirty="0"/>
          </a:p>
        </p:txBody>
      </p:sp>
      <p:sp>
        <p:nvSpPr>
          <p:cNvPr id="4" name="Content Placeholder 3">
            <a:extLst>
              <a:ext uri="{FF2B5EF4-FFF2-40B4-BE49-F238E27FC236}">
                <a16:creationId xmlns:a16="http://schemas.microsoft.com/office/drawing/2014/main" id="{62799813-FC60-DA0E-A168-E38E27174FDE}"/>
              </a:ext>
            </a:extLst>
          </p:cNvPr>
          <p:cNvSpPr>
            <a:spLocks noGrp="1"/>
          </p:cNvSpPr>
          <p:nvPr>
            <p:ph sz="half" idx="2"/>
          </p:nvPr>
        </p:nvSpPr>
        <p:spPr>
          <a:xfrm>
            <a:off x="6172200" y="1513115"/>
            <a:ext cx="5334000" cy="4705570"/>
          </a:xfrm>
        </p:spPr>
        <p:txBody>
          <a:bodyPr>
            <a:normAutofit/>
          </a:bodyPr>
          <a:lstStyle/>
          <a:p>
            <a:pPr marL="0" indent="0">
              <a:buNone/>
            </a:pPr>
            <a:r>
              <a:rPr lang="en-IN" b="1" u="sng" dirty="0"/>
              <a:t>Importance of IT</a:t>
            </a:r>
          </a:p>
          <a:p>
            <a:pPr marL="0" indent="0">
              <a:buNone/>
            </a:pPr>
            <a:endParaRPr lang="en-IN" b="1" u="sng" dirty="0"/>
          </a:p>
          <a:p>
            <a:r>
              <a:rPr lang="en-IN" dirty="0"/>
              <a:t>Improves efficiency </a:t>
            </a:r>
          </a:p>
          <a:p>
            <a:r>
              <a:rPr lang="en-IN" dirty="0"/>
              <a:t>Reduces manual work </a:t>
            </a:r>
          </a:p>
          <a:p>
            <a:r>
              <a:rPr lang="en-IN" dirty="0"/>
              <a:t>Supports decision-making </a:t>
            </a:r>
          </a:p>
          <a:p>
            <a:r>
              <a:rPr lang="en-IN" dirty="0"/>
              <a:t>Enhances communication </a:t>
            </a:r>
          </a:p>
          <a:p>
            <a:r>
              <a:rPr lang="en-IN" dirty="0"/>
              <a:t>Increases productivity </a:t>
            </a:r>
          </a:p>
          <a:p>
            <a:r>
              <a:rPr lang="en-IN" dirty="0"/>
              <a:t>Enables digital transformation </a:t>
            </a:r>
          </a:p>
          <a:p>
            <a:r>
              <a:rPr lang="en-IN" dirty="0"/>
              <a:t>Improves customer satisfaction </a:t>
            </a:r>
          </a:p>
          <a:p>
            <a:r>
              <a:rPr lang="en-IN" dirty="0"/>
              <a:t>Supports innovation</a:t>
            </a:r>
          </a:p>
          <a:p>
            <a:endParaRPr lang="en-IN" dirty="0"/>
          </a:p>
        </p:txBody>
      </p:sp>
    </p:spTree>
    <p:extLst>
      <p:ext uri="{BB962C8B-B14F-4D97-AF65-F5344CB8AC3E}">
        <p14:creationId xmlns:p14="http://schemas.microsoft.com/office/powerpoint/2010/main" val="2790285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47A6-33CB-51F8-81DE-5A43E1C692F2}"/>
              </a:ext>
            </a:extLst>
          </p:cNvPr>
          <p:cNvSpPr>
            <a:spLocks noGrp="1"/>
          </p:cNvSpPr>
          <p:nvPr>
            <p:ph type="ctrTitle"/>
          </p:nvPr>
        </p:nvSpPr>
        <p:spPr>
          <a:xfrm>
            <a:off x="1371600" y="2373086"/>
            <a:ext cx="9982200" cy="1295400"/>
          </a:xfrm>
        </p:spPr>
        <p:txBody>
          <a:bodyPr>
            <a:normAutofit fontScale="90000"/>
          </a:bodyPr>
          <a:lstStyle/>
          <a:p>
            <a:r>
              <a:rPr lang="en-IN" sz="4000" b="1" u="sng" dirty="0"/>
              <a:t>B. Role of IT in Business Operations</a:t>
            </a:r>
            <a:br>
              <a:rPr lang="en-IN" sz="4000" b="1" u="sng" dirty="0"/>
            </a:br>
            <a:br>
              <a:rPr lang="en-IN" sz="4000" b="1" u="sng" dirty="0"/>
            </a:br>
            <a:br>
              <a:rPr lang="en-IN" sz="4000" b="1" dirty="0"/>
            </a:br>
            <a:endParaRPr lang="en-IN" dirty="0"/>
          </a:p>
        </p:txBody>
      </p:sp>
      <p:sp>
        <p:nvSpPr>
          <p:cNvPr id="3" name="Subtitle 2">
            <a:extLst>
              <a:ext uri="{FF2B5EF4-FFF2-40B4-BE49-F238E27FC236}">
                <a16:creationId xmlns:a16="http://schemas.microsoft.com/office/drawing/2014/main" id="{D46DE53A-AD23-5170-7ABA-1A92E8EF3C40}"/>
              </a:ext>
            </a:extLst>
          </p:cNvPr>
          <p:cNvSpPr>
            <a:spLocks noGrp="1"/>
          </p:cNvSpPr>
          <p:nvPr>
            <p:ph type="subTitle" idx="1"/>
          </p:nvPr>
        </p:nvSpPr>
        <p:spPr>
          <a:xfrm>
            <a:off x="1371600" y="2623457"/>
            <a:ext cx="9448800" cy="1709057"/>
          </a:xfrm>
        </p:spPr>
        <p:txBody>
          <a:bodyPr/>
          <a:lstStyle/>
          <a:p>
            <a:r>
              <a:rPr lang="en-IN" dirty="0"/>
              <a:t>Information Technology plays a vital role in managing and improving business operations. It helps organizations perform tasks more efficiently while reducing costs and improving service quality.</a:t>
            </a:r>
            <a:br>
              <a:rPr lang="en-IN" dirty="0"/>
            </a:br>
            <a:endParaRPr lang="en-IN" dirty="0"/>
          </a:p>
        </p:txBody>
      </p:sp>
    </p:spTree>
    <p:extLst>
      <p:ext uri="{BB962C8B-B14F-4D97-AF65-F5344CB8AC3E}">
        <p14:creationId xmlns:p14="http://schemas.microsoft.com/office/powerpoint/2010/main" val="4005019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4F69-5E17-9A71-4C43-4E6F9FE0B52D}"/>
              </a:ext>
            </a:extLst>
          </p:cNvPr>
          <p:cNvSpPr>
            <a:spLocks noGrp="1"/>
          </p:cNvSpPr>
          <p:nvPr>
            <p:ph type="title"/>
          </p:nvPr>
        </p:nvSpPr>
        <p:spPr>
          <a:xfrm>
            <a:off x="2895600" y="762000"/>
            <a:ext cx="8610599" cy="702734"/>
          </a:xfrm>
        </p:spPr>
        <p:txBody>
          <a:bodyPr/>
          <a:lstStyle/>
          <a:p>
            <a:pPr algn="ctr"/>
            <a:r>
              <a:rPr lang="en-IN" u="sng" dirty="0"/>
              <a:t>Major Roles of IT</a:t>
            </a:r>
          </a:p>
        </p:txBody>
      </p:sp>
      <p:sp>
        <p:nvSpPr>
          <p:cNvPr id="3" name="Text Placeholder 2">
            <a:extLst>
              <a:ext uri="{FF2B5EF4-FFF2-40B4-BE49-F238E27FC236}">
                <a16:creationId xmlns:a16="http://schemas.microsoft.com/office/drawing/2014/main" id="{89B09BF0-AB3F-803F-FFF3-203591215271}"/>
              </a:ext>
            </a:extLst>
          </p:cNvPr>
          <p:cNvSpPr>
            <a:spLocks noGrp="1"/>
          </p:cNvSpPr>
          <p:nvPr>
            <p:ph type="body" idx="1"/>
          </p:nvPr>
        </p:nvSpPr>
        <p:spPr>
          <a:xfrm>
            <a:off x="685800" y="2202079"/>
            <a:ext cx="3456432" cy="954777"/>
          </a:xfrm>
        </p:spPr>
        <p:txBody>
          <a:bodyPr/>
          <a:lstStyle/>
          <a:p>
            <a:r>
              <a:rPr lang="en-IN" b="1" u="sng" dirty="0"/>
              <a:t>1. Business Communication</a:t>
            </a:r>
          </a:p>
          <a:p>
            <a:endParaRPr lang="en-IN" dirty="0"/>
          </a:p>
        </p:txBody>
      </p:sp>
      <p:sp>
        <p:nvSpPr>
          <p:cNvPr id="4" name="Text Placeholder 3">
            <a:extLst>
              <a:ext uri="{FF2B5EF4-FFF2-40B4-BE49-F238E27FC236}">
                <a16:creationId xmlns:a16="http://schemas.microsoft.com/office/drawing/2014/main" id="{9B147CE6-A3E3-54A2-2488-D8BFDCADD8D6}"/>
              </a:ext>
            </a:extLst>
          </p:cNvPr>
          <p:cNvSpPr>
            <a:spLocks noGrp="1"/>
          </p:cNvSpPr>
          <p:nvPr>
            <p:ph type="body" sz="half" idx="15"/>
          </p:nvPr>
        </p:nvSpPr>
        <p:spPr>
          <a:xfrm>
            <a:off x="685799" y="2904066"/>
            <a:ext cx="3456432" cy="3812419"/>
          </a:xfrm>
        </p:spPr>
        <p:txBody>
          <a:bodyPr>
            <a:normAutofit lnSpcReduction="10000"/>
          </a:bodyPr>
          <a:lstStyle/>
          <a:p>
            <a:r>
              <a:rPr lang="en-IN" sz="1800" dirty="0"/>
              <a:t>IT enables fast communication through:</a:t>
            </a:r>
          </a:p>
          <a:p>
            <a:pPr marL="285750" indent="-285750">
              <a:buFont typeface="Arial" panose="020B0604020202020204" pitchFamily="34" charset="0"/>
              <a:buChar char="•"/>
            </a:pPr>
            <a:r>
              <a:rPr lang="en-IN" sz="1800" dirty="0"/>
              <a:t>Email </a:t>
            </a:r>
          </a:p>
          <a:p>
            <a:pPr marL="285750" indent="-285750">
              <a:buFont typeface="Arial" panose="020B0604020202020204" pitchFamily="34" charset="0"/>
              <a:buChar char="•"/>
            </a:pPr>
            <a:r>
              <a:rPr lang="en-IN" sz="1800" dirty="0"/>
              <a:t>Video conferencing </a:t>
            </a:r>
          </a:p>
          <a:p>
            <a:pPr marL="285750" indent="-285750">
              <a:buFont typeface="Arial" panose="020B0604020202020204" pitchFamily="34" charset="0"/>
              <a:buChar char="•"/>
            </a:pPr>
            <a:r>
              <a:rPr lang="en-IN" sz="1800" dirty="0"/>
              <a:t>Instant messaging </a:t>
            </a:r>
          </a:p>
          <a:p>
            <a:pPr marL="285750" indent="-285750">
              <a:buFont typeface="Arial" panose="020B0604020202020204" pitchFamily="34" charset="0"/>
              <a:buChar char="•"/>
            </a:pPr>
            <a:r>
              <a:rPr lang="en-IN" sz="1800" dirty="0"/>
              <a:t>Collaboration platforms </a:t>
            </a:r>
          </a:p>
          <a:p>
            <a:pPr marL="285750" indent="-285750">
              <a:buFont typeface="Arial" panose="020B0604020202020204" pitchFamily="34" charset="0"/>
              <a:buChar char="•"/>
            </a:pPr>
            <a:endParaRPr lang="en-IN" sz="1800" dirty="0"/>
          </a:p>
          <a:p>
            <a:r>
              <a:rPr lang="en-IN" sz="1800" dirty="0"/>
              <a:t>Benefits:</a:t>
            </a:r>
          </a:p>
          <a:p>
            <a:pPr marL="285750" indent="-285750">
              <a:buFont typeface="Wingdings" panose="05000000000000000000" pitchFamily="2" charset="2"/>
              <a:buChar char="ü"/>
            </a:pPr>
            <a:r>
              <a:rPr lang="en-IN" sz="1800" dirty="0"/>
              <a:t>Faster communication </a:t>
            </a:r>
          </a:p>
          <a:p>
            <a:pPr marL="285750" indent="-285750">
              <a:buFont typeface="Wingdings" panose="05000000000000000000" pitchFamily="2" charset="2"/>
              <a:buChar char="ü"/>
            </a:pPr>
            <a:r>
              <a:rPr lang="en-IN" sz="1800" dirty="0"/>
              <a:t>Improved teamwork </a:t>
            </a:r>
          </a:p>
          <a:p>
            <a:pPr marL="285750" indent="-285750">
              <a:buFont typeface="Wingdings" panose="05000000000000000000" pitchFamily="2" charset="2"/>
              <a:buChar char="ü"/>
            </a:pPr>
            <a:r>
              <a:rPr lang="en-IN" sz="1800" dirty="0"/>
              <a:t>Remote work support</a:t>
            </a:r>
          </a:p>
          <a:p>
            <a:endParaRPr lang="en-IN" dirty="0"/>
          </a:p>
        </p:txBody>
      </p:sp>
      <p:sp>
        <p:nvSpPr>
          <p:cNvPr id="5" name="Text Placeholder 4">
            <a:extLst>
              <a:ext uri="{FF2B5EF4-FFF2-40B4-BE49-F238E27FC236}">
                <a16:creationId xmlns:a16="http://schemas.microsoft.com/office/drawing/2014/main" id="{891B3D04-BBBF-0292-F5D7-A592A705403B}"/>
              </a:ext>
            </a:extLst>
          </p:cNvPr>
          <p:cNvSpPr>
            <a:spLocks noGrp="1"/>
          </p:cNvSpPr>
          <p:nvPr>
            <p:ph type="body" sz="quarter" idx="3"/>
          </p:nvPr>
        </p:nvSpPr>
        <p:spPr>
          <a:xfrm>
            <a:off x="4368800" y="2201332"/>
            <a:ext cx="3456432" cy="702733"/>
          </a:xfrm>
        </p:spPr>
        <p:txBody>
          <a:bodyPr/>
          <a:lstStyle/>
          <a:p>
            <a:r>
              <a:rPr lang="en-IN" b="1" u="sng" dirty="0"/>
              <a:t>2. Data Management</a:t>
            </a:r>
          </a:p>
          <a:p>
            <a:endParaRPr lang="en-IN" dirty="0"/>
          </a:p>
        </p:txBody>
      </p:sp>
      <p:sp>
        <p:nvSpPr>
          <p:cNvPr id="6" name="Text Placeholder 5">
            <a:extLst>
              <a:ext uri="{FF2B5EF4-FFF2-40B4-BE49-F238E27FC236}">
                <a16:creationId xmlns:a16="http://schemas.microsoft.com/office/drawing/2014/main" id="{9871E588-C12A-5BAB-3639-E05A4E661691}"/>
              </a:ext>
            </a:extLst>
          </p:cNvPr>
          <p:cNvSpPr>
            <a:spLocks noGrp="1"/>
          </p:cNvSpPr>
          <p:nvPr>
            <p:ph type="body" sz="half" idx="16"/>
          </p:nvPr>
        </p:nvSpPr>
        <p:spPr>
          <a:xfrm>
            <a:off x="4366858" y="2819400"/>
            <a:ext cx="3456432" cy="3897085"/>
          </a:xfrm>
        </p:spPr>
        <p:txBody>
          <a:bodyPr>
            <a:normAutofit fontScale="85000" lnSpcReduction="10000"/>
          </a:bodyPr>
          <a:lstStyle/>
          <a:p>
            <a:r>
              <a:rPr lang="en-IN" sz="2000" dirty="0"/>
              <a:t>IT helps organizations:</a:t>
            </a:r>
          </a:p>
          <a:p>
            <a:pPr marL="285750" indent="-285750">
              <a:buFont typeface="Arial" panose="020B0604020202020204" pitchFamily="34" charset="0"/>
              <a:buChar char="•"/>
            </a:pPr>
            <a:r>
              <a:rPr lang="en-IN" sz="2000" dirty="0"/>
              <a:t>Store data securely </a:t>
            </a:r>
          </a:p>
          <a:p>
            <a:pPr marL="285750" indent="-285750">
              <a:buFont typeface="Arial" panose="020B0604020202020204" pitchFamily="34" charset="0"/>
              <a:buChar char="•"/>
            </a:pPr>
            <a:r>
              <a:rPr lang="en-IN" sz="2000" dirty="0"/>
              <a:t>Retrieve information quickly </a:t>
            </a:r>
          </a:p>
          <a:p>
            <a:pPr marL="285750" indent="-285750">
              <a:buFont typeface="Arial" panose="020B0604020202020204" pitchFamily="34" charset="0"/>
              <a:buChar char="•"/>
            </a:pPr>
            <a:r>
              <a:rPr lang="en-IN" sz="2000" dirty="0" err="1"/>
              <a:t>Analyze</a:t>
            </a:r>
            <a:r>
              <a:rPr lang="en-IN" sz="2000" dirty="0"/>
              <a:t> business performance </a:t>
            </a:r>
          </a:p>
          <a:p>
            <a:pPr marL="285750" indent="-285750">
              <a:buFont typeface="Arial" panose="020B0604020202020204" pitchFamily="34" charset="0"/>
              <a:buChar char="•"/>
            </a:pPr>
            <a:r>
              <a:rPr lang="en-IN" sz="2000" dirty="0"/>
              <a:t>Generate reports </a:t>
            </a:r>
          </a:p>
          <a:p>
            <a:pPr marL="285750" indent="-285750">
              <a:buFont typeface="Arial" panose="020B0604020202020204" pitchFamily="34" charset="0"/>
              <a:buChar char="•"/>
            </a:pPr>
            <a:endParaRPr lang="en-IN" sz="2000" dirty="0"/>
          </a:p>
          <a:p>
            <a:r>
              <a:rPr lang="en-IN" sz="2000" dirty="0"/>
              <a:t>Benefits:</a:t>
            </a:r>
          </a:p>
          <a:p>
            <a:pPr marL="285750" indent="-285750">
              <a:buFont typeface="Wingdings" panose="05000000000000000000" pitchFamily="2" charset="2"/>
              <a:buChar char="ü"/>
            </a:pPr>
            <a:r>
              <a:rPr lang="en-IN" sz="2000" dirty="0"/>
              <a:t>Better decisions </a:t>
            </a:r>
          </a:p>
          <a:p>
            <a:pPr marL="285750" indent="-285750">
              <a:buFont typeface="Wingdings" panose="05000000000000000000" pitchFamily="2" charset="2"/>
              <a:buChar char="ü"/>
            </a:pPr>
            <a:r>
              <a:rPr lang="en-IN" sz="2000" dirty="0"/>
              <a:t>Improved data accuracy </a:t>
            </a:r>
          </a:p>
          <a:p>
            <a:pPr marL="285750" indent="-285750">
              <a:buFont typeface="Wingdings" panose="05000000000000000000" pitchFamily="2" charset="2"/>
              <a:buChar char="ü"/>
            </a:pPr>
            <a:r>
              <a:rPr lang="en-IN" sz="2000" dirty="0"/>
              <a:t>Easy access to information</a:t>
            </a:r>
          </a:p>
          <a:p>
            <a:endParaRPr lang="en-IN" dirty="0"/>
          </a:p>
        </p:txBody>
      </p:sp>
      <p:sp>
        <p:nvSpPr>
          <p:cNvPr id="7" name="Text Placeholder 6">
            <a:extLst>
              <a:ext uri="{FF2B5EF4-FFF2-40B4-BE49-F238E27FC236}">
                <a16:creationId xmlns:a16="http://schemas.microsoft.com/office/drawing/2014/main" id="{1796F43B-7C1A-51A2-44F6-DAC4836DEADC}"/>
              </a:ext>
            </a:extLst>
          </p:cNvPr>
          <p:cNvSpPr>
            <a:spLocks noGrp="1"/>
          </p:cNvSpPr>
          <p:nvPr>
            <p:ph type="body" sz="quarter" idx="13"/>
          </p:nvPr>
        </p:nvSpPr>
        <p:spPr>
          <a:xfrm>
            <a:off x="8180399" y="2197472"/>
            <a:ext cx="3456432" cy="963990"/>
          </a:xfrm>
        </p:spPr>
        <p:txBody>
          <a:bodyPr/>
          <a:lstStyle/>
          <a:p>
            <a:r>
              <a:rPr lang="en-IN" b="1" dirty="0"/>
              <a:t>3. </a:t>
            </a:r>
            <a:r>
              <a:rPr lang="en-IN" b="1" u="sng" dirty="0"/>
              <a:t>Process Automation</a:t>
            </a:r>
          </a:p>
          <a:p>
            <a:endParaRPr lang="en-IN" dirty="0"/>
          </a:p>
        </p:txBody>
      </p:sp>
      <p:sp>
        <p:nvSpPr>
          <p:cNvPr id="8" name="Text Placeholder 7">
            <a:extLst>
              <a:ext uri="{FF2B5EF4-FFF2-40B4-BE49-F238E27FC236}">
                <a16:creationId xmlns:a16="http://schemas.microsoft.com/office/drawing/2014/main" id="{43B1F7A8-23E9-F11B-E740-4C12B419CDBD}"/>
              </a:ext>
            </a:extLst>
          </p:cNvPr>
          <p:cNvSpPr>
            <a:spLocks noGrp="1"/>
          </p:cNvSpPr>
          <p:nvPr>
            <p:ph type="body" sz="half" idx="17"/>
          </p:nvPr>
        </p:nvSpPr>
        <p:spPr>
          <a:xfrm>
            <a:off x="8051801" y="2904565"/>
            <a:ext cx="3456432" cy="3811920"/>
          </a:xfrm>
        </p:spPr>
        <p:txBody>
          <a:bodyPr>
            <a:normAutofit fontScale="92500" lnSpcReduction="20000"/>
          </a:bodyPr>
          <a:lstStyle/>
          <a:p>
            <a:r>
              <a:rPr lang="en-IN" sz="1900" dirty="0"/>
              <a:t>Automation reduces repetitive manual tasks.</a:t>
            </a:r>
          </a:p>
          <a:p>
            <a:r>
              <a:rPr lang="en-IN" sz="1900" dirty="0"/>
              <a:t>Examples:</a:t>
            </a:r>
          </a:p>
          <a:p>
            <a:pPr marL="342900" indent="-342900">
              <a:buFont typeface="Arial" panose="020B0604020202020204" pitchFamily="34" charset="0"/>
              <a:buChar char="•"/>
            </a:pPr>
            <a:r>
              <a:rPr lang="en-IN" sz="1900" dirty="0"/>
              <a:t>Payroll processing </a:t>
            </a:r>
          </a:p>
          <a:p>
            <a:pPr marL="342900" indent="-342900">
              <a:buFont typeface="Arial" panose="020B0604020202020204" pitchFamily="34" charset="0"/>
              <a:buChar char="•"/>
            </a:pPr>
            <a:r>
              <a:rPr lang="en-IN" sz="1900" dirty="0"/>
              <a:t>Inventory management </a:t>
            </a:r>
          </a:p>
          <a:p>
            <a:pPr marL="342900" indent="-342900">
              <a:buFont typeface="Arial" panose="020B0604020202020204" pitchFamily="34" charset="0"/>
              <a:buChar char="•"/>
            </a:pPr>
            <a:r>
              <a:rPr lang="en-IN" sz="1900" dirty="0"/>
              <a:t>Invoice generation </a:t>
            </a:r>
          </a:p>
          <a:p>
            <a:pPr marL="342900" indent="-342900">
              <a:buFont typeface="Arial" panose="020B0604020202020204" pitchFamily="34" charset="0"/>
              <a:buChar char="•"/>
            </a:pPr>
            <a:r>
              <a:rPr lang="en-IN" sz="1900" dirty="0"/>
              <a:t>Attendance tracking </a:t>
            </a:r>
          </a:p>
          <a:p>
            <a:endParaRPr lang="en-IN" sz="1900" dirty="0"/>
          </a:p>
          <a:p>
            <a:r>
              <a:rPr lang="en-IN" sz="1900" dirty="0"/>
              <a:t>Benefits:</a:t>
            </a:r>
          </a:p>
          <a:p>
            <a:pPr marL="342900" indent="-342900">
              <a:buFont typeface="Wingdings" panose="05000000000000000000" pitchFamily="2" charset="2"/>
              <a:buChar char="ü"/>
            </a:pPr>
            <a:r>
              <a:rPr lang="en-IN" sz="1900" dirty="0"/>
              <a:t>Saves time </a:t>
            </a:r>
          </a:p>
          <a:p>
            <a:pPr marL="342900" indent="-342900">
              <a:buFont typeface="Wingdings" panose="05000000000000000000" pitchFamily="2" charset="2"/>
              <a:buChar char="ü"/>
            </a:pPr>
            <a:r>
              <a:rPr lang="en-IN" sz="1900" dirty="0"/>
              <a:t>Reduces errors </a:t>
            </a:r>
          </a:p>
          <a:p>
            <a:pPr marL="342900" indent="-342900">
              <a:buFont typeface="Wingdings" panose="05000000000000000000" pitchFamily="2" charset="2"/>
              <a:buChar char="ü"/>
            </a:pPr>
            <a:r>
              <a:rPr lang="en-IN" sz="1900" dirty="0"/>
              <a:t>Lowers operating costs</a:t>
            </a:r>
          </a:p>
          <a:p>
            <a:endParaRPr lang="en-IN" dirty="0"/>
          </a:p>
        </p:txBody>
      </p:sp>
    </p:spTree>
    <p:extLst>
      <p:ext uri="{BB962C8B-B14F-4D97-AF65-F5344CB8AC3E}">
        <p14:creationId xmlns:p14="http://schemas.microsoft.com/office/powerpoint/2010/main" val="2127807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B05D-C266-EBA5-08B5-52B44F5D1850}"/>
              </a:ext>
            </a:extLst>
          </p:cNvPr>
          <p:cNvSpPr>
            <a:spLocks noGrp="1"/>
          </p:cNvSpPr>
          <p:nvPr>
            <p:ph type="title"/>
          </p:nvPr>
        </p:nvSpPr>
        <p:spPr>
          <a:xfrm>
            <a:off x="2895601" y="424544"/>
            <a:ext cx="6477000" cy="1226920"/>
          </a:xfrm>
        </p:spPr>
        <p:txBody>
          <a:bodyPr/>
          <a:lstStyle/>
          <a:p>
            <a:r>
              <a:rPr lang="en-IN" u="sng" dirty="0"/>
              <a:t>Major Roles of IT</a:t>
            </a:r>
            <a:endParaRPr lang="en-IN" dirty="0"/>
          </a:p>
        </p:txBody>
      </p:sp>
      <p:sp>
        <p:nvSpPr>
          <p:cNvPr id="3" name="Text Placeholder 2">
            <a:extLst>
              <a:ext uri="{FF2B5EF4-FFF2-40B4-BE49-F238E27FC236}">
                <a16:creationId xmlns:a16="http://schemas.microsoft.com/office/drawing/2014/main" id="{07DDE4CB-15A2-4D67-DC69-27DD25D405A9}"/>
              </a:ext>
            </a:extLst>
          </p:cNvPr>
          <p:cNvSpPr>
            <a:spLocks noGrp="1"/>
          </p:cNvSpPr>
          <p:nvPr>
            <p:ph type="body" idx="1"/>
          </p:nvPr>
        </p:nvSpPr>
        <p:spPr>
          <a:xfrm>
            <a:off x="685800" y="2202080"/>
            <a:ext cx="3456432" cy="1314006"/>
          </a:xfrm>
        </p:spPr>
        <p:txBody>
          <a:bodyPr/>
          <a:lstStyle/>
          <a:p>
            <a:r>
              <a:rPr lang="en-IN" b="1" dirty="0"/>
              <a:t>4. </a:t>
            </a:r>
            <a:r>
              <a:rPr lang="en-IN" b="1" u="sng" dirty="0"/>
              <a:t>Customer Relationship Management</a:t>
            </a:r>
          </a:p>
          <a:p>
            <a:endParaRPr lang="en-IN" dirty="0"/>
          </a:p>
        </p:txBody>
      </p:sp>
      <p:sp>
        <p:nvSpPr>
          <p:cNvPr id="4" name="Text Placeholder 3">
            <a:extLst>
              <a:ext uri="{FF2B5EF4-FFF2-40B4-BE49-F238E27FC236}">
                <a16:creationId xmlns:a16="http://schemas.microsoft.com/office/drawing/2014/main" id="{7C3F8057-9B07-9BB0-616E-E36F33F0C34D}"/>
              </a:ext>
            </a:extLst>
          </p:cNvPr>
          <p:cNvSpPr>
            <a:spLocks noGrp="1"/>
          </p:cNvSpPr>
          <p:nvPr>
            <p:ph type="body" sz="half" idx="15"/>
          </p:nvPr>
        </p:nvSpPr>
        <p:spPr>
          <a:xfrm>
            <a:off x="576942" y="3211286"/>
            <a:ext cx="3456432" cy="3546396"/>
          </a:xfrm>
        </p:spPr>
        <p:txBody>
          <a:bodyPr>
            <a:normAutofit fontScale="92500" lnSpcReduction="10000"/>
          </a:bodyPr>
          <a:lstStyle/>
          <a:p>
            <a:r>
              <a:rPr lang="en-IN" sz="1800" dirty="0"/>
              <a:t>IT helps organizations:</a:t>
            </a:r>
          </a:p>
          <a:p>
            <a:pPr marL="285750" indent="-285750">
              <a:buFont typeface="Arial" panose="020B0604020202020204" pitchFamily="34" charset="0"/>
              <a:buChar char="•"/>
            </a:pPr>
            <a:r>
              <a:rPr lang="en-IN" sz="1800" dirty="0"/>
              <a:t>Track customer interactions </a:t>
            </a:r>
          </a:p>
          <a:p>
            <a:pPr marL="285750" indent="-285750">
              <a:buFont typeface="Arial" panose="020B0604020202020204" pitchFamily="34" charset="0"/>
              <a:buChar char="•"/>
            </a:pPr>
            <a:r>
              <a:rPr lang="en-IN" sz="1800" dirty="0"/>
              <a:t>Manage customer data </a:t>
            </a:r>
          </a:p>
          <a:p>
            <a:pPr marL="285750" indent="-285750">
              <a:buFont typeface="Arial" panose="020B0604020202020204" pitchFamily="34" charset="0"/>
              <a:buChar char="•"/>
            </a:pPr>
            <a:r>
              <a:rPr lang="en-IN" sz="1800" dirty="0"/>
              <a:t>Improve customer service </a:t>
            </a:r>
          </a:p>
          <a:p>
            <a:pPr marL="285750" indent="-285750">
              <a:buFont typeface="Arial" panose="020B0604020202020204" pitchFamily="34" charset="0"/>
              <a:buChar char="•"/>
            </a:pPr>
            <a:r>
              <a:rPr lang="en-IN" sz="1800" dirty="0"/>
              <a:t>Personalize marketing </a:t>
            </a:r>
          </a:p>
          <a:p>
            <a:endParaRPr lang="en-IN" sz="1800" dirty="0"/>
          </a:p>
          <a:p>
            <a:r>
              <a:rPr lang="en-IN" sz="1800" dirty="0"/>
              <a:t>Benefits:</a:t>
            </a:r>
          </a:p>
          <a:p>
            <a:pPr marL="285750" indent="-285750">
              <a:buFont typeface="Wingdings" panose="05000000000000000000" pitchFamily="2" charset="2"/>
              <a:buChar char="ü"/>
            </a:pPr>
            <a:r>
              <a:rPr lang="en-IN" sz="1800" dirty="0"/>
              <a:t>Higher customer satisfaction </a:t>
            </a:r>
          </a:p>
          <a:p>
            <a:pPr marL="285750" indent="-285750">
              <a:buFont typeface="Wingdings" panose="05000000000000000000" pitchFamily="2" charset="2"/>
              <a:buChar char="ü"/>
            </a:pPr>
            <a:r>
              <a:rPr lang="en-IN" sz="1800" dirty="0"/>
              <a:t>Increased sales </a:t>
            </a:r>
          </a:p>
          <a:p>
            <a:pPr marL="285750" indent="-285750">
              <a:buFont typeface="Wingdings" panose="05000000000000000000" pitchFamily="2" charset="2"/>
              <a:buChar char="ü"/>
            </a:pPr>
            <a:r>
              <a:rPr lang="en-IN" sz="1800" dirty="0"/>
              <a:t>Strong customer loyalty</a:t>
            </a:r>
          </a:p>
          <a:p>
            <a:endParaRPr lang="en-IN" dirty="0"/>
          </a:p>
        </p:txBody>
      </p:sp>
      <p:sp>
        <p:nvSpPr>
          <p:cNvPr id="5" name="Text Placeholder 4">
            <a:extLst>
              <a:ext uri="{FF2B5EF4-FFF2-40B4-BE49-F238E27FC236}">
                <a16:creationId xmlns:a16="http://schemas.microsoft.com/office/drawing/2014/main" id="{AD187C8A-84C2-0058-8B53-C6AD5F69A4D9}"/>
              </a:ext>
            </a:extLst>
          </p:cNvPr>
          <p:cNvSpPr>
            <a:spLocks noGrp="1"/>
          </p:cNvSpPr>
          <p:nvPr>
            <p:ph type="body" sz="quarter" idx="3"/>
          </p:nvPr>
        </p:nvSpPr>
        <p:spPr>
          <a:xfrm>
            <a:off x="4368800" y="1984366"/>
            <a:ext cx="3456432" cy="1226920"/>
          </a:xfrm>
        </p:spPr>
        <p:txBody>
          <a:bodyPr/>
          <a:lstStyle/>
          <a:p>
            <a:r>
              <a:rPr lang="en-IN" b="1" dirty="0"/>
              <a:t>5. </a:t>
            </a:r>
            <a:r>
              <a:rPr lang="en-IN" b="1" u="sng" dirty="0"/>
              <a:t>Financial Management</a:t>
            </a:r>
          </a:p>
          <a:p>
            <a:endParaRPr lang="en-IN" dirty="0"/>
          </a:p>
        </p:txBody>
      </p:sp>
      <p:sp>
        <p:nvSpPr>
          <p:cNvPr id="6" name="Text Placeholder 5">
            <a:extLst>
              <a:ext uri="{FF2B5EF4-FFF2-40B4-BE49-F238E27FC236}">
                <a16:creationId xmlns:a16="http://schemas.microsoft.com/office/drawing/2014/main" id="{C971323F-B3AC-4356-3FF4-24A7694E6C0A}"/>
              </a:ext>
            </a:extLst>
          </p:cNvPr>
          <p:cNvSpPr>
            <a:spLocks noGrp="1"/>
          </p:cNvSpPr>
          <p:nvPr>
            <p:ph type="body" sz="half" idx="16"/>
          </p:nvPr>
        </p:nvSpPr>
        <p:spPr>
          <a:xfrm>
            <a:off x="4366858" y="2904067"/>
            <a:ext cx="3456432" cy="3546394"/>
          </a:xfrm>
        </p:spPr>
        <p:txBody>
          <a:bodyPr>
            <a:normAutofit lnSpcReduction="10000"/>
          </a:bodyPr>
          <a:lstStyle/>
          <a:p>
            <a:r>
              <a:rPr lang="en-IN" sz="1800" dirty="0"/>
              <a:t>IT supports:</a:t>
            </a:r>
          </a:p>
          <a:p>
            <a:pPr marL="285750" indent="-285750">
              <a:buFont typeface="Arial" panose="020B0604020202020204" pitchFamily="34" charset="0"/>
              <a:buChar char="•"/>
            </a:pPr>
            <a:r>
              <a:rPr lang="en-IN" sz="1800" dirty="0"/>
              <a:t>Accounting </a:t>
            </a:r>
          </a:p>
          <a:p>
            <a:pPr marL="285750" indent="-285750">
              <a:buFont typeface="Arial" panose="020B0604020202020204" pitchFamily="34" charset="0"/>
              <a:buChar char="•"/>
            </a:pPr>
            <a:r>
              <a:rPr lang="en-IN" sz="1800" dirty="0"/>
              <a:t>Budgeting </a:t>
            </a:r>
          </a:p>
          <a:p>
            <a:pPr marL="285750" indent="-285750">
              <a:buFont typeface="Arial" panose="020B0604020202020204" pitchFamily="34" charset="0"/>
              <a:buChar char="•"/>
            </a:pPr>
            <a:r>
              <a:rPr lang="en-IN" sz="1800" dirty="0"/>
              <a:t>Tax calculation </a:t>
            </a:r>
          </a:p>
          <a:p>
            <a:pPr marL="285750" indent="-285750">
              <a:buFont typeface="Arial" panose="020B0604020202020204" pitchFamily="34" charset="0"/>
              <a:buChar char="•"/>
            </a:pPr>
            <a:r>
              <a:rPr lang="en-IN" sz="1800" dirty="0"/>
              <a:t>Financial reporting </a:t>
            </a:r>
          </a:p>
          <a:p>
            <a:endParaRPr lang="en-IN" sz="1800" dirty="0"/>
          </a:p>
          <a:p>
            <a:r>
              <a:rPr lang="en-IN" sz="1800" dirty="0"/>
              <a:t>Benefits:</a:t>
            </a:r>
          </a:p>
          <a:p>
            <a:pPr marL="285750" indent="-285750">
              <a:buFont typeface="Wingdings" panose="05000000000000000000" pitchFamily="2" charset="2"/>
              <a:buChar char="ü"/>
            </a:pPr>
            <a:r>
              <a:rPr lang="en-IN" sz="1800" dirty="0"/>
              <a:t>Accurate financial records </a:t>
            </a:r>
          </a:p>
          <a:p>
            <a:pPr marL="285750" indent="-285750">
              <a:buFont typeface="Wingdings" panose="05000000000000000000" pitchFamily="2" charset="2"/>
              <a:buChar char="ü"/>
            </a:pPr>
            <a:r>
              <a:rPr lang="en-IN" sz="1800" dirty="0"/>
              <a:t>Faster reporting </a:t>
            </a:r>
          </a:p>
          <a:p>
            <a:pPr marL="285750" indent="-285750">
              <a:buFont typeface="Wingdings" panose="05000000000000000000" pitchFamily="2" charset="2"/>
              <a:buChar char="ü"/>
            </a:pPr>
            <a:r>
              <a:rPr lang="en-IN" sz="1800" dirty="0"/>
              <a:t>Regulatory compliance</a:t>
            </a:r>
          </a:p>
          <a:p>
            <a:endParaRPr lang="en-IN" dirty="0"/>
          </a:p>
        </p:txBody>
      </p:sp>
      <p:sp>
        <p:nvSpPr>
          <p:cNvPr id="7" name="Text Placeholder 6">
            <a:extLst>
              <a:ext uri="{FF2B5EF4-FFF2-40B4-BE49-F238E27FC236}">
                <a16:creationId xmlns:a16="http://schemas.microsoft.com/office/drawing/2014/main" id="{ECA4F225-27AD-68E9-A8A3-2067AA3F70B3}"/>
              </a:ext>
            </a:extLst>
          </p:cNvPr>
          <p:cNvSpPr>
            <a:spLocks noGrp="1"/>
          </p:cNvSpPr>
          <p:nvPr>
            <p:ph type="body" sz="quarter" idx="13"/>
          </p:nvPr>
        </p:nvSpPr>
        <p:spPr>
          <a:xfrm>
            <a:off x="8051800" y="2192866"/>
            <a:ext cx="3456432" cy="1018420"/>
          </a:xfrm>
        </p:spPr>
        <p:txBody>
          <a:bodyPr/>
          <a:lstStyle/>
          <a:p>
            <a:r>
              <a:rPr lang="en-IN" b="1" dirty="0"/>
              <a:t>6. Supply Chain Management</a:t>
            </a:r>
          </a:p>
          <a:p>
            <a:endParaRPr lang="en-IN" dirty="0"/>
          </a:p>
        </p:txBody>
      </p:sp>
      <p:sp>
        <p:nvSpPr>
          <p:cNvPr id="8" name="Text Placeholder 7">
            <a:extLst>
              <a:ext uri="{FF2B5EF4-FFF2-40B4-BE49-F238E27FC236}">
                <a16:creationId xmlns:a16="http://schemas.microsoft.com/office/drawing/2014/main" id="{BC1093D1-7C83-EA73-329D-42E1819841F0}"/>
              </a:ext>
            </a:extLst>
          </p:cNvPr>
          <p:cNvSpPr>
            <a:spLocks noGrp="1"/>
          </p:cNvSpPr>
          <p:nvPr>
            <p:ph type="body" sz="half" idx="17"/>
          </p:nvPr>
        </p:nvSpPr>
        <p:spPr>
          <a:xfrm>
            <a:off x="8051801" y="2904564"/>
            <a:ext cx="3456432" cy="3546395"/>
          </a:xfrm>
        </p:spPr>
        <p:txBody>
          <a:bodyPr>
            <a:normAutofit fontScale="92500" lnSpcReduction="10000"/>
          </a:bodyPr>
          <a:lstStyle/>
          <a:p>
            <a:r>
              <a:rPr lang="en-IN" sz="1800" dirty="0"/>
              <a:t>IT improves:</a:t>
            </a:r>
          </a:p>
          <a:p>
            <a:pPr marL="285750" indent="-285750">
              <a:buFont typeface="Arial" panose="020B0604020202020204" pitchFamily="34" charset="0"/>
              <a:buChar char="•"/>
            </a:pPr>
            <a:r>
              <a:rPr lang="en-IN" sz="1800" dirty="0"/>
              <a:t>Procurement </a:t>
            </a:r>
          </a:p>
          <a:p>
            <a:pPr marL="285750" indent="-285750">
              <a:buFont typeface="Arial" panose="020B0604020202020204" pitchFamily="34" charset="0"/>
              <a:buChar char="•"/>
            </a:pPr>
            <a:r>
              <a:rPr lang="en-IN" sz="1800" dirty="0"/>
              <a:t>Inventory control </a:t>
            </a:r>
          </a:p>
          <a:p>
            <a:pPr marL="285750" indent="-285750">
              <a:buFont typeface="Arial" panose="020B0604020202020204" pitchFamily="34" charset="0"/>
              <a:buChar char="•"/>
            </a:pPr>
            <a:r>
              <a:rPr lang="en-IN" sz="1800" dirty="0"/>
              <a:t>Logistics </a:t>
            </a:r>
          </a:p>
          <a:p>
            <a:pPr marL="285750" indent="-285750">
              <a:buFont typeface="Arial" panose="020B0604020202020204" pitchFamily="34" charset="0"/>
              <a:buChar char="•"/>
            </a:pPr>
            <a:r>
              <a:rPr lang="en-IN" sz="1800" dirty="0"/>
              <a:t>Distribution </a:t>
            </a:r>
          </a:p>
          <a:p>
            <a:endParaRPr lang="en-IN" sz="1800" dirty="0"/>
          </a:p>
          <a:p>
            <a:r>
              <a:rPr lang="en-IN" sz="1800" dirty="0"/>
              <a:t>Benefits:</a:t>
            </a:r>
          </a:p>
          <a:p>
            <a:pPr marL="285750" indent="-285750">
              <a:buFont typeface="Wingdings" panose="05000000000000000000" pitchFamily="2" charset="2"/>
              <a:buChar char="ü"/>
            </a:pPr>
            <a:r>
              <a:rPr lang="en-IN" sz="1800" dirty="0"/>
              <a:t>Reduced inventory costs </a:t>
            </a:r>
          </a:p>
          <a:p>
            <a:pPr marL="285750" indent="-285750">
              <a:buFont typeface="Wingdings" panose="05000000000000000000" pitchFamily="2" charset="2"/>
              <a:buChar char="ü"/>
            </a:pPr>
            <a:r>
              <a:rPr lang="en-IN" sz="1800" dirty="0"/>
              <a:t>Faster deliveries </a:t>
            </a:r>
          </a:p>
          <a:p>
            <a:pPr marL="285750" indent="-285750">
              <a:buFont typeface="Wingdings" panose="05000000000000000000" pitchFamily="2" charset="2"/>
              <a:buChar char="ü"/>
            </a:pPr>
            <a:r>
              <a:rPr lang="en-IN" sz="1800" dirty="0"/>
              <a:t>Better supplier coordination </a:t>
            </a:r>
          </a:p>
          <a:p>
            <a:endParaRPr lang="en-IN" dirty="0"/>
          </a:p>
        </p:txBody>
      </p:sp>
    </p:spTree>
    <p:extLst>
      <p:ext uri="{BB962C8B-B14F-4D97-AF65-F5344CB8AC3E}">
        <p14:creationId xmlns:p14="http://schemas.microsoft.com/office/powerpoint/2010/main" val="3532614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2034-F4CD-72D0-BEA2-7B1DD0BA963B}"/>
              </a:ext>
            </a:extLst>
          </p:cNvPr>
          <p:cNvSpPr>
            <a:spLocks noGrp="1"/>
          </p:cNvSpPr>
          <p:nvPr>
            <p:ph type="title"/>
          </p:nvPr>
        </p:nvSpPr>
        <p:spPr>
          <a:xfrm>
            <a:off x="2895600" y="762000"/>
            <a:ext cx="8610600" cy="141514"/>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00B1406F-B1DE-D485-25CB-E419704918C8}"/>
              </a:ext>
            </a:extLst>
          </p:cNvPr>
          <p:cNvSpPr>
            <a:spLocks noGrp="1"/>
          </p:cNvSpPr>
          <p:nvPr>
            <p:ph type="body" idx="1"/>
          </p:nvPr>
        </p:nvSpPr>
        <p:spPr/>
        <p:txBody>
          <a:bodyPr>
            <a:normAutofit/>
          </a:bodyPr>
          <a:lstStyle/>
          <a:p>
            <a:r>
              <a:rPr lang="en-IN" b="1" u="sng" dirty="0"/>
              <a:t>7. Decision Support</a:t>
            </a:r>
          </a:p>
          <a:p>
            <a:endParaRPr lang="en-IN" dirty="0"/>
          </a:p>
        </p:txBody>
      </p:sp>
      <p:sp>
        <p:nvSpPr>
          <p:cNvPr id="4" name="Content Placeholder 3">
            <a:extLst>
              <a:ext uri="{FF2B5EF4-FFF2-40B4-BE49-F238E27FC236}">
                <a16:creationId xmlns:a16="http://schemas.microsoft.com/office/drawing/2014/main" id="{D8880168-7CF2-E256-7C6E-1E50B4CC915B}"/>
              </a:ext>
            </a:extLst>
          </p:cNvPr>
          <p:cNvSpPr>
            <a:spLocks noGrp="1"/>
          </p:cNvSpPr>
          <p:nvPr>
            <p:ph sz="half" idx="2"/>
          </p:nvPr>
        </p:nvSpPr>
        <p:spPr/>
        <p:txBody>
          <a:bodyPr>
            <a:normAutofit lnSpcReduction="10000"/>
          </a:bodyPr>
          <a:lstStyle/>
          <a:p>
            <a:r>
              <a:rPr lang="en-IN" dirty="0"/>
              <a:t>Business Intelligence (BI) tools help managers:</a:t>
            </a:r>
          </a:p>
          <a:p>
            <a:r>
              <a:rPr lang="en-IN" dirty="0" err="1"/>
              <a:t>Analyze</a:t>
            </a:r>
            <a:r>
              <a:rPr lang="en-IN" dirty="0"/>
              <a:t> trends </a:t>
            </a:r>
          </a:p>
          <a:p>
            <a:r>
              <a:rPr lang="en-IN" dirty="0"/>
              <a:t>Predict future demand </a:t>
            </a:r>
          </a:p>
          <a:p>
            <a:r>
              <a:rPr lang="en-IN" dirty="0"/>
              <a:t>Monitor performance </a:t>
            </a:r>
          </a:p>
          <a:p>
            <a:r>
              <a:rPr lang="en-IN" dirty="0"/>
              <a:t>Make strategic decisions </a:t>
            </a:r>
          </a:p>
          <a:p>
            <a:pPr marL="0" indent="0">
              <a:buNone/>
            </a:pPr>
            <a:br>
              <a:rPr lang="en-IN" dirty="0"/>
            </a:br>
            <a:endParaRPr lang="en-IN" dirty="0"/>
          </a:p>
          <a:p>
            <a:endParaRPr lang="en-IN" dirty="0"/>
          </a:p>
        </p:txBody>
      </p:sp>
      <p:sp>
        <p:nvSpPr>
          <p:cNvPr id="5" name="Text Placeholder 4">
            <a:extLst>
              <a:ext uri="{FF2B5EF4-FFF2-40B4-BE49-F238E27FC236}">
                <a16:creationId xmlns:a16="http://schemas.microsoft.com/office/drawing/2014/main" id="{384A2A33-AE60-16AC-4803-B3A2519E1A32}"/>
              </a:ext>
            </a:extLst>
          </p:cNvPr>
          <p:cNvSpPr>
            <a:spLocks noGrp="1"/>
          </p:cNvSpPr>
          <p:nvPr>
            <p:ph type="body" sz="quarter" idx="3"/>
          </p:nvPr>
        </p:nvSpPr>
        <p:spPr>
          <a:xfrm>
            <a:off x="6400800" y="2183802"/>
            <a:ext cx="5105400" cy="1245198"/>
          </a:xfrm>
        </p:spPr>
        <p:txBody>
          <a:bodyPr>
            <a:normAutofit/>
          </a:bodyPr>
          <a:lstStyle/>
          <a:p>
            <a:r>
              <a:rPr lang="en-IN" dirty="0"/>
              <a:t>Benefits of IT in Business Operations</a:t>
            </a:r>
          </a:p>
          <a:p>
            <a:endParaRPr lang="en-IN" dirty="0"/>
          </a:p>
        </p:txBody>
      </p:sp>
      <p:sp>
        <p:nvSpPr>
          <p:cNvPr id="6" name="Content Placeholder 5">
            <a:extLst>
              <a:ext uri="{FF2B5EF4-FFF2-40B4-BE49-F238E27FC236}">
                <a16:creationId xmlns:a16="http://schemas.microsoft.com/office/drawing/2014/main" id="{BE677510-F1E4-8A91-C2FD-AB3B459D765D}"/>
              </a:ext>
            </a:extLst>
          </p:cNvPr>
          <p:cNvSpPr>
            <a:spLocks noGrp="1"/>
          </p:cNvSpPr>
          <p:nvPr>
            <p:ph sz="quarter" idx="4"/>
          </p:nvPr>
        </p:nvSpPr>
        <p:spPr/>
        <p:txBody>
          <a:bodyPr>
            <a:normAutofit lnSpcReduction="10000"/>
          </a:bodyPr>
          <a:lstStyle/>
          <a:p>
            <a:r>
              <a:rPr lang="en-IN" dirty="0"/>
              <a:t>Increased productivity </a:t>
            </a:r>
          </a:p>
          <a:p>
            <a:r>
              <a:rPr lang="en-IN" dirty="0"/>
              <a:t>Cost reduction </a:t>
            </a:r>
          </a:p>
          <a:p>
            <a:r>
              <a:rPr lang="en-IN" dirty="0"/>
              <a:t>Better communication </a:t>
            </a:r>
          </a:p>
          <a:p>
            <a:r>
              <a:rPr lang="en-IN" dirty="0"/>
              <a:t>Faster decision-making </a:t>
            </a:r>
          </a:p>
          <a:p>
            <a:r>
              <a:rPr lang="en-IN" dirty="0"/>
              <a:t>Improved customer service </a:t>
            </a:r>
          </a:p>
          <a:p>
            <a:r>
              <a:rPr lang="en-IN" dirty="0"/>
              <a:t>Enhanced security </a:t>
            </a:r>
          </a:p>
          <a:p>
            <a:r>
              <a:rPr lang="en-IN" dirty="0"/>
              <a:t>Greater business flexibility </a:t>
            </a:r>
          </a:p>
          <a:p>
            <a:endParaRPr lang="en-IN" dirty="0"/>
          </a:p>
        </p:txBody>
      </p:sp>
    </p:spTree>
    <p:extLst>
      <p:ext uri="{BB962C8B-B14F-4D97-AF65-F5344CB8AC3E}">
        <p14:creationId xmlns:p14="http://schemas.microsoft.com/office/powerpoint/2010/main" val="2385325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517A-B3BE-DE41-E060-D53967233FAB}"/>
              </a:ext>
            </a:extLst>
          </p:cNvPr>
          <p:cNvSpPr>
            <a:spLocks noGrp="1"/>
          </p:cNvSpPr>
          <p:nvPr>
            <p:ph type="title"/>
          </p:nvPr>
        </p:nvSpPr>
        <p:spPr>
          <a:xfrm>
            <a:off x="1024467" y="753533"/>
            <a:ext cx="10481732" cy="1456267"/>
          </a:xfrm>
        </p:spPr>
        <p:txBody>
          <a:bodyPr>
            <a:normAutofit fontScale="90000"/>
          </a:bodyPr>
          <a:lstStyle/>
          <a:p>
            <a:pPr algn="l"/>
            <a:r>
              <a:rPr lang="en-IN" sz="3600" b="1" u="sng" dirty="0"/>
              <a:t>C. Overview of Business Systems (e.g., ERP, CRM)</a:t>
            </a:r>
            <a:br>
              <a:rPr lang="en-IN" b="1" dirty="0"/>
            </a:br>
            <a:br>
              <a:rPr lang="en-IN" dirty="0"/>
            </a:br>
            <a:endParaRPr lang="en-IN" dirty="0"/>
          </a:p>
        </p:txBody>
      </p:sp>
      <p:sp>
        <p:nvSpPr>
          <p:cNvPr id="3" name="Text Placeholder 2">
            <a:extLst>
              <a:ext uri="{FF2B5EF4-FFF2-40B4-BE49-F238E27FC236}">
                <a16:creationId xmlns:a16="http://schemas.microsoft.com/office/drawing/2014/main" id="{45D155C2-CFB2-DFF0-4219-1F6EFF1B422B}"/>
              </a:ext>
            </a:extLst>
          </p:cNvPr>
          <p:cNvSpPr>
            <a:spLocks noGrp="1"/>
          </p:cNvSpPr>
          <p:nvPr>
            <p:ph type="body" idx="1"/>
          </p:nvPr>
        </p:nvSpPr>
        <p:spPr>
          <a:xfrm>
            <a:off x="1024467" y="1850571"/>
            <a:ext cx="10490200" cy="2746829"/>
          </a:xfrm>
        </p:spPr>
        <p:txBody>
          <a:bodyPr>
            <a:normAutofit/>
          </a:bodyPr>
          <a:lstStyle/>
          <a:p>
            <a:pPr algn="l"/>
            <a:r>
              <a:rPr lang="en-IN" b="1" dirty="0"/>
              <a:t>What are Business Systems?</a:t>
            </a:r>
          </a:p>
          <a:p>
            <a:pPr algn="l"/>
            <a:br>
              <a:rPr lang="en-IN" b="1" dirty="0"/>
            </a:br>
            <a:r>
              <a:rPr lang="en-IN" dirty="0"/>
              <a:t>Business systems are integrated software applications that help organizations manage various business functions efficiently. They collect, process, and share information across departments</a:t>
            </a:r>
          </a:p>
        </p:txBody>
      </p:sp>
    </p:spTree>
    <p:extLst>
      <p:ext uri="{BB962C8B-B14F-4D97-AF65-F5344CB8AC3E}">
        <p14:creationId xmlns:p14="http://schemas.microsoft.com/office/powerpoint/2010/main" val="3905776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5985-11D0-FD19-29AD-3B2C1DA3A895}"/>
              </a:ext>
            </a:extLst>
          </p:cNvPr>
          <p:cNvSpPr>
            <a:spLocks noGrp="1"/>
          </p:cNvSpPr>
          <p:nvPr>
            <p:ph type="title"/>
          </p:nvPr>
        </p:nvSpPr>
        <p:spPr/>
        <p:txBody>
          <a:bodyPr>
            <a:normAutofit fontScale="90000"/>
          </a:bodyPr>
          <a:lstStyle/>
          <a:p>
            <a:pPr algn="ctr"/>
            <a:r>
              <a:rPr lang="en-IN" b="1" u="sng" dirty="0"/>
              <a:t>Enterprise Resource Planning </a:t>
            </a:r>
            <a:r>
              <a:rPr lang="en-IN" sz="2000" b="1" u="sng" dirty="0"/>
              <a:t>(ERP</a:t>
            </a:r>
            <a:r>
              <a:rPr lang="en-IN" sz="2000" b="1" dirty="0"/>
              <a:t>)</a:t>
            </a:r>
            <a:br>
              <a:rPr lang="en-IN" sz="2000" b="1" dirty="0"/>
            </a:br>
            <a:br>
              <a:rPr lang="en-IN" sz="2000" b="1" dirty="0"/>
            </a:br>
            <a:r>
              <a:rPr lang="en-IN" sz="1800" b="1" dirty="0"/>
              <a:t>ERP (Enterprise Resource Planning)</a:t>
            </a:r>
            <a:r>
              <a:rPr lang="en-IN" sz="1800" dirty="0"/>
              <a:t> is an integrated software system that manages core business processes using a centralized database.</a:t>
            </a:r>
            <a:br>
              <a:rPr lang="en-IN" sz="1800" dirty="0"/>
            </a:br>
            <a:endParaRPr lang="en-IN" sz="1800" dirty="0"/>
          </a:p>
        </p:txBody>
      </p:sp>
      <p:sp>
        <p:nvSpPr>
          <p:cNvPr id="3" name="Text Placeholder 2">
            <a:extLst>
              <a:ext uri="{FF2B5EF4-FFF2-40B4-BE49-F238E27FC236}">
                <a16:creationId xmlns:a16="http://schemas.microsoft.com/office/drawing/2014/main" id="{58DFD721-51B0-90F6-2483-FD18FE2F8370}"/>
              </a:ext>
            </a:extLst>
          </p:cNvPr>
          <p:cNvSpPr>
            <a:spLocks noGrp="1"/>
          </p:cNvSpPr>
          <p:nvPr>
            <p:ph type="body" idx="1"/>
          </p:nvPr>
        </p:nvSpPr>
        <p:spPr/>
        <p:txBody>
          <a:bodyPr/>
          <a:lstStyle/>
          <a:p>
            <a:r>
              <a:rPr lang="en-IN" sz="2800" b="1" i="1" u="sng" dirty="0"/>
              <a:t>Main Functions</a:t>
            </a:r>
            <a:endParaRPr lang="en-IN" sz="2800" i="1" u="sng" dirty="0"/>
          </a:p>
        </p:txBody>
      </p:sp>
      <p:sp>
        <p:nvSpPr>
          <p:cNvPr id="4" name="Text Placeholder 3">
            <a:extLst>
              <a:ext uri="{FF2B5EF4-FFF2-40B4-BE49-F238E27FC236}">
                <a16:creationId xmlns:a16="http://schemas.microsoft.com/office/drawing/2014/main" id="{30F2577C-E8DF-D88F-8C78-A298B409D606}"/>
              </a:ext>
            </a:extLst>
          </p:cNvPr>
          <p:cNvSpPr>
            <a:spLocks noGrp="1"/>
          </p:cNvSpPr>
          <p:nvPr>
            <p:ph type="body" sz="half" idx="15"/>
          </p:nvPr>
        </p:nvSpPr>
        <p:spPr/>
        <p:txBody>
          <a:bodyPr>
            <a:normAutofit fontScale="92500"/>
          </a:bodyPr>
          <a:lstStyle/>
          <a:p>
            <a:endParaRPr lang="en-IN" b="1" dirty="0"/>
          </a:p>
          <a:p>
            <a:pPr marL="285750" indent="-285750">
              <a:buFont typeface="Arial" panose="020B0604020202020204" pitchFamily="34" charset="0"/>
              <a:buChar char="•"/>
            </a:pPr>
            <a:r>
              <a:rPr lang="en-IN" sz="2000" dirty="0"/>
              <a:t>Finance and Accounting </a:t>
            </a:r>
          </a:p>
          <a:p>
            <a:pPr marL="285750" indent="-285750">
              <a:buFont typeface="Arial" panose="020B0604020202020204" pitchFamily="34" charset="0"/>
              <a:buChar char="•"/>
            </a:pPr>
            <a:r>
              <a:rPr lang="en-IN" sz="2000" dirty="0"/>
              <a:t>Human Resources </a:t>
            </a:r>
          </a:p>
          <a:p>
            <a:pPr marL="285750" indent="-285750">
              <a:buFont typeface="Arial" panose="020B0604020202020204" pitchFamily="34" charset="0"/>
              <a:buChar char="•"/>
            </a:pPr>
            <a:r>
              <a:rPr lang="en-IN" sz="2000" dirty="0"/>
              <a:t>Inventory Management </a:t>
            </a:r>
          </a:p>
          <a:p>
            <a:pPr marL="285750" indent="-285750">
              <a:buFont typeface="Arial" panose="020B0604020202020204" pitchFamily="34" charset="0"/>
              <a:buChar char="•"/>
            </a:pPr>
            <a:r>
              <a:rPr lang="en-IN" sz="2000" dirty="0"/>
              <a:t>Procurement </a:t>
            </a:r>
          </a:p>
          <a:p>
            <a:pPr marL="285750" indent="-285750">
              <a:buFont typeface="Arial" panose="020B0604020202020204" pitchFamily="34" charset="0"/>
              <a:buChar char="•"/>
            </a:pPr>
            <a:r>
              <a:rPr lang="en-IN" sz="2000" dirty="0"/>
              <a:t>Manufacturing </a:t>
            </a:r>
          </a:p>
          <a:p>
            <a:pPr marL="285750" indent="-285750">
              <a:buFont typeface="Arial" panose="020B0604020202020204" pitchFamily="34" charset="0"/>
              <a:buChar char="•"/>
            </a:pPr>
            <a:r>
              <a:rPr lang="en-IN" sz="2000" dirty="0"/>
              <a:t>Sales </a:t>
            </a:r>
          </a:p>
          <a:p>
            <a:pPr marL="285750" indent="-285750">
              <a:buFont typeface="Arial" panose="020B0604020202020204" pitchFamily="34" charset="0"/>
              <a:buChar char="•"/>
            </a:pPr>
            <a:r>
              <a:rPr lang="en-IN" sz="2000" dirty="0"/>
              <a:t>Supply Chain Management</a:t>
            </a:r>
          </a:p>
          <a:p>
            <a:endParaRPr lang="en-IN" dirty="0"/>
          </a:p>
        </p:txBody>
      </p:sp>
      <p:sp>
        <p:nvSpPr>
          <p:cNvPr id="5" name="Text Placeholder 4">
            <a:extLst>
              <a:ext uri="{FF2B5EF4-FFF2-40B4-BE49-F238E27FC236}">
                <a16:creationId xmlns:a16="http://schemas.microsoft.com/office/drawing/2014/main" id="{01B22FA6-81C5-A689-4D54-26D227FDCBBB}"/>
              </a:ext>
            </a:extLst>
          </p:cNvPr>
          <p:cNvSpPr>
            <a:spLocks noGrp="1"/>
          </p:cNvSpPr>
          <p:nvPr>
            <p:ph type="body" sz="quarter" idx="3"/>
          </p:nvPr>
        </p:nvSpPr>
        <p:spPr>
          <a:xfrm>
            <a:off x="4366858" y="2318657"/>
            <a:ext cx="3458374" cy="936172"/>
          </a:xfrm>
        </p:spPr>
        <p:txBody>
          <a:bodyPr/>
          <a:lstStyle/>
          <a:p>
            <a:r>
              <a:rPr lang="en-IN" sz="2800" b="1" i="1" u="sng" dirty="0"/>
              <a:t>Advantages</a:t>
            </a:r>
          </a:p>
          <a:p>
            <a:endParaRPr lang="en-IN" dirty="0"/>
          </a:p>
        </p:txBody>
      </p:sp>
      <p:sp>
        <p:nvSpPr>
          <p:cNvPr id="6" name="Text Placeholder 5">
            <a:extLst>
              <a:ext uri="{FF2B5EF4-FFF2-40B4-BE49-F238E27FC236}">
                <a16:creationId xmlns:a16="http://schemas.microsoft.com/office/drawing/2014/main" id="{83CEF74F-51CC-4C04-ACE8-80C6CB7F0CBC}"/>
              </a:ext>
            </a:extLst>
          </p:cNvPr>
          <p:cNvSpPr>
            <a:spLocks noGrp="1"/>
          </p:cNvSpPr>
          <p:nvPr>
            <p:ph type="body" sz="half" idx="16"/>
          </p:nvPr>
        </p:nvSpPr>
        <p:spPr>
          <a:xfrm>
            <a:off x="4366858" y="3145971"/>
            <a:ext cx="3456432" cy="3072713"/>
          </a:xfrm>
        </p:spPr>
        <p:txBody>
          <a:bodyPr/>
          <a:lstStyle/>
          <a:p>
            <a:pPr marL="342900" indent="-342900">
              <a:buFont typeface="Arial" panose="020B0604020202020204" pitchFamily="34" charset="0"/>
              <a:buChar char="•"/>
            </a:pPr>
            <a:r>
              <a:rPr lang="en-IN" sz="2000" dirty="0"/>
              <a:t>Centralized data </a:t>
            </a:r>
          </a:p>
          <a:p>
            <a:pPr marL="342900" indent="-342900">
              <a:buFont typeface="Arial" panose="020B0604020202020204" pitchFamily="34" charset="0"/>
              <a:buChar char="•"/>
            </a:pPr>
            <a:r>
              <a:rPr lang="en-IN" sz="2000" dirty="0"/>
              <a:t>Improved efficiency </a:t>
            </a:r>
          </a:p>
          <a:p>
            <a:pPr marL="342900" indent="-342900">
              <a:buFont typeface="Arial" panose="020B0604020202020204" pitchFamily="34" charset="0"/>
              <a:buChar char="•"/>
            </a:pPr>
            <a:r>
              <a:rPr lang="en-IN" sz="2000" dirty="0"/>
              <a:t>Better coordination </a:t>
            </a:r>
          </a:p>
          <a:p>
            <a:pPr marL="342900" indent="-342900">
              <a:buFont typeface="Arial" panose="020B0604020202020204" pitchFamily="34" charset="0"/>
              <a:buChar char="•"/>
            </a:pPr>
            <a:r>
              <a:rPr lang="en-IN" sz="2000" dirty="0"/>
              <a:t>Reduced duplication </a:t>
            </a:r>
          </a:p>
          <a:p>
            <a:pPr marL="342900" indent="-342900">
              <a:buFont typeface="Arial" panose="020B0604020202020204" pitchFamily="34" charset="0"/>
              <a:buChar char="•"/>
            </a:pPr>
            <a:r>
              <a:rPr lang="en-IN" sz="2000" dirty="0"/>
              <a:t>Real-time reporting </a:t>
            </a:r>
          </a:p>
          <a:p>
            <a:pPr marL="342900" indent="-342900">
              <a:buFont typeface="Arial" panose="020B0604020202020204" pitchFamily="34" charset="0"/>
              <a:buChar char="•"/>
            </a:pPr>
            <a:r>
              <a:rPr lang="en-IN" sz="2000" dirty="0"/>
              <a:t>Better decision-making</a:t>
            </a:r>
          </a:p>
          <a:p>
            <a:endParaRPr lang="en-IN" dirty="0"/>
          </a:p>
        </p:txBody>
      </p:sp>
      <p:sp>
        <p:nvSpPr>
          <p:cNvPr id="7" name="Text Placeholder 6">
            <a:extLst>
              <a:ext uri="{FF2B5EF4-FFF2-40B4-BE49-F238E27FC236}">
                <a16:creationId xmlns:a16="http://schemas.microsoft.com/office/drawing/2014/main" id="{3AA1A3A3-496F-D078-A7FA-7433F0B51739}"/>
              </a:ext>
            </a:extLst>
          </p:cNvPr>
          <p:cNvSpPr>
            <a:spLocks noGrp="1"/>
          </p:cNvSpPr>
          <p:nvPr>
            <p:ph type="body" sz="quarter" idx="13"/>
          </p:nvPr>
        </p:nvSpPr>
        <p:spPr>
          <a:xfrm>
            <a:off x="8051800" y="2192866"/>
            <a:ext cx="3456432" cy="1007534"/>
          </a:xfrm>
        </p:spPr>
        <p:txBody>
          <a:bodyPr/>
          <a:lstStyle/>
          <a:p>
            <a:r>
              <a:rPr lang="en-IN" b="1" i="1" u="sng" dirty="0"/>
              <a:t>Popular ERP Software</a:t>
            </a:r>
          </a:p>
          <a:p>
            <a:endParaRPr lang="en-IN" dirty="0"/>
          </a:p>
        </p:txBody>
      </p:sp>
      <p:sp>
        <p:nvSpPr>
          <p:cNvPr id="8" name="Text Placeholder 7">
            <a:extLst>
              <a:ext uri="{FF2B5EF4-FFF2-40B4-BE49-F238E27FC236}">
                <a16:creationId xmlns:a16="http://schemas.microsoft.com/office/drawing/2014/main" id="{5384DAC6-F4AB-786C-1F95-B5F321B6A437}"/>
              </a:ext>
            </a:extLst>
          </p:cNvPr>
          <p:cNvSpPr>
            <a:spLocks noGrp="1"/>
          </p:cNvSpPr>
          <p:nvPr>
            <p:ph type="body" sz="half" idx="17"/>
          </p:nvPr>
        </p:nvSpPr>
        <p:spPr>
          <a:xfrm>
            <a:off x="8051801" y="3145971"/>
            <a:ext cx="3456432" cy="3072726"/>
          </a:xfrm>
        </p:spPr>
        <p:txBody>
          <a:bodyPr/>
          <a:lstStyle/>
          <a:p>
            <a:pPr marL="342900" indent="-342900">
              <a:buFont typeface="Arial" panose="020B0604020202020204" pitchFamily="34" charset="0"/>
              <a:buChar char="•"/>
            </a:pPr>
            <a:r>
              <a:rPr lang="en-IN" sz="2000" dirty="0"/>
              <a:t>SAP ERP </a:t>
            </a:r>
          </a:p>
          <a:p>
            <a:pPr marL="342900" indent="-342900">
              <a:buFont typeface="Arial" panose="020B0604020202020204" pitchFamily="34" charset="0"/>
              <a:buChar char="•"/>
            </a:pPr>
            <a:r>
              <a:rPr lang="en-IN" sz="2000" dirty="0"/>
              <a:t>Oracle ERP </a:t>
            </a:r>
          </a:p>
          <a:p>
            <a:pPr marL="342900" indent="-342900">
              <a:buFont typeface="Arial" panose="020B0604020202020204" pitchFamily="34" charset="0"/>
              <a:buChar char="•"/>
            </a:pPr>
            <a:r>
              <a:rPr lang="en-IN" sz="2000" dirty="0"/>
              <a:t>Microsoft Dynamics 365 </a:t>
            </a:r>
          </a:p>
          <a:p>
            <a:pPr marL="342900" indent="-342900">
              <a:buFont typeface="Arial" panose="020B0604020202020204" pitchFamily="34" charset="0"/>
              <a:buChar char="•"/>
            </a:pPr>
            <a:r>
              <a:rPr lang="en-IN" sz="2000" dirty="0"/>
              <a:t>Odoo </a:t>
            </a:r>
          </a:p>
          <a:p>
            <a:pPr marL="342900" indent="-342900">
              <a:buFont typeface="Arial" panose="020B0604020202020204" pitchFamily="34" charset="0"/>
              <a:buChar char="•"/>
            </a:pPr>
            <a:r>
              <a:rPr lang="en-IN" sz="2000" dirty="0"/>
              <a:t>NetSuite</a:t>
            </a:r>
          </a:p>
          <a:p>
            <a:endParaRPr lang="en-IN" dirty="0"/>
          </a:p>
        </p:txBody>
      </p:sp>
    </p:spTree>
    <p:extLst>
      <p:ext uri="{BB962C8B-B14F-4D97-AF65-F5344CB8AC3E}">
        <p14:creationId xmlns:p14="http://schemas.microsoft.com/office/powerpoint/2010/main" val="1094611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86DC2-9933-CAA6-926D-8D4CC116DEF2}"/>
              </a:ext>
            </a:extLst>
          </p:cNvPr>
          <p:cNvSpPr>
            <a:spLocks noGrp="1"/>
          </p:cNvSpPr>
          <p:nvPr>
            <p:ph type="title"/>
          </p:nvPr>
        </p:nvSpPr>
        <p:spPr/>
        <p:txBody>
          <a:bodyPr>
            <a:normAutofit fontScale="90000"/>
          </a:bodyPr>
          <a:lstStyle/>
          <a:p>
            <a:pPr algn="l"/>
            <a:r>
              <a:rPr lang="en-IN" sz="3100" b="1" u="sng" dirty="0"/>
              <a:t>Customer Relationship Management (CRM)</a:t>
            </a:r>
            <a:br>
              <a:rPr lang="en-IN" sz="3100" b="1" u="sng" dirty="0"/>
            </a:br>
            <a:br>
              <a:rPr lang="en-IN" sz="3100" b="1" u="sng" dirty="0"/>
            </a:br>
            <a:r>
              <a:rPr lang="en-IN" sz="1800" b="1" dirty="0"/>
              <a:t>CRM (Customer Relationship Management)</a:t>
            </a:r>
            <a:r>
              <a:rPr lang="en-IN" sz="1800" dirty="0"/>
              <a:t> is software that helps organizations manage customer interactions and improve relationships.</a:t>
            </a:r>
            <a:br>
              <a:rPr lang="en-IN" sz="1800" dirty="0"/>
            </a:br>
            <a:endParaRPr lang="en-IN" sz="1800" dirty="0"/>
          </a:p>
        </p:txBody>
      </p:sp>
      <p:sp>
        <p:nvSpPr>
          <p:cNvPr id="3" name="Text Placeholder 2">
            <a:extLst>
              <a:ext uri="{FF2B5EF4-FFF2-40B4-BE49-F238E27FC236}">
                <a16:creationId xmlns:a16="http://schemas.microsoft.com/office/drawing/2014/main" id="{FE2A241C-4FBF-8CA9-EC38-FADF843BCF55}"/>
              </a:ext>
            </a:extLst>
          </p:cNvPr>
          <p:cNvSpPr>
            <a:spLocks noGrp="1"/>
          </p:cNvSpPr>
          <p:nvPr>
            <p:ph type="body" idx="1"/>
          </p:nvPr>
        </p:nvSpPr>
        <p:spPr>
          <a:xfrm>
            <a:off x="685800" y="2202080"/>
            <a:ext cx="3456432" cy="922120"/>
          </a:xfrm>
        </p:spPr>
        <p:txBody>
          <a:bodyPr/>
          <a:lstStyle/>
          <a:p>
            <a:r>
              <a:rPr lang="en-IN" sz="3200" b="1" u="sng" dirty="0"/>
              <a:t>Functions</a:t>
            </a:r>
          </a:p>
          <a:p>
            <a:endParaRPr lang="en-IN" dirty="0"/>
          </a:p>
        </p:txBody>
      </p:sp>
      <p:sp>
        <p:nvSpPr>
          <p:cNvPr id="4" name="Text Placeholder 3">
            <a:extLst>
              <a:ext uri="{FF2B5EF4-FFF2-40B4-BE49-F238E27FC236}">
                <a16:creationId xmlns:a16="http://schemas.microsoft.com/office/drawing/2014/main" id="{835AD96A-089D-8CF2-7678-1E99B51E3DC0}"/>
              </a:ext>
            </a:extLst>
          </p:cNvPr>
          <p:cNvSpPr>
            <a:spLocks noGrp="1"/>
          </p:cNvSpPr>
          <p:nvPr>
            <p:ph type="body" sz="half" idx="15"/>
          </p:nvPr>
        </p:nvSpPr>
        <p:spPr/>
        <p:txBody>
          <a:bodyPr/>
          <a:lstStyle/>
          <a:p>
            <a:pPr marL="285750" indent="-285750">
              <a:buFont typeface="Wingdings" panose="05000000000000000000" pitchFamily="2" charset="2"/>
              <a:buChar char="§"/>
            </a:pPr>
            <a:r>
              <a:rPr lang="en-IN" sz="2000" dirty="0"/>
              <a:t>Customer database management </a:t>
            </a:r>
          </a:p>
          <a:p>
            <a:pPr marL="285750" indent="-285750">
              <a:buFont typeface="Wingdings" panose="05000000000000000000" pitchFamily="2" charset="2"/>
              <a:buChar char="§"/>
            </a:pPr>
            <a:r>
              <a:rPr lang="en-IN" sz="2000" dirty="0"/>
              <a:t>Sales tracking </a:t>
            </a:r>
          </a:p>
          <a:p>
            <a:pPr marL="285750" indent="-285750">
              <a:buFont typeface="Wingdings" panose="05000000000000000000" pitchFamily="2" charset="2"/>
              <a:buChar char="§"/>
            </a:pPr>
            <a:r>
              <a:rPr lang="en-IN" sz="2000" dirty="0"/>
              <a:t>Marketing automation </a:t>
            </a:r>
          </a:p>
          <a:p>
            <a:pPr marL="285750" indent="-285750">
              <a:buFont typeface="Wingdings" panose="05000000000000000000" pitchFamily="2" charset="2"/>
              <a:buChar char="§"/>
            </a:pPr>
            <a:r>
              <a:rPr lang="en-IN" sz="2000" dirty="0"/>
              <a:t>Customer support </a:t>
            </a:r>
          </a:p>
          <a:p>
            <a:pPr marL="285750" indent="-285750">
              <a:buFont typeface="Wingdings" panose="05000000000000000000" pitchFamily="2" charset="2"/>
              <a:buChar char="§"/>
            </a:pPr>
            <a:r>
              <a:rPr lang="en-IN" sz="2000" dirty="0"/>
              <a:t>Lead management </a:t>
            </a:r>
          </a:p>
          <a:p>
            <a:pPr marL="285750" indent="-285750">
              <a:buFont typeface="Wingdings" panose="05000000000000000000" pitchFamily="2" charset="2"/>
              <a:buChar char="§"/>
            </a:pPr>
            <a:r>
              <a:rPr lang="en-IN" sz="2000" dirty="0"/>
              <a:t>Customer analytics</a:t>
            </a:r>
          </a:p>
          <a:p>
            <a:endParaRPr lang="en-IN" dirty="0"/>
          </a:p>
        </p:txBody>
      </p:sp>
      <p:sp>
        <p:nvSpPr>
          <p:cNvPr id="5" name="Text Placeholder 4">
            <a:extLst>
              <a:ext uri="{FF2B5EF4-FFF2-40B4-BE49-F238E27FC236}">
                <a16:creationId xmlns:a16="http://schemas.microsoft.com/office/drawing/2014/main" id="{E932A3C7-E70F-2D29-E014-D8C5180EA73C}"/>
              </a:ext>
            </a:extLst>
          </p:cNvPr>
          <p:cNvSpPr>
            <a:spLocks noGrp="1"/>
          </p:cNvSpPr>
          <p:nvPr>
            <p:ph type="body" sz="quarter" idx="3"/>
          </p:nvPr>
        </p:nvSpPr>
        <p:spPr>
          <a:xfrm>
            <a:off x="4368800" y="2201333"/>
            <a:ext cx="3456432" cy="922120"/>
          </a:xfrm>
        </p:spPr>
        <p:txBody>
          <a:bodyPr/>
          <a:lstStyle/>
          <a:p>
            <a:r>
              <a:rPr lang="en-IN" sz="2800" b="1" u="sng" dirty="0"/>
              <a:t>Benefits</a:t>
            </a:r>
          </a:p>
          <a:p>
            <a:endParaRPr lang="en-IN" dirty="0"/>
          </a:p>
        </p:txBody>
      </p:sp>
      <p:sp>
        <p:nvSpPr>
          <p:cNvPr id="6" name="Text Placeholder 5">
            <a:extLst>
              <a:ext uri="{FF2B5EF4-FFF2-40B4-BE49-F238E27FC236}">
                <a16:creationId xmlns:a16="http://schemas.microsoft.com/office/drawing/2014/main" id="{5040C62D-CF26-BFF3-2801-14F49A73C8B1}"/>
              </a:ext>
            </a:extLst>
          </p:cNvPr>
          <p:cNvSpPr>
            <a:spLocks noGrp="1"/>
          </p:cNvSpPr>
          <p:nvPr>
            <p:ph type="body" sz="half" idx="16"/>
          </p:nvPr>
        </p:nvSpPr>
        <p:spPr/>
        <p:txBody>
          <a:bodyPr>
            <a:normAutofit/>
          </a:bodyPr>
          <a:lstStyle/>
          <a:p>
            <a:pPr marL="342900" indent="-342900">
              <a:buFont typeface="Arial" panose="020B0604020202020204" pitchFamily="34" charset="0"/>
              <a:buChar char="•"/>
            </a:pPr>
            <a:r>
              <a:rPr lang="en-IN" sz="2000" dirty="0"/>
              <a:t>Better customer satisfaction </a:t>
            </a:r>
          </a:p>
          <a:p>
            <a:pPr marL="342900" indent="-342900">
              <a:buFont typeface="Arial" panose="020B0604020202020204" pitchFamily="34" charset="0"/>
              <a:buChar char="•"/>
            </a:pPr>
            <a:r>
              <a:rPr lang="en-IN" sz="2000" dirty="0"/>
              <a:t>Increased sales </a:t>
            </a:r>
          </a:p>
          <a:p>
            <a:pPr marL="342900" indent="-342900">
              <a:buFont typeface="Arial" panose="020B0604020202020204" pitchFamily="34" charset="0"/>
              <a:buChar char="•"/>
            </a:pPr>
            <a:r>
              <a:rPr lang="en-IN" sz="2000" dirty="0"/>
              <a:t>Improved communication </a:t>
            </a:r>
          </a:p>
          <a:p>
            <a:pPr marL="342900" indent="-342900">
              <a:buFont typeface="Arial" panose="020B0604020202020204" pitchFamily="34" charset="0"/>
              <a:buChar char="•"/>
            </a:pPr>
            <a:r>
              <a:rPr lang="en-IN" sz="2000" dirty="0"/>
              <a:t>Personalized services </a:t>
            </a:r>
          </a:p>
          <a:p>
            <a:pPr marL="342900" indent="-342900">
              <a:buFont typeface="Arial" panose="020B0604020202020204" pitchFamily="34" charset="0"/>
              <a:buChar char="•"/>
            </a:pPr>
            <a:r>
              <a:rPr lang="en-IN" sz="2000" dirty="0"/>
              <a:t>Stronger customer retention </a:t>
            </a:r>
          </a:p>
          <a:p>
            <a:endParaRPr lang="en-IN" dirty="0"/>
          </a:p>
        </p:txBody>
      </p:sp>
      <p:sp>
        <p:nvSpPr>
          <p:cNvPr id="7" name="Text Placeholder 6">
            <a:extLst>
              <a:ext uri="{FF2B5EF4-FFF2-40B4-BE49-F238E27FC236}">
                <a16:creationId xmlns:a16="http://schemas.microsoft.com/office/drawing/2014/main" id="{D988916D-298F-F30D-DDEE-D8219C919020}"/>
              </a:ext>
            </a:extLst>
          </p:cNvPr>
          <p:cNvSpPr>
            <a:spLocks noGrp="1"/>
          </p:cNvSpPr>
          <p:nvPr>
            <p:ph type="body" sz="quarter" idx="13"/>
          </p:nvPr>
        </p:nvSpPr>
        <p:spPr>
          <a:xfrm>
            <a:off x="8051800" y="2065865"/>
            <a:ext cx="3456432" cy="838201"/>
          </a:xfrm>
        </p:spPr>
        <p:txBody>
          <a:bodyPr/>
          <a:lstStyle/>
          <a:p>
            <a:r>
              <a:rPr lang="en-IN" sz="2800" b="1" u="sng" dirty="0"/>
              <a:t>Popular CRM Software</a:t>
            </a:r>
            <a:endParaRPr lang="en-IN" sz="2800" u="sng" dirty="0"/>
          </a:p>
        </p:txBody>
      </p:sp>
      <p:sp>
        <p:nvSpPr>
          <p:cNvPr id="8" name="Text Placeholder 7">
            <a:extLst>
              <a:ext uri="{FF2B5EF4-FFF2-40B4-BE49-F238E27FC236}">
                <a16:creationId xmlns:a16="http://schemas.microsoft.com/office/drawing/2014/main" id="{77B3F277-D29A-4379-9D2A-5E840F679143}"/>
              </a:ext>
            </a:extLst>
          </p:cNvPr>
          <p:cNvSpPr>
            <a:spLocks noGrp="1"/>
          </p:cNvSpPr>
          <p:nvPr>
            <p:ph type="body" sz="half" idx="17"/>
          </p:nvPr>
        </p:nvSpPr>
        <p:spPr/>
        <p:txBody>
          <a:bodyPr/>
          <a:lstStyle/>
          <a:p>
            <a:endParaRPr lang="en-IN" b="1" dirty="0"/>
          </a:p>
          <a:p>
            <a:pPr marL="342900" indent="-342900">
              <a:buFont typeface="Arial" panose="020B0604020202020204" pitchFamily="34" charset="0"/>
              <a:buChar char="•"/>
            </a:pPr>
            <a:r>
              <a:rPr lang="en-IN" sz="2000" dirty="0"/>
              <a:t>Salesforce </a:t>
            </a:r>
          </a:p>
          <a:p>
            <a:pPr marL="342900" indent="-342900">
              <a:buFont typeface="Arial" panose="020B0604020202020204" pitchFamily="34" charset="0"/>
              <a:buChar char="•"/>
            </a:pPr>
            <a:r>
              <a:rPr lang="en-IN" sz="2000" dirty="0"/>
              <a:t>HubSpot CRM </a:t>
            </a:r>
          </a:p>
          <a:p>
            <a:pPr marL="342900" indent="-342900">
              <a:buFont typeface="Arial" panose="020B0604020202020204" pitchFamily="34" charset="0"/>
              <a:buChar char="•"/>
            </a:pPr>
            <a:r>
              <a:rPr lang="en-IN" sz="2000" dirty="0"/>
              <a:t>Zoho CRM </a:t>
            </a:r>
          </a:p>
          <a:p>
            <a:pPr marL="342900" indent="-342900">
              <a:buFont typeface="Arial" panose="020B0604020202020204" pitchFamily="34" charset="0"/>
              <a:buChar char="•"/>
            </a:pPr>
            <a:r>
              <a:rPr lang="en-IN" sz="2000" dirty="0"/>
              <a:t>Microsoft Dynamics CRM </a:t>
            </a:r>
          </a:p>
          <a:p>
            <a:pPr marL="342900" indent="-342900">
              <a:buFont typeface="Arial" panose="020B0604020202020204" pitchFamily="34" charset="0"/>
              <a:buChar char="•"/>
            </a:pPr>
            <a:r>
              <a:rPr lang="en-IN" sz="2000" dirty="0"/>
              <a:t>Fresh sales</a:t>
            </a:r>
          </a:p>
          <a:p>
            <a:endParaRPr lang="en-IN" dirty="0"/>
          </a:p>
        </p:txBody>
      </p:sp>
    </p:spTree>
    <p:extLst>
      <p:ext uri="{BB962C8B-B14F-4D97-AF65-F5344CB8AC3E}">
        <p14:creationId xmlns:p14="http://schemas.microsoft.com/office/powerpoint/2010/main" val="2681469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8CDA-9C90-E7F4-55D1-4EA8EEC10105}"/>
              </a:ext>
            </a:extLst>
          </p:cNvPr>
          <p:cNvSpPr>
            <a:spLocks noGrp="1"/>
          </p:cNvSpPr>
          <p:nvPr>
            <p:ph type="title"/>
          </p:nvPr>
        </p:nvSpPr>
        <p:spPr/>
        <p:txBody>
          <a:bodyPr>
            <a:normAutofit/>
          </a:bodyPr>
          <a:lstStyle/>
          <a:p>
            <a:pPr algn="l"/>
            <a:r>
              <a:rPr lang="en-IN" sz="3600" b="1" u="sng" dirty="0"/>
              <a:t>Difference Between ERP and CRM</a:t>
            </a:r>
          </a:p>
        </p:txBody>
      </p:sp>
      <p:pic>
        <p:nvPicPr>
          <p:cNvPr id="6" name="Picture 5">
            <a:extLst>
              <a:ext uri="{FF2B5EF4-FFF2-40B4-BE49-F238E27FC236}">
                <a16:creationId xmlns:a16="http://schemas.microsoft.com/office/drawing/2014/main" id="{D80EBA8F-C054-8FBB-07FB-2DFABDFD7C39}"/>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2288903" y="1866007"/>
            <a:ext cx="9088409" cy="3870764"/>
          </a:xfrm>
          <a:prstGeom prst="rect">
            <a:avLst/>
          </a:prstGeom>
        </p:spPr>
      </p:pic>
    </p:spTree>
    <p:extLst>
      <p:ext uri="{BB962C8B-B14F-4D97-AF65-F5344CB8AC3E}">
        <p14:creationId xmlns:p14="http://schemas.microsoft.com/office/powerpoint/2010/main" val="25145384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CCD2-B70C-BB98-BF63-71D7EC377758}"/>
              </a:ext>
            </a:extLst>
          </p:cNvPr>
          <p:cNvSpPr>
            <a:spLocks noGrp="1"/>
          </p:cNvSpPr>
          <p:nvPr>
            <p:ph type="title"/>
          </p:nvPr>
        </p:nvSpPr>
        <p:spPr>
          <a:xfrm>
            <a:off x="685800" y="753533"/>
            <a:ext cx="10820399" cy="759581"/>
          </a:xfrm>
        </p:spPr>
        <p:txBody>
          <a:bodyPr>
            <a:normAutofit fontScale="90000"/>
          </a:bodyPr>
          <a:lstStyle/>
          <a:p>
            <a:r>
              <a:rPr lang="en-IN" b="1" u="sng" dirty="0"/>
              <a:t>Other Business Systems</a:t>
            </a:r>
            <a:br>
              <a:rPr lang="en-IN" b="1" dirty="0"/>
            </a:br>
            <a:endParaRPr lang="en-IN" dirty="0"/>
          </a:p>
        </p:txBody>
      </p:sp>
      <p:sp>
        <p:nvSpPr>
          <p:cNvPr id="3" name="Text Placeholder 2">
            <a:extLst>
              <a:ext uri="{FF2B5EF4-FFF2-40B4-BE49-F238E27FC236}">
                <a16:creationId xmlns:a16="http://schemas.microsoft.com/office/drawing/2014/main" id="{29F585DE-FAA4-D693-68E6-D5A14A52FDC2}"/>
              </a:ext>
            </a:extLst>
          </p:cNvPr>
          <p:cNvSpPr>
            <a:spLocks noGrp="1"/>
          </p:cNvSpPr>
          <p:nvPr>
            <p:ph type="body" idx="1"/>
          </p:nvPr>
        </p:nvSpPr>
        <p:spPr>
          <a:xfrm>
            <a:off x="1024467" y="1415143"/>
            <a:ext cx="10490200" cy="3701143"/>
          </a:xfrm>
        </p:spPr>
        <p:txBody>
          <a:bodyPr>
            <a:normAutofit fontScale="92500"/>
          </a:bodyPr>
          <a:lstStyle/>
          <a:p>
            <a:pPr marL="457200" indent="-457200" algn="l">
              <a:buFont typeface="Arial" panose="020B0604020202020204" pitchFamily="34" charset="0"/>
              <a:buChar char="•"/>
            </a:pPr>
            <a:r>
              <a:rPr lang="en-IN" sz="2600" b="1" dirty="0"/>
              <a:t>Supply Chain Management (SCM)</a:t>
            </a:r>
          </a:p>
          <a:p>
            <a:pPr algn="l"/>
            <a:r>
              <a:rPr lang="en-IN" dirty="0"/>
              <a:t>                    Manages procurement, production, inventory, and distribution.</a:t>
            </a:r>
          </a:p>
          <a:p>
            <a:pPr marL="457200" indent="-457200" algn="l">
              <a:buFont typeface="Arial" panose="020B0604020202020204" pitchFamily="34" charset="0"/>
              <a:buChar char="•"/>
            </a:pPr>
            <a:r>
              <a:rPr lang="en-IN" sz="2600" b="1" dirty="0"/>
              <a:t>Human Resource Management System (HRMS)</a:t>
            </a:r>
          </a:p>
          <a:p>
            <a:pPr algn="ctr"/>
            <a:r>
              <a:rPr lang="en-IN" dirty="0"/>
              <a:t>            Manages employee records, recruitment, payroll, attendance, and  performance.</a:t>
            </a:r>
          </a:p>
          <a:p>
            <a:pPr marL="457200" indent="-457200" algn="l">
              <a:buFont typeface="Arial" panose="020B0604020202020204" pitchFamily="34" charset="0"/>
              <a:buChar char="•"/>
            </a:pPr>
            <a:r>
              <a:rPr lang="en-IN" sz="2600" b="1" dirty="0"/>
              <a:t>Accounting Information System (AIS)</a:t>
            </a:r>
          </a:p>
          <a:p>
            <a:pPr algn="l"/>
            <a:r>
              <a:rPr lang="en-IN" dirty="0"/>
              <a:t>                    Handles financial transactions, accounting, auditing, and reporting.</a:t>
            </a:r>
          </a:p>
          <a:p>
            <a:pPr marL="457200" indent="-457200" algn="l">
              <a:buFont typeface="Arial" panose="020B0604020202020204" pitchFamily="34" charset="0"/>
              <a:buChar char="•"/>
            </a:pPr>
            <a:r>
              <a:rPr lang="en-IN" sz="2600" b="1" dirty="0"/>
              <a:t>Business Intelligence (BI)</a:t>
            </a:r>
          </a:p>
          <a:p>
            <a:pPr algn="l"/>
            <a:r>
              <a:rPr lang="en-IN" dirty="0"/>
              <a:t>                   </a:t>
            </a:r>
            <a:r>
              <a:rPr lang="en-IN" dirty="0" err="1"/>
              <a:t>Analyzes</a:t>
            </a:r>
            <a:r>
              <a:rPr lang="en-IN" dirty="0"/>
              <a:t> data and generates reports to support business decisions.</a:t>
            </a:r>
          </a:p>
          <a:p>
            <a:endParaRPr lang="en-IN" dirty="0"/>
          </a:p>
        </p:txBody>
      </p:sp>
    </p:spTree>
    <p:extLst>
      <p:ext uri="{BB962C8B-B14F-4D97-AF65-F5344CB8AC3E}">
        <p14:creationId xmlns:p14="http://schemas.microsoft.com/office/powerpoint/2010/main" val="3118380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5C7E81-4BC8-7100-7D68-945CDE439876}"/>
              </a:ext>
            </a:extLst>
          </p:cNvPr>
          <p:cNvSpPr>
            <a:spLocks noGrp="1"/>
          </p:cNvSpPr>
          <p:nvPr>
            <p:ph type="ctrTitle"/>
          </p:nvPr>
        </p:nvSpPr>
        <p:spPr>
          <a:xfrm>
            <a:off x="3744686" y="203205"/>
            <a:ext cx="7913914" cy="1179281"/>
          </a:xfrm>
        </p:spPr>
        <p:txBody>
          <a:bodyPr>
            <a:normAutofit/>
          </a:bodyPr>
          <a:lstStyle/>
          <a:p>
            <a:r>
              <a:rPr lang="en-IN" sz="2400" b="1" u="sng" dirty="0"/>
              <a:t>D. Interplay between IT and Business Strategy</a:t>
            </a:r>
            <a:br>
              <a:rPr lang="en-IN" sz="2400" b="1" u="sng" dirty="0"/>
            </a:br>
            <a:endParaRPr lang="en-IN" sz="2400" u="sng" dirty="0"/>
          </a:p>
        </p:txBody>
      </p:sp>
      <p:sp>
        <p:nvSpPr>
          <p:cNvPr id="4" name="Subtitle 3">
            <a:extLst>
              <a:ext uri="{FF2B5EF4-FFF2-40B4-BE49-F238E27FC236}">
                <a16:creationId xmlns:a16="http://schemas.microsoft.com/office/drawing/2014/main" id="{82655166-D016-9792-565E-3BA2ECDE9264}"/>
              </a:ext>
            </a:extLst>
          </p:cNvPr>
          <p:cNvSpPr>
            <a:spLocks noGrp="1"/>
          </p:cNvSpPr>
          <p:nvPr>
            <p:ph type="subTitle" idx="1"/>
          </p:nvPr>
        </p:nvSpPr>
        <p:spPr>
          <a:xfrm>
            <a:off x="2242457" y="1589314"/>
            <a:ext cx="8523514" cy="3033487"/>
          </a:xfrm>
        </p:spPr>
        <p:txBody>
          <a:bodyPr>
            <a:normAutofit/>
          </a:bodyPr>
          <a:lstStyle/>
          <a:p>
            <a:pPr marL="342900" indent="-342900">
              <a:buFont typeface="Wingdings" panose="05000000000000000000" pitchFamily="2" charset="2"/>
              <a:buChar char="§"/>
            </a:pPr>
            <a:r>
              <a:rPr lang="en-IN" b="1" dirty="0"/>
              <a:t>What is Business Strategy?</a:t>
            </a:r>
          </a:p>
          <a:p>
            <a:r>
              <a:rPr lang="en-IN" dirty="0"/>
              <a:t>A </a:t>
            </a:r>
            <a:r>
              <a:rPr lang="en-IN" b="1" dirty="0"/>
              <a:t>business strategy</a:t>
            </a:r>
            <a:r>
              <a:rPr lang="en-IN" dirty="0"/>
              <a:t> is a long-term plan that helps an organization achieve its goals, gain a competitive advantage, and maximize profitability.</a:t>
            </a:r>
          </a:p>
          <a:p>
            <a:endParaRPr lang="en-IN" dirty="0"/>
          </a:p>
          <a:p>
            <a:r>
              <a:rPr lang="en-IN" dirty="0"/>
              <a:t>IT supports business strategy by providing the tools, technologies, and data needed to execute strategic objectives effectively.</a:t>
            </a:r>
          </a:p>
          <a:p>
            <a:endParaRPr lang="en-IN" dirty="0"/>
          </a:p>
        </p:txBody>
      </p:sp>
    </p:spTree>
    <p:extLst>
      <p:ext uri="{BB962C8B-B14F-4D97-AF65-F5344CB8AC3E}">
        <p14:creationId xmlns:p14="http://schemas.microsoft.com/office/powerpoint/2010/main" val="3352958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B2780-7D40-BEBC-0164-FB881F20823B}"/>
              </a:ext>
            </a:extLst>
          </p:cNvPr>
          <p:cNvSpPr>
            <a:spLocks noGrp="1"/>
          </p:cNvSpPr>
          <p:nvPr>
            <p:ph type="title"/>
          </p:nvPr>
        </p:nvSpPr>
        <p:spPr>
          <a:xfrm>
            <a:off x="2928257" y="762000"/>
            <a:ext cx="8577942" cy="718458"/>
          </a:xfrm>
        </p:spPr>
        <p:txBody>
          <a:bodyPr>
            <a:normAutofit fontScale="90000"/>
          </a:bodyPr>
          <a:lstStyle/>
          <a:p>
            <a:r>
              <a:rPr lang="en-IN" b="1" u="sng" dirty="0"/>
              <a:t>How IT Supports Business Strategy</a:t>
            </a:r>
            <a:br>
              <a:rPr lang="en-IN" b="1" dirty="0"/>
            </a:br>
            <a:endParaRPr lang="en-IN" dirty="0"/>
          </a:p>
        </p:txBody>
      </p:sp>
      <p:sp>
        <p:nvSpPr>
          <p:cNvPr id="3" name="Text Placeholder 2">
            <a:extLst>
              <a:ext uri="{FF2B5EF4-FFF2-40B4-BE49-F238E27FC236}">
                <a16:creationId xmlns:a16="http://schemas.microsoft.com/office/drawing/2014/main" id="{FC5D1208-E812-05D9-7601-34B5EBD7E3D0}"/>
              </a:ext>
            </a:extLst>
          </p:cNvPr>
          <p:cNvSpPr>
            <a:spLocks noGrp="1"/>
          </p:cNvSpPr>
          <p:nvPr>
            <p:ph type="body" idx="1"/>
          </p:nvPr>
        </p:nvSpPr>
        <p:spPr>
          <a:xfrm>
            <a:off x="685799" y="2217803"/>
            <a:ext cx="3456432" cy="1074520"/>
          </a:xfrm>
        </p:spPr>
        <p:txBody>
          <a:bodyPr/>
          <a:lstStyle/>
          <a:p>
            <a:r>
              <a:rPr lang="en-IN" b="1" u="sng" dirty="0"/>
              <a:t>1.Competitive Advantage</a:t>
            </a:r>
          </a:p>
          <a:p>
            <a:endParaRPr lang="en-IN" dirty="0"/>
          </a:p>
        </p:txBody>
      </p:sp>
      <p:sp>
        <p:nvSpPr>
          <p:cNvPr id="4" name="Text Placeholder 3">
            <a:extLst>
              <a:ext uri="{FF2B5EF4-FFF2-40B4-BE49-F238E27FC236}">
                <a16:creationId xmlns:a16="http://schemas.microsoft.com/office/drawing/2014/main" id="{3D60AFA1-6023-254D-450C-5768910042B7}"/>
              </a:ext>
            </a:extLst>
          </p:cNvPr>
          <p:cNvSpPr>
            <a:spLocks noGrp="1"/>
          </p:cNvSpPr>
          <p:nvPr>
            <p:ph type="body" sz="half" idx="15"/>
          </p:nvPr>
        </p:nvSpPr>
        <p:spPr/>
        <p:txBody>
          <a:bodyPr>
            <a:normAutofit/>
          </a:bodyPr>
          <a:lstStyle/>
          <a:p>
            <a:endParaRPr lang="en-IN" b="1" dirty="0"/>
          </a:p>
          <a:p>
            <a:pPr marL="285750" indent="-285750">
              <a:buFont typeface="Arial" panose="020B0604020202020204" pitchFamily="34" charset="0"/>
              <a:buChar char="•"/>
            </a:pPr>
            <a:r>
              <a:rPr lang="en-IN" sz="1800" dirty="0"/>
              <a:t>Improves product quality </a:t>
            </a:r>
          </a:p>
          <a:p>
            <a:pPr marL="285750" indent="-285750">
              <a:buFont typeface="Arial" panose="020B0604020202020204" pitchFamily="34" charset="0"/>
              <a:buChar char="•"/>
            </a:pPr>
            <a:r>
              <a:rPr lang="en-IN" sz="1800" dirty="0"/>
              <a:t>Enhances customer experience </a:t>
            </a:r>
          </a:p>
          <a:p>
            <a:pPr marL="285750" indent="-285750">
              <a:buFont typeface="Arial" panose="020B0604020202020204" pitchFamily="34" charset="0"/>
              <a:buChar char="•"/>
            </a:pPr>
            <a:r>
              <a:rPr lang="en-IN" sz="1800" dirty="0"/>
              <a:t>Enables innovation </a:t>
            </a:r>
          </a:p>
          <a:p>
            <a:pPr marL="285750" indent="-285750">
              <a:buFont typeface="Arial" panose="020B0604020202020204" pitchFamily="34" charset="0"/>
              <a:buChar char="•"/>
            </a:pPr>
            <a:r>
              <a:rPr lang="en-IN" sz="1800" dirty="0"/>
              <a:t>Reduces operational costs </a:t>
            </a:r>
          </a:p>
          <a:p>
            <a:br>
              <a:rPr lang="en-IN" dirty="0"/>
            </a:br>
            <a:endParaRPr lang="en-IN" dirty="0"/>
          </a:p>
          <a:p>
            <a:br>
              <a:rPr lang="en-IN" dirty="0"/>
            </a:br>
            <a:endParaRPr lang="en-IN" dirty="0"/>
          </a:p>
          <a:p>
            <a:endParaRPr lang="en-IN" dirty="0"/>
          </a:p>
        </p:txBody>
      </p:sp>
      <p:sp>
        <p:nvSpPr>
          <p:cNvPr id="5" name="Text Placeholder 4">
            <a:extLst>
              <a:ext uri="{FF2B5EF4-FFF2-40B4-BE49-F238E27FC236}">
                <a16:creationId xmlns:a16="http://schemas.microsoft.com/office/drawing/2014/main" id="{6EEDC8B9-4D40-09AF-DA6F-D4B35FB299A1}"/>
              </a:ext>
            </a:extLst>
          </p:cNvPr>
          <p:cNvSpPr>
            <a:spLocks noGrp="1"/>
          </p:cNvSpPr>
          <p:nvPr>
            <p:ph type="body" sz="quarter" idx="3"/>
          </p:nvPr>
        </p:nvSpPr>
        <p:spPr>
          <a:xfrm>
            <a:off x="4368800" y="2201332"/>
            <a:ext cx="3456432" cy="922867"/>
          </a:xfrm>
        </p:spPr>
        <p:txBody>
          <a:bodyPr/>
          <a:lstStyle/>
          <a:p>
            <a:r>
              <a:rPr lang="en-IN" b="1" u="sng" dirty="0"/>
              <a:t>2.Digital Transformation</a:t>
            </a:r>
          </a:p>
          <a:p>
            <a:endParaRPr lang="en-IN" dirty="0"/>
          </a:p>
        </p:txBody>
      </p:sp>
      <p:sp>
        <p:nvSpPr>
          <p:cNvPr id="6" name="Text Placeholder 5">
            <a:extLst>
              <a:ext uri="{FF2B5EF4-FFF2-40B4-BE49-F238E27FC236}">
                <a16:creationId xmlns:a16="http://schemas.microsoft.com/office/drawing/2014/main" id="{961A2948-C13F-9C29-E487-3168B5139307}"/>
              </a:ext>
            </a:extLst>
          </p:cNvPr>
          <p:cNvSpPr>
            <a:spLocks noGrp="1"/>
          </p:cNvSpPr>
          <p:nvPr>
            <p:ph type="body" sz="half" idx="16"/>
          </p:nvPr>
        </p:nvSpPr>
        <p:spPr>
          <a:xfrm>
            <a:off x="4366858" y="2904067"/>
            <a:ext cx="3456432" cy="3747104"/>
          </a:xfrm>
        </p:spPr>
        <p:txBody>
          <a:bodyPr>
            <a:normAutofit/>
          </a:bodyPr>
          <a:lstStyle/>
          <a:p>
            <a:endParaRPr lang="en-IN" b="1" dirty="0"/>
          </a:p>
          <a:p>
            <a:pPr marL="285750" indent="-285750">
              <a:buFont typeface="Arial" panose="020B0604020202020204" pitchFamily="34" charset="0"/>
              <a:buChar char="•"/>
            </a:pPr>
            <a:r>
              <a:rPr lang="en-IN" sz="1800" dirty="0"/>
              <a:t>IT enables organizations to:</a:t>
            </a:r>
          </a:p>
          <a:p>
            <a:pPr marL="285750" indent="-285750">
              <a:buFont typeface="Arial" panose="020B0604020202020204" pitchFamily="34" charset="0"/>
              <a:buChar char="•"/>
            </a:pPr>
            <a:r>
              <a:rPr lang="en-IN" sz="1800" dirty="0"/>
              <a:t>Adopt cloud computing </a:t>
            </a:r>
          </a:p>
          <a:p>
            <a:pPr marL="285750" indent="-285750">
              <a:buFont typeface="Arial" panose="020B0604020202020204" pitchFamily="34" charset="0"/>
              <a:buChar char="•"/>
            </a:pPr>
            <a:r>
              <a:rPr lang="en-IN" sz="1800" dirty="0"/>
              <a:t>Use artificial intelligence (AI) </a:t>
            </a:r>
          </a:p>
          <a:p>
            <a:pPr marL="285750" indent="-285750">
              <a:buFont typeface="Arial" panose="020B0604020202020204" pitchFamily="34" charset="0"/>
              <a:buChar char="•"/>
            </a:pPr>
            <a:r>
              <a:rPr lang="en-IN" sz="1800" dirty="0"/>
              <a:t>Implement automation </a:t>
            </a:r>
          </a:p>
          <a:p>
            <a:pPr marL="285750" indent="-285750">
              <a:buFont typeface="Arial" panose="020B0604020202020204" pitchFamily="34" charset="0"/>
              <a:buChar char="•"/>
            </a:pPr>
            <a:r>
              <a:rPr lang="en-IN" sz="1800" dirty="0"/>
              <a:t>Support remote work </a:t>
            </a:r>
          </a:p>
          <a:p>
            <a:pPr marL="285750" indent="-285750">
              <a:buFont typeface="Arial" panose="020B0604020202020204" pitchFamily="34" charset="0"/>
              <a:buChar char="•"/>
            </a:pPr>
            <a:r>
              <a:rPr lang="en-IN" sz="1800" dirty="0"/>
              <a:t>Offer digital services </a:t>
            </a:r>
          </a:p>
          <a:p>
            <a:endParaRPr lang="en-IN" dirty="0"/>
          </a:p>
        </p:txBody>
      </p:sp>
      <p:sp>
        <p:nvSpPr>
          <p:cNvPr id="7" name="Text Placeholder 6">
            <a:extLst>
              <a:ext uri="{FF2B5EF4-FFF2-40B4-BE49-F238E27FC236}">
                <a16:creationId xmlns:a16="http://schemas.microsoft.com/office/drawing/2014/main" id="{7BEE6F0E-BD67-B5B3-CF2C-7D66DFBE57BE}"/>
              </a:ext>
            </a:extLst>
          </p:cNvPr>
          <p:cNvSpPr>
            <a:spLocks noGrp="1"/>
          </p:cNvSpPr>
          <p:nvPr>
            <p:ph type="body" sz="quarter" idx="13"/>
          </p:nvPr>
        </p:nvSpPr>
        <p:spPr>
          <a:xfrm>
            <a:off x="8051800" y="2192866"/>
            <a:ext cx="3456432" cy="1083734"/>
          </a:xfrm>
        </p:spPr>
        <p:txBody>
          <a:bodyPr/>
          <a:lstStyle/>
          <a:p>
            <a:r>
              <a:rPr lang="en-IN" b="1" u="sng" dirty="0"/>
              <a:t>3.Data-Driven Decision Making</a:t>
            </a:r>
          </a:p>
          <a:p>
            <a:endParaRPr lang="en-IN" dirty="0"/>
          </a:p>
        </p:txBody>
      </p:sp>
      <p:sp>
        <p:nvSpPr>
          <p:cNvPr id="8" name="Text Placeholder 7">
            <a:extLst>
              <a:ext uri="{FF2B5EF4-FFF2-40B4-BE49-F238E27FC236}">
                <a16:creationId xmlns:a16="http://schemas.microsoft.com/office/drawing/2014/main" id="{B6EFA3AD-6294-AB1C-0E49-DD3BFD45673D}"/>
              </a:ext>
            </a:extLst>
          </p:cNvPr>
          <p:cNvSpPr>
            <a:spLocks noGrp="1"/>
          </p:cNvSpPr>
          <p:nvPr>
            <p:ph type="body" sz="half" idx="17"/>
          </p:nvPr>
        </p:nvSpPr>
        <p:spPr/>
        <p:txBody>
          <a:bodyPr>
            <a:noAutofit/>
          </a:bodyPr>
          <a:lstStyle/>
          <a:p>
            <a:endParaRPr lang="en-IN" b="1" dirty="0"/>
          </a:p>
          <a:p>
            <a:pPr marL="285750" indent="-285750">
              <a:buFont typeface="Arial" panose="020B0604020202020204" pitchFamily="34" charset="0"/>
              <a:buChar char="•"/>
            </a:pPr>
            <a:r>
              <a:rPr lang="en-IN" dirty="0"/>
              <a:t>Organizations use:</a:t>
            </a:r>
          </a:p>
          <a:p>
            <a:pPr marL="285750" indent="-285750">
              <a:buFont typeface="Arial" panose="020B0604020202020204" pitchFamily="34" charset="0"/>
              <a:buChar char="•"/>
            </a:pPr>
            <a:r>
              <a:rPr lang="en-IN" dirty="0"/>
              <a:t>Business Intelligence (BI) </a:t>
            </a:r>
          </a:p>
          <a:p>
            <a:pPr marL="285750" indent="-285750">
              <a:buFont typeface="Arial" panose="020B0604020202020204" pitchFamily="34" charset="0"/>
              <a:buChar char="•"/>
            </a:pPr>
            <a:r>
              <a:rPr lang="en-IN" dirty="0"/>
              <a:t>Data Analytics </a:t>
            </a:r>
          </a:p>
          <a:p>
            <a:pPr marL="285750" indent="-285750">
              <a:buFont typeface="Arial" panose="020B0604020202020204" pitchFamily="34" charset="0"/>
              <a:buChar char="•"/>
            </a:pPr>
            <a:r>
              <a:rPr lang="en-IN" dirty="0"/>
              <a:t>Dashboards </a:t>
            </a:r>
          </a:p>
          <a:p>
            <a:pPr marL="285750" indent="-285750">
              <a:buFont typeface="Arial" panose="020B0604020202020204" pitchFamily="34" charset="0"/>
              <a:buChar char="•"/>
            </a:pPr>
            <a:r>
              <a:rPr lang="en-IN" dirty="0"/>
              <a:t>Predictive Analytics </a:t>
            </a:r>
          </a:p>
          <a:p>
            <a:endParaRPr lang="en-IN" dirty="0"/>
          </a:p>
          <a:p>
            <a:r>
              <a:rPr lang="en-IN" b="1" dirty="0"/>
              <a:t>Benefits:</a:t>
            </a:r>
          </a:p>
          <a:p>
            <a:pPr marL="285750" indent="-285750">
              <a:buFont typeface="Arial" panose="020B0604020202020204" pitchFamily="34" charset="0"/>
              <a:buChar char="•"/>
            </a:pPr>
            <a:r>
              <a:rPr lang="en-IN" dirty="0"/>
              <a:t>Better planning </a:t>
            </a:r>
          </a:p>
          <a:p>
            <a:pPr marL="285750" indent="-285750">
              <a:buFont typeface="Arial" panose="020B0604020202020204" pitchFamily="34" charset="0"/>
              <a:buChar char="•"/>
            </a:pPr>
            <a:r>
              <a:rPr lang="en-IN" dirty="0"/>
              <a:t>Improved forecasting </a:t>
            </a:r>
          </a:p>
          <a:p>
            <a:pPr marL="285750" indent="-285750">
              <a:buFont typeface="Arial" panose="020B0604020202020204" pitchFamily="34" charset="0"/>
              <a:buChar char="•"/>
            </a:pPr>
            <a:r>
              <a:rPr lang="en-IN" dirty="0"/>
              <a:t>Faster decisions</a:t>
            </a:r>
          </a:p>
          <a:p>
            <a:endParaRPr lang="en-IN" dirty="0"/>
          </a:p>
        </p:txBody>
      </p:sp>
    </p:spTree>
    <p:extLst>
      <p:ext uri="{BB962C8B-B14F-4D97-AF65-F5344CB8AC3E}">
        <p14:creationId xmlns:p14="http://schemas.microsoft.com/office/powerpoint/2010/main" val="2411611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A5B4-A646-6517-2249-B05B0FDB3967}"/>
              </a:ext>
            </a:extLst>
          </p:cNvPr>
          <p:cNvSpPr>
            <a:spLocks noGrp="1"/>
          </p:cNvSpPr>
          <p:nvPr>
            <p:ph type="title"/>
          </p:nvPr>
        </p:nvSpPr>
        <p:spPr>
          <a:xfrm>
            <a:off x="2068286" y="370115"/>
            <a:ext cx="8763000" cy="1317171"/>
          </a:xfrm>
        </p:spPr>
        <p:txBody>
          <a:bodyPr>
            <a:normAutofit/>
          </a:bodyPr>
          <a:lstStyle/>
          <a:p>
            <a:r>
              <a:rPr lang="en-IN" sz="3200" b="1" u="sng" dirty="0"/>
              <a:t>How IT Supports Business Strategy</a:t>
            </a:r>
            <a:endParaRPr lang="en-IN" sz="3200" dirty="0"/>
          </a:p>
        </p:txBody>
      </p:sp>
      <p:sp>
        <p:nvSpPr>
          <p:cNvPr id="3" name="Text Placeholder 2">
            <a:extLst>
              <a:ext uri="{FF2B5EF4-FFF2-40B4-BE49-F238E27FC236}">
                <a16:creationId xmlns:a16="http://schemas.microsoft.com/office/drawing/2014/main" id="{D821A5A2-389E-F7F5-D11D-692A5AD94EB8}"/>
              </a:ext>
            </a:extLst>
          </p:cNvPr>
          <p:cNvSpPr>
            <a:spLocks noGrp="1"/>
          </p:cNvSpPr>
          <p:nvPr>
            <p:ph type="body" idx="1"/>
          </p:nvPr>
        </p:nvSpPr>
        <p:spPr>
          <a:xfrm>
            <a:off x="685800" y="2202079"/>
            <a:ext cx="3456432" cy="867691"/>
          </a:xfrm>
        </p:spPr>
        <p:txBody>
          <a:bodyPr/>
          <a:lstStyle/>
          <a:p>
            <a:r>
              <a:rPr lang="en-IN" b="1" dirty="0"/>
              <a:t>4. </a:t>
            </a:r>
            <a:r>
              <a:rPr lang="en-IN" b="1" u="sng" dirty="0"/>
              <a:t>Innovation</a:t>
            </a:r>
          </a:p>
          <a:p>
            <a:endParaRPr lang="en-IN" dirty="0"/>
          </a:p>
        </p:txBody>
      </p:sp>
      <p:sp>
        <p:nvSpPr>
          <p:cNvPr id="4" name="Text Placeholder 3">
            <a:extLst>
              <a:ext uri="{FF2B5EF4-FFF2-40B4-BE49-F238E27FC236}">
                <a16:creationId xmlns:a16="http://schemas.microsoft.com/office/drawing/2014/main" id="{687355E5-71AC-DF2B-7397-76AE1B99F466}"/>
              </a:ext>
            </a:extLst>
          </p:cNvPr>
          <p:cNvSpPr>
            <a:spLocks noGrp="1"/>
          </p:cNvSpPr>
          <p:nvPr>
            <p:ph type="body" sz="half" idx="15"/>
          </p:nvPr>
        </p:nvSpPr>
        <p:spPr>
          <a:xfrm>
            <a:off x="685799" y="3178617"/>
            <a:ext cx="3456432" cy="3040080"/>
          </a:xfrm>
        </p:spPr>
        <p:txBody>
          <a:bodyPr>
            <a:noAutofit/>
          </a:bodyPr>
          <a:lstStyle/>
          <a:p>
            <a:r>
              <a:rPr lang="en-IN" sz="1800" dirty="0"/>
              <a:t>IT enables:</a:t>
            </a:r>
          </a:p>
          <a:p>
            <a:pPr marL="285750" indent="-285750">
              <a:buFont typeface="Arial" panose="020B0604020202020204" pitchFamily="34" charset="0"/>
              <a:buChar char="•"/>
            </a:pPr>
            <a:r>
              <a:rPr lang="en-IN" sz="1800" dirty="0"/>
              <a:t>Online business models </a:t>
            </a:r>
          </a:p>
          <a:p>
            <a:pPr marL="285750" indent="-285750">
              <a:buFont typeface="Arial" panose="020B0604020202020204" pitchFamily="34" charset="0"/>
              <a:buChar char="•"/>
            </a:pPr>
            <a:r>
              <a:rPr lang="en-IN" sz="1800" dirty="0"/>
              <a:t>Mobile applications </a:t>
            </a:r>
          </a:p>
          <a:p>
            <a:pPr marL="285750" indent="-285750">
              <a:buFont typeface="Arial" panose="020B0604020202020204" pitchFamily="34" charset="0"/>
              <a:buChar char="•"/>
            </a:pPr>
            <a:r>
              <a:rPr lang="en-IN" sz="1800" dirty="0"/>
              <a:t>E-commerce </a:t>
            </a:r>
          </a:p>
          <a:p>
            <a:pPr marL="285750" indent="-285750">
              <a:buFont typeface="Arial" panose="020B0604020202020204" pitchFamily="34" charset="0"/>
              <a:buChar char="•"/>
            </a:pPr>
            <a:r>
              <a:rPr lang="en-IN" sz="1800" dirty="0"/>
              <a:t>Smart manufacturing </a:t>
            </a:r>
          </a:p>
          <a:p>
            <a:pPr marL="285750" indent="-285750">
              <a:buFont typeface="Arial" panose="020B0604020202020204" pitchFamily="34" charset="0"/>
              <a:buChar char="•"/>
            </a:pPr>
            <a:r>
              <a:rPr lang="en-IN" sz="1800" dirty="0"/>
              <a:t>Internet of Things (IoT) </a:t>
            </a:r>
          </a:p>
          <a:p>
            <a:br>
              <a:rPr lang="en-IN" sz="1800" dirty="0"/>
            </a:br>
            <a:endParaRPr lang="en-IN" sz="1800" dirty="0"/>
          </a:p>
          <a:p>
            <a:br>
              <a:rPr lang="en-IN" sz="1800" dirty="0"/>
            </a:br>
            <a:endParaRPr lang="en-IN" sz="1800" dirty="0"/>
          </a:p>
          <a:p>
            <a:endParaRPr lang="en-IN" sz="1800" dirty="0"/>
          </a:p>
        </p:txBody>
      </p:sp>
      <p:sp>
        <p:nvSpPr>
          <p:cNvPr id="5" name="Text Placeholder 4">
            <a:extLst>
              <a:ext uri="{FF2B5EF4-FFF2-40B4-BE49-F238E27FC236}">
                <a16:creationId xmlns:a16="http://schemas.microsoft.com/office/drawing/2014/main" id="{34EEDEAB-2586-8CB3-DD3B-4D2336E5ADF6}"/>
              </a:ext>
            </a:extLst>
          </p:cNvPr>
          <p:cNvSpPr>
            <a:spLocks noGrp="1"/>
          </p:cNvSpPr>
          <p:nvPr>
            <p:ph type="body" sz="quarter" idx="3"/>
          </p:nvPr>
        </p:nvSpPr>
        <p:spPr>
          <a:xfrm>
            <a:off x="4368800" y="2201332"/>
            <a:ext cx="3456432" cy="867691"/>
          </a:xfrm>
        </p:spPr>
        <p:txBody>
          <a:bodyPr/>
          <a:lstStyle/>
          <a:p>
            <a:r>
              <a:rPr lang="en-IN" b="1" dirty="0"/>
              <a:t>5. </a:t>
            </a:r>
            <a:r>
              <a:rPr lang="en-IN" b="1" u="sng" dirty="0"/>
              <a:t>Risk Management</a:t>
            </a:r>
          </a:p>
          <a:p>
            <a:endParaRPr lang="en-IN" dirty="0"/>
          </a:p>
        </p:txBody>
      </p:sp>
      <p:sp>
        <p:nvSpPr>
          <p:cNvPr id="6" name="Text Placeholder 5">
            <a:extLst>
              <a:ext uri="{FF2B5EF4-FFF2-40B4-BE49-F238E27FC236}">
                <a16:creationId xmlns:a16="http://schemas.microsoft.com/office/drawing/2014/main" id="{3EB01089-D6CB-8BAD-4F9A-8F5F8FA19839}"/>
              </a:ext>
            </a:extLst>
          </p:cNvPr>
          <p:cNvSpPr>
            <a:spLocks noGrp="1"/>
          </p:cNvSpPr>
          <p:nvPr>
            <p:ph type="body" sz="half" idx="16"/>
          </p:nvPr>
        </p:nvSpPr>
        <p:spPr>
          <a:xfrm>
            <a:off x="4366858" y="3178617"/>
            <a:ext cx="3456432" cy="3040068"/>
          </a:xfrm>
        </p:spPr>
        <p:txBody>
          <a:bodyPr>
            <a:normAutofit/>
          </a:bodyPr>
          <a:lstStyle/>
          <a:p>
            <a:r>
              <a:rPr lang="en-IN" sz="1800" dirty="0"/>
              <a:t>IT helps organizations:</a:t>
            </a:r>
          </a:p>
          <a:p>
            <a:pPr marL="285750" indent="-285750">
              <a:buFont typeface="Arial" panose="020B0604020202020204" pitchFamily="34" charset="0"/>
              <a:buChar char="•"/>
            </a:pPr>
            <a:r>
              <a:rPr lang="en-IN" sz="1800" dirty="0"/>
              <a:t>Detect cyber threats </a:t>
            </a:r>
          </a:p>
          <a:p>
            <a:pPr marL="285750" indent="-285750">
              <a:buFont typeface="Arial" panose="020B0604020202020204" pitchFamily="34" charset="0"/>
              <a:buChar char="•"/>
            </a:pPr>
            <a:r>
              <a:rPr lang="en-IN" sz="1800" dirty="0"/>
              <a:t>Recover from disasters </a:t>
            </a:r>
          </a:p>
          <a:p>
            <a:pPr marL="285750" indent="-285750">
              <a:buFont typeface="Arial" panose="020B0604020202020204" pitchFamily="34" charset="0"/>
              <a:buChar char="•"/>
            </a:pPr>
            <a:r>
              <a:rPr lang="en-IN" sz="1800" dirty="0"/>
              <a:t>Ensure data backups </a:t>
            </a:r>
          </a:p>
          <a:p>
            <a:pPr marL="285750" indent="-285750">
              <a:buFont typeface="Arial" panose="020B0604020202020204" pitchFamily="34" charset="0"/>
              <a:buChar char="•"/>
            </a:pPr>
            <a:r>
              <a:rPr lang="en-IN" sz="1800" dirty="0"/>
              <a:t>Meet compliance requirements </a:t>
            </a:r>
          </a:p>
          <a:p>
            <a:endParaRPr lang="en-IN" sz="1800" dirty="0"/>
          </a:p>
        </p:txBody>
      </p:sp>
      <p:sp>
        <p:nvSpPr>
          <p:cNvPr id="7" name="Text Placeholder 6">
            <a:extLst>
              <a:ext uri="{FF2B5EF4-FFF2-40B4-BE49-F238E27FC236}">
                <a16:creationId xmlns:a16="http://schemas.microsoft.com/office/drawing/2014/main" id="{594ED453-83C3-BD50-79D2-6BF7ACBA7440}"/>
              </a:ext>
            </a:extLst>
          </p:cNvPr>
          <p:cNvSpPr>
            <a:spLocks noGrp="1"/>
          </p:cNvSpPr>
          <p:nvPr>
            <p:ph type="body" sz="quarter" idx="13"/>
          </p:nvPr>
        </p:nvSpPr>
        <p:spPr>
          <a:xfrm>
            <a:off x="8051800" y="2192866"/>
            <a:ext cx="3456432" cy="1149048"/>
          </a:xfrm>
        </p:spPr>
        <p:txBody>
          <a:bodyPr/>
          <a:lstStyle/>
          <a:p>
            <a:r>
              <a:rPr lang="en-IN" b="1" dirty="0"/>
              <a:t>6. </a:t>
            </a:r>
            <a:r>
              <a:rPr lang="en-IN" b="1" u="sng" dirty="0"/>
              <a:t>Customer-Centric Strategy</a:t>
            </a:r>
          </a:p>
          <a:p>
            <a:endParaRPr lang="en-IN" dirty="0"/>
          </a:p>
        </p:txBody>
      </p:sp>
      <p:sp>
        <p:nvSpPr>
          <p:cNvPr id="8" name="Text Placeholder 7">
            <a:extLst>
              <a:ext uri="{FF2B5EF4-FFF2-40B4-BE49-F238E27FC236}">
                <a16:creationId xmlns:a16="http://schemas.microsoft.com/office/drawing/2014/main" id="{B1AE124B-BCE6-31CC-CB9D-A155EB99D6B9}"/>
              </a:ext>
            </a:extLst>
          </p:cNvPr>
          <p:cNvSpPr>
            <a:spLocks noGrp="1"/>
          </p:cNvSpPr>
          <p:nvPr>
            <p:ph type="body" sz="half" idx="17"/>
          </p:nvPr>
        </p:nvSpPr>
        <p:spPr>
          <a:xfrm>
            <a:off x="8051801" y="3178629"/>
            <a:ext cx="3456432" cy="3040068"/>
          </a:xfrm>
        </p:spPr>
        <p:txBody>
          <a:bodyPr>
            <a:normAutofit/>
          </a:bodyPr>
          <a:lstStyle/>
          <a:p>
            <a:r>
              <a:rPr lang="en-IN" sz="1800" dirty="0"/>
              <a:t>Technology enables:</a:t>
            </a:r>
          </a:p>
          <a:p>
            <a:pPr marL="285750" indent="-285750">
              <a:buFont typeface="Arial" panose="020B0604020202020204" pitchFamily="34" charset="0"/>
              <a:buChar char="•"/>
            </a:pPr>
            <a:r>
              <a:rPr lang="en-IN" sz="1800" dirty="0"/>
              <a:t>Personalized marketing </a:t>
            </a:r>
          </a:p>
          <a:p>
            <a:pPr marL="285750" indent="-285750">
              <a:buFont typeface="Arial" panose="020B0604020202020204" pitchFamily="34" charset="0"/>
              <a:buChar char="•"/>
            </a:pPr>
            <a:r>
              <a:rPr lang="en-IN" sz="1800" dirty="0"/>
              <a:t>Online customer support </a:t>
            </a:r>
          </a:p>
          <a:p>
            <a:pPr marL="285750" indent="-285750">
              <a:buFont typeface="Arial" panose="020B0604020202020204" pitchFamily="34" charset="0"/>
              <a:buChar char="•"/>
            </a:pPr>
            <a:r>
              <a:rPr lang="en-IN" sz="1800" dirty="0"/>
              <a:t>Mobile banking </a:t>
            </a:r>
          </a:p>
          <a:p>
            <a:pPr marL="285750" indent="-285750">
              <a:buFont typeface="Arial" panose="020B0604020202020204" pitchFamily="34" charset="0"/>
              <a:buChar char="•"/>
            </a:pPr>
            <a:r>
              <a:rPr lang="en-IN" sz="1800" dirty="0"/>
              <a:t>Self-service portals </a:t>
            </a:r>
          </a:p>
          <a:p>
            <a:pPr marL="285750" indent="-285750">
              <a:buFont typeface="Arial" panose="020B0604020202020204" pitchFamily="34" charset="0"/>
              <a:buChar char="•"/>
            </a:pPr>
            <a:r>
              <a:rPr lang="en-IN" sz="1800" dirty="0"/>
              <a:t>Digital payments</a:t>
            </a:r>
          </a:p>
          <a:p>
            <a:endParaRPr lang="en-IN" sz="1800" dirty="0"/>
          </a:p>
        </p:txBody>
      </p:sp>
    </p:spTree>
    <p:extLst>
      <p:ext uri="{BB962C8B-B14F-4D97-AF65-F5344CB8AC3E}">
        <p14:creationId xmlns:p14="http://schemas.microsoft.com/office/powerpoint/2010/main" val="4108878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344E-50B4-411A-1CA0-BA9A1189F736}"/>
              </a:ext>
            </a:extLst>
          </p:cNvPr>
          <p:cNvSpPr>
            <a:spLocks noGrp="1"/>
          </p:cNvSpPr>
          <p:nvPr>
            <p:ph type="title"/>
          </p:nvPr>
        </p:nvSpPr>
        <p:spPr>
          <a:xfrm>
            <a:off x="2895600" y="794657"/>
            <a:ext cx="8610600" cy="1295400"/>
          </a:xfrm>
        </p:spPr>
        <p:txBody>
          <a:bodyPr/>
          <a:lstStyle/>
          <a:p>
            <a:r>
              <a:rPr lang="en-IN" dirty="0">
                <a:solidFill>
                  <a:schemeClr val="bg1"/>
                </a:solidFill>
              </a:rPr>
              <a:t>.</a:t>
            </a:r>
          </a:p>
        </p:txBody>
      </p:sp>
      <p:sp>
        <p:nvSpPr>
          <p:cNvPr id="3" name="Text Placeholder 2">
            <a:extLst>
              <a:ext uri="{FF2B5EF4-FFF2-40B4-BE49-F238E27FC236}">
                <a16:creationId xmlns:a16="http://schemas.microsoft.com/office/drawing/2014/main" id="{89FF90D4-3F72-2A0D-48F0-BDC427855900}"/>
              </a:ext>
            </a:extLst>
          </p:cNvPr>
          <p:cNvSpPr>
            <a:spLocks noGrp="1"/>
          </p:cNvSpPr>
          <p:nvPr>
            <p:ph type="body" idx="1"/>
          </p:nvPr>
        </p:nvSpPr>
        <p:spPr>
          <a:xfrm>
            <a:off x="979714" y="2183802"/>
            <a:ext cx="5014686" cy="1158112"/>
          </a:xfrm>
        </p:spPr>
        <p:txBody>
          <a:bodyPr>
            <a:normAutofit/>
          </a:bodyPr>
          <a:lstStyle/>
          <a:p>
            <a:r>
              <a:rPr lang="en-IN" b="1" u="sng" dirty="0"/>
              <a:t>Aligning IT with Business Goals</a:t>
            </a:r>
          </a:p>
          <a:p>
            <a:endParaRPr lang="en-IN" dirty="0"/>
          </a:p>
        </p:txBody>
      </p:sp>
      <p:sp>
        <p:nvSpPr>
          <p:cNvPr id="4" name="Content Placeholder 3">
            <a:extLst>
              <a:ext uri="{FF2B5EF4-FFF2-40B4-BE49-F238E27FC236}">
                <a16:creationId xmlns:a16="http://schemas.microsoft.com/office/drawing/2014/main" id="{57240465-307E-FAF3-187C-E42794FC4879}"/>
              </a:ext>
            </a:extLst>
          </p:cNvPr>
          <p:cNvSpPr>
            <a:spLocks noGrp="1"/>
          </p:cNvSpPr>
          <p:nvPr>
            <p:ph sz="half" idx="2"/>
          </p:nvPr>
        </p:nvSpPr>
        <p:spPr/>
        <p:txBody>
          <a:bodyPr>
            <a:normAutofit fontScale="70000" lnSpcReduction="20000"/>
          </a:bodyPr>
          <a:lstStyle/>
          <a:p>
            <a:pPr marL="0" indent="0">
              <a:buNone/>
            </a:pPr>
            <a:endParaRPr lang="en-IN" b="1" dirty="0"/>
          </a:p>
          <a:p>
            <a:pPr marL="0" indent="0">
              <a:buNone/>
            </a:pPr>
            <a:r>
              <a:rPr lang="en-IN" dirty="0"/>
              <a:t>Organizations should:</a:t>
            </a:r>
          </a:p>
          <a:p>
            <a:pPr marL="0" indent="0">
              <a:buNone/>
            </a:pPr>
            <a:endParaRPr lang="en-IN" dirty="0"/>
          </a:p>
          <a:p>
            <a:r>
              <a:rPr lang="en-IN" dirty="0"/>
              <a:t>Understand business objectives. </a:t>
            </a:r>
          </a:p>
          <a:p>
            <a:r>
              <a:rPr lang="en-IN" dirty="0"/>
              <a:t>Invest in appropriate technologies. </a:t>
            </a:r>
          </a:p>
          <a:p>
            <a:r>
              <a:rPr lang="en-IN" dirty="0"/>
              <a:t>Train employees on new systems. </a:t>
            </a:r>
          </a:p>
          <a:p>
            <a:r>
              <a:rPr lang="en-IN" dirty="0"/>
              <a:t>Monitor IT performance. </a:t>
            </a:r>
          </a:p>
          <a:p>
            <a:r>
              <a:rPr lang="en-IN" dirty="0"/>
              <a:t>Continuously improve processes. </a:t>
            </a:r>
          </a:p>
          <a:p>
            <a:r>
              <a:rPr lang="en-IN" dirty="0"/>
              <a:t>Ensure cybersecurity and compliance. </a:t>
            </a:r>
          </a:p>
          <a:p>
            <a:pPr marL="0" indent="0">
              <a:buNone/>
            </a:pPr>
            <a:br>
              <a:rPr lang="en-IN" dirty="0"/>
            </a:br>
            <a:endParaRPr lang="en-IN" dirty="0"/>
          </a:p>
          <a:p>
            <a:endParaRPr lang="en-IN" dirty="0"/>
          </a:p>
        </p:txBody>
      </p:sp>
      <p:sp>
        <p:nvSpPr>
          <p:cNvPr id="5" name="Text Placeholder 4">
            <a:extLst>
              <a:ext uri="{FF2B5EF4-FFF2-40B4-BE49-F238E27FC236}">
                <a16:creationId xmlns:a16="http://schemas.microsoft.com/office/drawing/2014/main" id="{A69E9A90-4377-F0E7-6937-544AD320E14B}"/>
              </a:ext>
            </a:extLst>
          </p:cNvPr>
          <p:cNvSpPr>
            <a:spLocks noGrp="1"/>
          </p:cNvSpPr>
          <p:nvPr>
            <p:ph type="body" sz="quarter" idx="3"/>
          </p:nvPr>
        </p:nvSpPr>
        <p:spPr>
          <a:xfrm>
            <a:off x="6400800" y="1926772"/>
            <a:ext cx="5105400" cy="1295400"/>
          </a:xfrm>
        </p:spPr>
        <p:txBody>
          <a:bodyPr>
            <a:normAutofit/>
          </a:bodyPr>
          <a:lstStyle/>
          <a:p>
            <a:r>
              <a:rPr lang="en-IN" b="1" u="sng" dirty="0"/>
              <a:t>Benefits of Aligning IT and Business Strategy</a:t>
            </a:r>
          </a:p>
          <a:p>
            <a:endParaRPr lang="en-IN" dirty="0"/>
          </a:p>
        </p:txBody>
      </p:sp>
      <p:sp>
        <p:nvSpPr>
          <p:cNvPr id="6" name="Content Placeholder 5">
            <a:extLst>
              <a:ext uri="{FF2B5EF4-FFF2-40B4-BE49-F238E27FC236}">
                <a16:creationId xmlns:a16="http://schemas.microsoft.com/office/drawing/2014/main" id="{825EFB91-B509-77E6-1576-E40EFC60D4E6}"/>
              </a:ext>
            </a:extLst>
          </p:cNvPr>
          <p:cNvSpPr>
            <a:spLocks noGrp="1"/>
          </p:cNvSpPr>
          <p:nvPr>
            <p:ph sz="quarter" idx="4"/>
          </p:nvPr>
        </p:nvSpPr>
        <p:spPr/>
        <p:txBody>
          <a:bodyPr>
            <a:normAutofit fontScale="70000" lnSpcReduction="20000"/>
          </a:bodyPr>
          <a:lstStyle/>
          <a:p>
            <a:pPr marL="0" indent="0">
              <a:buNone/>
            </a:pPr>
            <a:endParaRPr lang="en-IN" b="1" dirty="0"/>
          </a:p>
          <a:p>
            <a:r>
              <a:rPr lang="en-IN" dirty="0"/>
              <a:t>Improved operational efficiency </a:t>
            </a:r>
          </a:p>
          <a:p>
            <a:r>
              <a:rPr lang="en-IN" dirty="0"/>
              <a:t>Higher profitability </a:t>
            </a:r>
          </a:p>
          <a:p>
            <a:r>
              <a:rPr lang="en-IN" dirty="0"/>
              <a:t>Faster innovation </a:t>
            </a:r>
          </a:p>
          <a:p>
            <a:r>
              <a:rPr lang="en-IN" dirty="0"/>
              <a:t>Better customer experience </a:t>
            </a:r>
          </a:p>
          <a:p>
            <a:r>
              <a:rPr lang="en-IN" dirty="0"/>
              <a:t>Enhanced competitiveness </a:t>
            </a:r>
          </a:p>
          <a:p>
            <a:r>
              <a:rPr lang="en-IN" dirty="0"/>
              <a:t>Reduced business risks </a:t>
            </a:r>
          </a:p>
          <a:p>
            <a:r>
              <a:rPr lang="en-IN" dirty="0"/>
              <a:t>Increased employee productivity </a:t>
            </a:r>
          </a:p>
          <a:p>
            <a:r>
              <a:rPr lang="en-IN" dirty="0"/>
              <a:t>Sustainable business growth </a:t>
            </a:r>
          </a:p>
          <a:p>
            <a:endParaRPr lang="en-IN" dirty="0"/>
          </a:p>
        </p:txBody>
      </p:sp>
    </p:spTree>
    <p:extLst>
      <p:ext uri="{BB962C8B-B14F-4D97-AF65-F5344CB8AC3E}">
        <p14:creationId xmlns:p14="http://schemas.microsoft.com/office/powerpoint/2010/main" val="14672777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C0FD-012B-39C0-63F7-DAC2A7EAA8F5}"/>
              </a:ext>
            </a:extLst>
          </p:cNvPr>
          <p:cNvSpPr>
            <a:spLocks noGrp="1"/>
          </p:cNvSpPr>
          <p:nvPr>
            <p:ph type="ctrTitle"/>
          </p:nvPr>
        </p:nvSpPr>
        <p:spPr>
          <a:xfrm>
            <a:off x="3755571" y="1513114"/>
            <a:ext cx="7402285" cy="870857"/>
          </a:xfrm>
        </p:spPr>
        <p:txBody>
          <a:bodyPr>
            <a:normAutofit fontScale="90000"/>
          </a:bodyPr>
          <a:lstStyle/>
          <a:p>
            <a:r>
              <a:rPr lang="en-IN" sz="4000" b="1" u="sng" dirty="0"/>
              <a:t>Real-World Example</a:t>
            </a:r>
            <a:br>
              <a:rPr lang="en-IN" b="1" dirty="0"/>
            </a:br>
            <a:endParaRPr lang="en-IN" dirty="0"/>
          </a:p>
        </p:txBody>
      </p:sp>
      <p:sp>
        <p:nvSpPr>
          <p:cNvPr id="3" name="Subtitle 2">
            <a:extLst>
              <a:ext uri="{FF2B5EF4-FFF2-40B4-BE49-F238E27FC236}">
                <a16:creationId xmlns:a16="http://schemas.microsoft.com/office/drawing/2014/main" id="{65B9A72A-44DF-2407-2E57-BC79BFDB54AF}"/>
              </a:ext>
            </a:extLst>
          </p:cNvPr>
          <p:cNvSpPr>
            <a:spLocks noGrp="1"/>
          </p:cNvSpPr>
          <p:nvPr>
            <p:ph type="subTitle" idx="1"/>
          </p:nvPr>
        </p:nvSpPr>
        <p:spPr>
          <a:xfrm>
            <a:off x="1828800" y="2253342"/>
            <a:ext cx="9666514" cy="2242457"/>
          </a:xfrm>
        </p:spPr>
        <p:txBody>
          <a:bodyPr>
            <a:normAutofit/>
          </a:bodyPr>
          <a:lstStyle/>
          <a:p>
            <a:r>
              <a:rPr lang="en-IN" dirty="0"/>
              <a:t>A retail company implements an </a:t>
            </a:r>
            <a:r>
              <a:rPr lang="en-IN" b="1" dirty="0"/>
              <a:t>ERP system</a:t>
            </a:r>
            <a:r>
              <a:rPr lang="en-IN" dirty="0"/>
              <a:t> to integrate inventory, sales, finance, and procurement. At the same time, it adopts a </a:t>
            </a:r>
            <a:r>
              <a:rPr lang="en-IN" b="1" dirty="0"/>
              <a:t>CRM system</a:t>
            </a:r>
            <a:r>
              <a:rPr lang="en-IN" dirty="0"/>
              <a:t> to track customer purchases and preferences. By </a:t>
            </a:r>
            <a:r>
              <a:rPr lang="en-IN" dirty="0" err="1"/>
              <a:t>analyzing</a:t>
            </a:r>
            <a:r>
              <a:rPr lang="en-IN" dirty="0"/>
              <a:t> this integrated data, the company optimizes inventory, launches targeted marketing campaigns, improves customer service, and increases sales while reducing operational costs.</a:t>
            </a:r>
          </a:p>
          <a:p>
            <a:endParaRPr lang="en-IN" dirty="0"/>
          </a:p>
        </p:txBody>
      </p:sp>
    </p:spTree>
    <p:extLst>
      <p:ext uri="{BB962C8B-B14F-4D97-AF65-F5344CB8AC3E}">
        <p14:creationId xmlns:p14="http://schemas.microsoft.com/office/powerpoint/2010/main" val="2345498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81F6-F4A3-41D9-86B3-3CFC48D772F2}"/>
              </a:ext>
            </a:extLst>
          </p:cNvPr>
          <p:cNvSpPr>
            <a:spLocks noGrp="1"/>
          </p:cNvSpPr>
          <p:nvPr>
            <p:ph type="ctrTitle"/>
          </p:nvPr>
        </p:nvSpPr>
        <p:spPr>
          <a:xfrm>
            <a:off x="2100943" y="1923148"/>
            <a:ext cx="9089571" cy="1505852"/>
          </a:xfrm>
        </p:spPr>
        <p:txBody>
          <a:bodyPr>
            <a:normAutofit fontScale="90000"/>
          </a:bodyPr>
          <a:lstStyle/>
          <a:p>
            <a:r>
              <a:rPr lang="en-IN" sz="3600" b="1" dirty="0"/>
              <a:t>2. </a:t>
            </a:r>
            <a:r>
              <a:rPr lang="en-IN" sz="3600" b="1" u="sng" dirty="0"/>
              <a:t>Data Types, Sources, and Lifecycle</a:t>
            </a:r>
            <a:br>
              <a:rPr lang="en-IN" sz="3600" b="1" u="sng" dirty="0"/>
            </a:br>
            <a:br>
              <a:rPr lang="en-IN" sz="3600" b="1" u="sng" dirty="0"/>
            </a:br>
            <a:r>
              <a:rPr lang="en-IN" sz="2700" u="sng" dirty="0"/>
              <a:t>Introduction</a:t>
            </a:r>
            <a:br>
              <a:rPr lang="en-IN" sz="3600" b="1" dirty="0"/>
            </a:br>
            <a:br>
              <a:rPr lang="en-IN" dirty="0"/>
            </a:br>
            <a:endParaRPr lang="en-IN" dirty="0"/>
          </a:p>
        </p:txBody>
      </p:sp>
      <p:sp>
        <p:nvSpPr>
          <p:cNvPr id="3" name="Subtitle 2">
            <a:extLst>
              <a:ext uri="{FF2B5EF4-FFF2-40B4-BE49-F238E27FC236}">
                <a16:creationId xmlns:a16="http://schemas.microsoft.com/office/drawing/2014/main" id="{55767D3B-7190-EA1F-A9CE-21ADE7CF5539}"/>
              </a:ext>
            </a:extLst>
          </p:cNvPr>
          <p:cNvSpPr>
            <a:spLocks noGrp="1"/>
          </p:cNvSpPr>
          <p:nvPr>
            <p:ph type="subTitle" idx="1"/>
          </p:nvPr>
        </p:nvSpPr>
        <p:spPr>
          <a:xfrm>
            <a:off x="1894114" y="2362200"/>
            <a:ext cx="8926286" cy="2013857"/>
          </a:xfrm>
        </p:spPr>
        <p:txBody>
          <a:bodyPr>
            <a:normAutofit/>
          </a:bodyPr>
          <a:lstStyle/>
          <a:p>
            <a:r>
              <a:rPr lang="en-IN" dirty="0"/>
              <a:t>Data is the foundation of modern information systems and business decision-making. Organizations collect data from various sources, process it into meaningful information, and use it to improve operations, understand customers, and gain a competitive advantage. Understanding different data types, sources, collection methods, lifecycle management, and data quality is essential for effective data management and analytics</a:t>
            </a:r>
          </a:p>
        </p:txBody>
      </p:sp>
    </p:spTree>
    <p:extLst>
      <p:ext uri="{BB962C8B-B14F-4D97-AF65-F5344CB8AC3E}">
        <p14:creationId xmlns:p14="http://schemas.microsoft.com/office/powerpoint/2010/main" val="2669437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970F-5749-7A78-383D-40F3BF210090}"/>
              </a:ext>
            </a:extLst>
          </p:cNvPr>
          <p:cNvSpPr>
            <a:spLocks noGrp="1"/>
          </p:cNvSpPr>
          <p:nvPr>
            <p:ph type="ctrTitle"/>
          </p:nvPr>
        </p:nvSpPr>
        <p:spPr>
          <a:xfrm>
            <a:off x="2318658" y="2129977"/>
            <a:ext cx="9448800" cy="145138"/>
          </a:xfrm>
        </p:spPr>
        <p:txBody>
          <a:bodyPr>
            <a:normAutofit fontScale="90000"/>
          </a:bodyPr>
          <a:lstStyle/>
          <a:p>
            <a:r>
              <a:rPr lang="en-IN" sz="3600" b="1" u="sng" dirty="0"/>
              <a:t>A. Understanding Different Data Types</a:t>
            </a:r>
            <a:br>
              <a:rPr lang="en-IN" b="1" dirty="0"/>
            </a:br>
            <a:endParaRPr lang="en-IN" dirty="0"/>
          </a:p>
        </p:txBody>
      </p:sp>
      <p:sp>
        <p:nvSpPr>
          <p:cNvPr id="3" name="Subtitle 2">
            <a:extLst>
              <a:ext uri="{FF2B5EF4-FFF2-40B4-BE49-F238E27FC236}">
                <a16:creationId xmlns:a16="http://schemas.microsoft.com/office/drawing/2014/main" id="{1A97F5E9-5703-5A3B-FD37-ACB5F0A756EB}"/>
              </a:ext>
            </a:extLst>
          </p:cNvPr>
          <p:cNvSpPr>
            <a:spLocks noGrp="1"/>
          </p:cNvSpPr>
          <p:nvPr>
            <p:ph type="subTitle" idx="1"/>
          </p:nvPr>
        </p:nvSpPr>
        <p:spPr>
          <a:xfrm>
            <a:off x="1970314" y="2129977"/>
            <a:ext cx="8850086" cy="3327320"/>
          </a:xfrm>
        </p:spPr>
        <p:txBody>
          <a:bodyPr>
            <a:normAutofit/>
          </a:bodyPr>
          <a:lstStyle/>
          <a:p>
            <a:r>
              <a:rPr lang="en-IN" dirty="0"/>
              <a:t>Data can be classified based on its structure into three major categories:</a:t>
            </a:r>
          </a:p>
          <a:p>
            <a:endParaRPr lang="en-IN" dirty="0"/>
          </a:p>
          <a:p>
            <a:pPr marL="342900" indent="-342900">
              <a:buFont typeface="Wingdings" panose="05000000000000000000" pitchFamily="2" charset="2"/>
              <a:buChar char="q"/>
            </a:pPr>
            <a:r>
              <a:rPr lang="en-IN" dirty="0">
                <a:latin typeface="Algerian" panose="04020705040A02060702" pitchFamily="82" charset="0"/>
              </a:rPr>
              <a:t>Structured Data </a:t>
            </a:r>
          </a:p>
          <a:p>
            <a:pPr marL="342900" indent="-342900">
              <a:buFont typeface="Wingdings" panose="05000000000000000000" pitchFamily="2" charset="2"/>
              <a:buChar char="q"/>
            </a:pPr>
            <a:r>
              <a:rPr lang="en-IN" dirty="0">
                <a:latin typeface="Algerian" panose="04020705040A02060702" pitchFamily="82" charset="0"/>
              </a:rPr>
              <a:t>Unstructured Data </a:t>
            </a:r>
          </a:p>
          <a:p>
            <a:pPr marL="342900" indent="-342900">
              <a:buFont typeface="Wingdings" panose="05000000000000000000" pitchFamily="2" charset="2"/>
              <a:buChar char="q"/>
            </a:pPr>
            <a:r>
              <a:rPr lang="en-IN" dirty="0">
                <a:latin typeface="Algerian" panose="04020705040A02060702" pitchFamily="82" charset="0"/>
              </a:rPr>
              <a:t>Semi-structured Data</a:t>
            </a:r>
          </a:p>
          <a:p>
            <a:endParaRPr lang="en-IN" dirty="0"/>
          </a:p>
        </p:txBody>
      </p:sp>
    </p:spTree>
    <p:extLst>
      <p:ext uri="{BB962C8B-B14F-4D97-AF65-F5344CB8AC3E}">
        <p14:creationId xmlns:p14="http://schemas.microsoft.com/office/powerpoint/2010/main" val="5681964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72BA7-9B58-61CA-85F5-5527A4F13366}"/>
              </a:ext>
            </a:extLst>
          </p:cNvPr>
          <p:cNvSpPr>
            <a:spLocks noGrp="1"/>
          </p:cNvSpPr>
          <p:nvPr>
            <p:ph type="title"/>
          </p:nvPr>
        </p:nvSpPr>
        <p:spPr/>
        <p:txBody>
          <a:bodyPr/>
          <a:lstStyle/>
          <a:p>
            <a:pPr algn="ctr"/>
            <a:r>
              <a:rPr lang="en-IN" b="1" dirty="0"/>
              <a:t>1. Structured </a:t>
            </a:r>
            <a:r>
              <a:rPr lang="en-IN" b="1" dirty="0" err="1"/>
              <a:t>DatA</a:t>
            </a:r>
            <a:endParaRPr lang="en-IN" dirty="0"/>
          </a:p>
        </p:txBody>
      </p:sp>
      <p:sp>
        <p:nvSpPr>
          <p:cNvPr id="3" name="Text Placeholder 2">
            <a:extLst>
              <a:ext uri="{FF2B5EF4-FFF2-40B4-BE49-F238E27FC236}">
                <a16:creationId xmlns:a16="http://schemas.microsoft.com/office/drawing/2014/main" id="{9A133A4C-F0C8-ECF3-48E1-61B799808585}"/>
              </a:ext>
            </a:extLst>
          </p:cNvPr>
          <p:cNvSpPr>
            <a:spLocks noGrp="1"/>
          </p:cNvSpPr>
          <p:nvPr>
            <p:ph type="body" idx="1"/>
          </p:nvPr>
        </p:nvSpPr>
        <p:spPr/>
        <p:txBody>
          <a:bodyPr/>
          <a:lstStyle/>
          <a:p>
            <a:r>
              <a:rPr lang="en-IN" b="1" u="sng" dirty="0"/>
              <a:t>Definition:</a:t>
            </a:r>
            <a:endParaRPr lang="en-IN" u="sng" dirty="0"/>
          </a:p>
        </p:txBody>
      </p:sp>
      <p:sp>
        <p:nvSpPr>
          <p:cNvPr id="4" name="Text Placeholder 3">
            <a:extLst>
              <a:ext uri="{FF2B5EF4-FFF2-40B4-BE49-F238E27FC236}">
                <a16:creationId xmlns:a16="http://schemas.microsoft.com/office/drawing/2014/main" id="{C5F3CC6E-A03B-988F-34C6-48D5E98389CE}"/>
              </a:ext>
            </a:extLst>
          </p:cNvPr>
          <p:cNvSpPr>
            <a:spLocks noGrp="1"/>
          </p:cNvSpPr>
          <p:nvPr>
            <p:ph type="body" sz="half" idx="15"/>
          </p:nvPr>
        </p:nvSpPr>
        <p:spPr/>
        <p:txBody>
          <a:bodyPr>
            <a:normAutofit/>
          </a:bodyPr>
          <a:lstStyle/>
          <a:p>
            <a:endParaRPr lang="en-IN" b="1" dirty="0"/>
          </a:p>
          <a:p>
            <a:br>
              <a:rPr lang="en-IN" dirty="0"/>
            </a:br>
            <a:r>
              <a:rPr lang="en-IN" sz="1800" dirty="0"/>
              <a:t>Structured data is highly organized and stored in a predefined format, usually in rows and columns within relational databases</a:t>
            </a:r>
            <a:r>
              <a:rPr lang="en-IN" dirty="0"/>
              <a:t>.</a:t>
            </a:r>
          </a:p>
          <a:p>
            <a:endParaRPr lang="en-IN" dirty="0"/>
          </a:p>
          <a:p>
            <a:endParaRPr lang="en-IN" dirty="0"/>
          </a:p>
        </p:txBody>
      </p:sp>
      <p:sp>
        <p:nvSpPr>
          <p:cNvPr id="5" name="Text Placeholder 4">
            <a:extLst>
              <a:ext uri="{FF2B5EF4-FFF2-40B4-BE49-F238E27FC236}">
                <a16:creationId xmlns:a16="http://schemas.microsoft.com/office/drawing/2014/main" id="{F465A370-296F-9039-82B8-489318BF2D65}"/>
              </a:ext>
            </a:extLst>
          </p:cNvPr>
          <p:cNvSpPr>
            <a:spLocks noGrp="1"/>
          </p:cNvSpPr>
          <p:nvPr>
            <p:ph type="body" sz="quarter" idx="3"/>
          </p:nvPr>
        </p:nvSpPr>
        <p:spPr>
          <a:xfrm>
            <a:off x="4368800" y="2201333"/>
            <a:ext cx="3456432" cy="977296"/>
          </a:xfrm>
        </p:spPr>
        <p:txBody>
          <a:bodyPr/>
          <a:lstStyle/>
          <a:p>
            <a:r>
              <a:rPr lang="en-IN" b="1" u="sng" dirty="0"/>
              <a:t>Characteristics</a:t>
            </a:r>
          </a:p>
          <a:p>
            <a:endParaRPr lang="en-IN" dirty="0"/>
          </a:p>
        </p:txBody>
      </p:sp>
      <p:sp>
        <p:nvSpPr>
          <p:cNvPr id="6" name="Text Placeholder 5">
            <a:extLst>
              <a:ext uri="{FF2B5EF4-FFF2-40B4-BE49-F238E27FC236}">
                <a16:creationId xmlns:a16="http://schemas.microsoft.com/office/drawing/2014/main" id="{6AADF606-BE11-AE23-7BA1-5329D4D22FA8}"/>
              </a:ext>
            </a:extLst>
          </p:cNvPr>
          <p:cNvSpPr>
            <a:spLocks noGrp="1"/>
          </p:cNvSpPr>
          <p:nvPr>
            <p:ph type="body" sz="half" idx="16"/>
          </p:nvPr>
        </p:nvSpPr>
        <p:spPr/>
        <p:txBody>
          <a:bodyPr>
            <a:normAutofit fontScale="92500" lnSpcReduction="10000"/>
          </a:bodyPr>
          <a:lstStyle/>
          <a:p>
            <a:pPr marL="285750" indent="-285750">
              <a:buFont typeface="Courier New" panose="02070309020205020404" pitchFamily="49" charset="0"/>
              <a:buChar char="o"/>
            </a:pPr>
            <a:r>
              <a:rPr lang="en-IN" dirty="0"/>
              <a:t>Organized in tables </a:t>
            </a:r>
          </a:p>
          <a:p>
            <a:pPr marL="285750" indent="-285750">
              <a:buFont typeface="Courier New" panose="02070309020205020404" pitchFamily="49" charset="0"/>
              <a:buChar char="o"/>
            </a:pPr>
            <a:r>
              <a:rPr lang="en-IN" dirty="0"/>
              <a:t>Easy to search and </a:t>
            </a:r>
            <a:r>
              <a:rPr lang="en-IN" dirty="0" err="1"/>
              <a:t>analyze</a:t>
            </a:r>
            <a:r>
              <a:rPr lang="en-IN" dirty="0"/>
              <a:t> </a:t>
            </a:r>
          </a:p>
          <a:p>
            <a:pPr marL="285750" indent="-285750">
              <a:buFont typeface="Courier New" panose="02070309020205020404" pitchFamily="49" charset="0"/>
              <a:buChar char="o"/>
            </a:pPr>
            <a:r>
              <a:rPr lang="en-IN" dirty="0"/>
              <a:t>Follows a fixed schema </a:t>
            </a:r>
          </a:p>
          <a:p>
            <a:pPr marL="285750" indent="-285750">
              <a:buFont typeface="Courier New" panose="02070309020205020404" pitchFamily="49" charset="0"/>
              <a:buChar char="o"/>
            </a:pPr>
            <a:r>
              <a:rPr lang="en-IN" dirty="0"/>
              <a:t>Easily managed using SQL </a:t>
            </a:r>
          </a:p>
          <a:p>
            <a:pPr marL="285750" indent="-285750">
              <a:buFont typeface="Courier New" panose="02070309020205020404" pitchFamily="49" charset="0"/>
              <a:buChar char="o"/>
            </a:pPr>
            <a:endParaRPr lang="en-IN" dirty="0"/>
          </a:p>
          <a:p>
            <a:r>
              <a:rPr lang="en-IN" sz="2400" b="1" u="sng" dirty="0"/>
              <a:t>Examples</a:t>
            </a:r>
          </a:p>
          <a:p>
            <a:pPr marL="285750" indent="-285750">
              <a:buFont typeface="Courier New" panose="02070309020205020404" pitchFamily="49" charset="0"/>
              <a:buChar char="o"/>
            </a:pPr>
            <a:r>
              <a:rPr lang="en-IN" dirty="0"/>
              <a:t>Employee records </a:t>
            </a:r>
          </a:p>
          <a:p>
            <a:pPr marL="285750" indent="-285750">
              <a:buFont typeface="Courier New" panose="02070309020205020404" pitchFamily="49" charset="0"/>
              <a:buChar char="o"/>
            </a:pPr>
            <a:r>
              <a:rPr lang="en-IN" dirty="0"/>
              <a:t>Student databases </a:t>
            </a:r>
          </a:p>
          <a:p>
            <a:pPr marL="285750" indent="-285750">
              <a:buFont typeface="Courier New" panose="02070309020205020404" pitchFamily="49" charset="0"/>
              <a:buChar char="o"/>
            </a:pPr>
            <a:r>
              <a:rPr lang="en-IN" dirty="0"/>
              <a:t>Bank transactions </a:t>
            </a:r>
          </a:p>
          <a:p>
            <a:pPr marL="285750" indent="-285750">
              <a:buFont typeface="Courier New" panose="02070309020205020404" pitchFamily="49" charset="0"/>
              <a:buChar char="o"/>
            </a:pPr>
            <a:r>
              <a:rPr lang="en-IN" dirty="0"/>
              <a:t>Sales reports </a:t>
            </a:r>
          </a:p>
          <a:p>
            <a:pPr marL="285750" indent="-285750">
              <a:buFont typeface="Courier New" panose="02070309020205020404" pitchFamily="49" charset="0"/>
              <a:buChar char="o"/>
            </a:pPr>
            <a:r>
              <a:rPr lang="en-IN" dirty="0"/>
              <a:t>Inventory records</a:t>
            </a:r>
          </a:p>
          <a:p>
            <a:endParaRPr lang="en-IN" dirty="0"/>
          </a:p>
        </p:txBody>
      </p:sp>
      <p:sp>
        <p:nvSpPr>
          <p:cNvPr id="7" name="Text Placeholder 6">
            <a:extLst>
              <a:ext uri="{FF2B5EF4-FFF2-40B4-BE49-F238E27FC236}">
                <a16:creationId xmlns:a16="http://schemas.microsoft.com/office/drawing/2014/main" id="{39F08218-76B2-9EB0-5434-70B7E3DC7A18}"/>
              </a:ext>
            </a:extLst>
          </p:cNvPr>
          <p:cNvSpPr>
            <a:spLocks noGrp="1"/>
          </p:cNvSpPr>
          <p:nvPr>
            <p:ph type="body" sz="quarter" idx="13"/>
          </p:nvPr>
        </p:nvSpPr>
        <p:spPr>
          <a:xfrm>
            <a:off x="8051800" y="2192865"/>
            <a:ext cx="3456432" cy="985763"/>
          </a:xfrm>
        </p:spPr>
        <p:txBody>
          <a:bodyPr/>
          <a:lstStyle/>
          <a:p>
            <a:r>
              <a:rPr lang="en-IN" b="1" u="sng" dirty="0"/>
              <a:t>Advantages</a:t>
            </a:r>
          </a:p>
          <a:p>
            <a:endParaRPr lang="en-IN" dirty="0"/>
          </a:p>
        </p:txBody>
      </p:sp>
      <p:sp>
        <p:nvSpPr>
          <p:cNvPr id="8" name="Text Placeholder 7">
            <a:extLst>
              <a:ext uri="{FF2B5EF4-FFF2-40B4-BE49-F238E27FC236}">
                <a16:creationId xmlns:a16="http://schemas.microsoft.com/office/drawing/2014/main" id="{417B2B05-B746-D02D-2F3B-FD4B1FB655F5}"/>
              </a:ext>
            </a:extLst>
          </p:cNvPr>
          <p:cNvSpPr>
            <a:spLocks noGrp="1"/>
          </p:cNvSpPr>
          <p:nvPr>
            <p:ph type="body" sz="half" idx="17"/>
          </p:nvPr>
        </p:nvSpPr>
        <p:spPr/>
        <p:txBody>
          <a:bodyPr/>
          <a:lstStyle/>
          <a:p>
            <a:pPr marL="285750" indent="-285750">
              <a:buFont typeface="Courier New" panose="02070309020205020404" pitchFamily="49" charset="0"/>
              <a:buChar char="o"/>
            </a:pPr>
            <a:r>
              <a:rPr lang="en-IN" dirty="0"/>
              <a:t>Fast retrieval </a:t>
            </a:r>
          </a:p>
          <a:p>
            <a:pPr marL="285750" indent="-285750">
              <a:buFont typeface="Courier New" panose="02070309020205020404" pitchFamily="49" charset="0"/>
              <a:buChar char="o"/>
            </a:pPr>
            <a:r>
              <a:rPr lang="en-IN" dirty="0"/>
              <a:t>Easy analysis </a:t>
            </a:r>
          </a:p>
          <a:p>
            <a:pPr marL="285750" indent="-285750">
              <a:buFont typeface="Courier New" panose="02070309020205020404" pitchFamily="49" charset="0"/>
              <a:buChar char="o"/>
            </a:pPr>
            <a:r>
              <a:rPr lang="en-IN" dirty="0"/>
              <a:t>High accuracy </a:t>
            </a:r>
          </a:p>
          <a:p>
            <a:pPr marL="285750" indent="-285750">
              <a:buFont typeface="Courier New" panose="02070309020205020404" pitchFamily="49" charset="0"/>
              <a:buChar char="o"/>
            </a:pPr>
            <a:r>
              <a:rPr lang="en-IN" dirty="0"/>
              <a:t>Supports business intelligence </a:t>
            </a:r>
          </a:p>
          <a:p>
            <a:endParaRPr lang="en-IN" dirty="0"/>
          </a:p>
          <a:p>
            <a:r>
              <a:rPr lang="en-IN" sz="2400" b="1" u="sng" dirty="0"/>
              <a:t>Disadvantages</a:t>
            </a:r>
          </a:p>
          <a:p>
            <a:pPr marL="285750" indent="-285750">
              <a:buFont typeface="Courier New" panose="02070309020205020404" pitchFamily="49" charset="0"/>
              <a:buChar char="o"/>
            </a:pPr>
            <a:r>
              <a:rPr lang="en-IN" dirty="0"/>
              <a:t>Less flexible </a:t>
            </a:r>
          </a:p>
          <a:p>
            <a:pPr marL="285750" indent="-285750">
              <a:buFont typeface="Courier New" panose="02070309020205020404" pitchFamily="49" charset="0"/>
              <a:buChar char="o"/>
            </a:pPr>
            <a:r>
              <a:rPr lang="en-IN" dirty="0"/>
              <a:t>Difficult to store complex multimedia data</a:t>
            </a:r>
          </a:p>
          <a:p>
            <a:endParaRPr lang="en-IN" dirty="0"/>
          </a:p>
        </p:txBody>
      </p:sp>
    </p:spTree>
    <p:extLst>
      <p:ext uri="{BB962C8B-B14F-4D97-AF65-F5344CB8AC3E}">
        <p14:creationId xmlns:p14="http://schemas.microsoft.com/office/powerpoint/2010/main" val="3740663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EBFB6-6D52-FBE6-B87C-56E61176AACE}"/>
              </a:ext>
            </a:extLst>
          </p:cNvPr>
          <p:cNvSpPr>
            <a:spLocks noGrp="1"/>
          </p:cNvSpPr>
          <p:nvPr>
            <p:ph type="title"/>
          </p:nvPr>
        </p:nvSpPr>
        <p:spPr/>
        <p:txBody>
          <a:bodyPr/>
          <a:lstStyle/>
          <a:p>
            <a:pPr algn="ctr"/>
            <a:r>
              <a:rPr lang="en-IN" b="1" dirty="0"/>
              <a:t>2. Unstructured Data</a:t>
            </a:r>
            <a:br>
              <a:rPr lang="en-IN" b="1" dirty="0"/>
            </a:br>
            <a:endParaRPr lang="en-IN" dirty="0"/>
          </a:p>
        </p:txBody>
      </p:sp>
      <p:sp>
        <p:nvSpPr>
          <p:cNvPr id="3" name="Text Placeholder 2">
            <a:extLst>
              <a:ext uri="{FF2B5EF4-FFF2-40B4-BE49-F238E27FC236}">
                <a16:creationId xmlns:a16="http://schemas.microsoft.com/office/drawing/2014/main" id="{636869E0-2F49-6D63-ACE3-006834AA76B0}"/>
              </a:ext>
            </a:extLst>
          </p:cNvPr>
          <p:cNvSpPr>
            <a:spLocks noGrp="1"/>
          </p:cNvSpPr>
          <p:nvPr>
            <p:ph type="body" idx="1"/>
          </p:nvPr>
        </p:nvSpPr>
        <p:spPr/>
        <p:txBody>
          <a:bodyPr/>
          <a:lstStyle/>
          <a:p>
            <a:r>
              <a:rPr lang="en-IN" b="1" u="sng" dirty="0"/>
              <a:t>Definition:</a:t>
            </a:r>
            <a:endParaRPr lang="en-IN" u="sng" dirty="0"/>
          </a:p>
        </p:txBody>
      </p:sp>
      <p:sp>
        <p:nvSpPr>
          <p:cNvPr id="4" name="Text Placeholder 3">
            <a:extLst>
              <a:ext uri="{FF2B5EF4-FFF2-40B4-BE49-F238E27FC236}">
                <a16:creationId xmlns:a16="http://schemas.microsoft.com/office/drawing/2014/main" id="{05436421-25D4-E965-D085-05CC5B0027A4}"/>
              </a:ext>
            </a:extLst>
          </p:cNvPr>
          <p:cNvSpPr>
            <a:spLocks noGrp="1"/>
          </p:cNvSpPr>
          <p:nvPr>
            <p:ph type="body" sz="half" idx="15"/>
          </p:nvPr>
        </p:nvSpPr>
        <p:spPr>
          <a:xfrm>
            <a:off x="413657" y="3020927"/>
            <a:ext cx="3456432" cy="3314132"/>
          </a:xfrm>
        </p:spPr>
        <p:txBody>
          <a:bodyPr>
            <a:normAutofit/>
          </a:bodyPr>
          <a:lstStyle/>
          <a:p>
            <a:br>
              <a:rPr lang="en-IN" dirty="0"/>
            </a:br>
            <a:r>
              <a:rPr lang="en-IN" sz="2000" dirty="0"/>
              <a:t>Unstructured data has no predefined format or structure.</a:t>
            </a:r>
          </a:p>
          <a:p>
            <a:endParaRPr lang="en-IN" dirty="0"/>
          </a:p>
        </p:txBody>
      </p:sp>
      <p:sp>
        <p:nvSpPr>
          <p:cNvPr id="5" name="Text Placeholder 4">
            <a:extLst>
              <a:ext uri="{FF2B5EF4-FFF2-40B4-BE49-F238E27FC236}">
                <a16:creationId xmlns:a16="http://schemas.microsoft.com/office/drawing/2014/main" id="{B2BD8870-1D9E-8188-1BC4-83E5AAC5CDA9}"/>
              </a:ext>
            </a:extLst>
          </p:cNvPr>
          <p:cNvSpPr>
            <a:spLocks noGrp="1"/>
          </p:cNvSpPr>
          <p:nvPr>
            <p:ph type="body" sz="quarter" idx="3"/>
          </p:nvPr>
        </p:nvSpPr>
        <p:spPr>
          <a:xfrm>
            <a:off x="4368800" y="2201333"/>
            <a:ext cx="3456432" cy="1042610"/>
          </a:xfrm>
        </p:spPr>
        <p:txBody>
          <a:bodyPr/>
          <a:lstStyle/>
          <a:p>
            <a:r>
              <a:rPr lang="en-IN" b="1" u="sng" dirty="0"/>
              <a:t>Characteristics</a:t>
            </a:r>
          </a:p>
          <a:p>
            <a:endParaRPr lang="en-IN" dirty="0"/>
          </a:p>
        </p:txBody>
      </p:sp>
      <p:sp>
        <p:nvSpPr>
          <p:cNvPr id="6" name="Text Placeholder 5">
            <a:extLst>
              <a:ext uri="{FF2B5EF4-FFF2-40B4-BE49-F238E27FC236}">
                <a16:creationId xmlns:a16="http://schemas.microsoft.com/office/drawing/2014/main" id="{9283D4EC-5B85-F5E5-5E99-F99D0A41364D}"/>
              </a:ext>
            </a:extLst>
          </p:cNvPr>
          <p:cNvSpPr>
            <a:spLocks noGrp="1"/>
          </p:cNvSpPr>
          <p:nvPr>
            <p:ph type="body" sz="half" idx="16"/>
          </p:nvPr>
        </p:nvSpPr>
        <p:spPr>
          <a:xfrm>
            <a:off x="4366858" y="2904067"/>
            <a:ext cx="3456432" cy="3724834"/>
          </a:xfrm>
        </p:spPr>
        <p:txBody>
          <a:bodyPr>
            <a:normAutofit fontScale="92500" lnSpcReduction="10000"/>
          </a:bodyPr>
          <a:lstStyle/>
          <a:p>
            <a:pPr marL="285750" indent="-285750">
              <a:buFont typeface="Courier New" panose="02070309020205020404" pitchFamily="49" charset="0"/>
              <a:buChar char="o"/>
            </a:pPr>
            <a:r>
              <a:rPr lang="en-IN" sz="1600" dirty="0"/>
              <a:t>No fixed schema </a:t>
            </a:r>
          </a:p>
          <a:p>
            <a:pPr marL="285750" indent="-285750">
              <a:buFont typeface="Courier New" panose="02070309020205020404" pitchFamily="49" charset="0"/>
              <a:buChar char="o"/>
            </a:pPr>
            <a:r>
              <a:rPr lang="en-IN" sz="1600" dirty="0"/>
              <a:t>Difficult to organize </a:t>
            </a:r>
          </a:p>
          <a:p>
            <a:pPr marL="285750" indent="-285750">
              <a:buFont typeface="Courier New" panose="02070309020205020404" pitchFamily="49" charset="0"/>
              <a:buChar char="o"/>
            </a:pPr>
            <a:r>
              <a:rPr lang="en-IN" sz="1600" dirty="0"/>
              <a:t>Requires advanced analytical tools </a:t>
            </a:r>
          </a:p>
          <a:p>
            <a:endParaRPr lang="en-IN" dirty="0"/>
          </a:p>
          <a:p>
            <a:r>
              <a:rPr lang="en-IN" sz="2400" b="1" u="sng" dirty="0"/>
              <a:t>Examples</a:t>
            </a:r>
          </a:p>
          <a:p>
            <a:pPr marL="285750" indent="-285750">
              <a:buFont typeface="Courier New" panose="02070309020205020404" pitchFamily="49" charset="0"/>
              <a:buChar char="o"/>
            </a:pPr>
            <a:r>
              <a:rPr lang="en-IN" sz="1600" dirty="0"/>
              <a:t>Images </a:t>
            </a:r>
          </a:p>
          <a:p>
            <a:pPr marL="285750" indent="-285750">
              <a:buFont typeface="Courier New" panose="02070309020205020404" pitchFamily="49" charset="0"/>
              <a:buChar char="o"/>
            </a:pPr>
            <a:r>
              <a:rPr lang="en-IN" sz="1600" dirty="0"/>
              <a:t>Videos </a:t>
            </a:r>
          </a:p>
          <a:p>
            <a:pPr marL="285750" indent="-285750">
              <a:buFont typeface="Courier New" panose="02070309020205020404" pitchFamily="49" charset="0"/>
              <a:buChar char="o"/>
            </a:pPr>
            <a:r>
              <a:rPr lang="en-IN" sz="1600" dirty="0"/>
              <a:t>Emails </a:t>
            </a:r>
          </a:p>
          <a:p>
            <a:pPr marL="285750" indent="-285750">
              <a:buFont typeface="Courier New" panose="02070309020205020404" pitchFamily="49" charset="0"/>
              <a:buChar char="o"/>
            </a:pPr>
            <a:r>
              <a:rPr lang="en-IN" sz="1600" dirty="0"/>
              <a:t>Audio files </a:t>
            </a:r>
          </a:p>
          <a:p>
            <a:pPr marL="285750" indent="-285750">
              <a:buFont typeface="Courier New" panose="02070309020205020404" pitchFamily="49" charset="0"/>
              <a:buChar char="o"/>
            </a:pPr>
            <a:r>
              <a:rPr lang="en-IN" sz="1600" dirty="0"/>
              <a:t>Social media posts </a:t>
            </a:r>
          </a:p>
          <a:p>
            <a:pPr marL="285750" indent="-285750">
              <a:buFont typeface="Courier New" panose="02070309020205020404" pitchFamily="49" charset="0"/>
              <a:buChar char="o"/>
            </a:pPr>
            <a:r>
              <a:rPr lang="en-IN" sz="1600" dirty="0"/>
              <a:t>PDF documents </a:t>
            </a:r>
          </a:p>
          <a:p>
            <a:endParaRPr lang="en-IN" dirty="0"/>
          </a:p>
        </p:txBody>
      </p:sp>
      <p:sp>
        <p:nvSpPr>
          <p:cNvPr id="7" name="Text Placeholder 6">
            <a:extLst>
              <a:ext uri="{FF2B5EF4-FFF2-40B4-BE49-F238E27FC236}">
                <a16:creationId xmlns:a16="http://schemas.microsoft.com/office/drawing/2014/main" id="{69C321CC-130B-223C-1197-1C91874FF2B4}"/>
              </a:ext>
            </a:extLst>
          </p:cNvPr>
          <p:cNvSpPr>
            <a:spLocks noGrp="1"/>
          </p:cNvSpPr>
          <p:nvPr>
            <p:ph type="body" sz="quarter" idx="13"/>
          </p:nvPr>
        </p:nvSpPr>
        <p:spPr>
          <a:xfrm>
            <a:off x="8051800" y="2192865"/>
            <a:ext cx="3456432" cy="1051077"/>
          </a:xfrm>
        </p:spPr>
        <p:txBody>
          <a:bodyPr/>
          <a:lstStyle/>
          <a:p>
            <a:r>
              <a:rPr lang="en-IN" b="1" u="sng" dirty="0"/>
              <a:t>Advantages</a:t>
            </a:r>
          </a:p>
          <a:p>
            <a:endParaRPr lang="en-IN" dirty="0"/>
          </a:p>
        </p:txBody>
      </p:sp>
      <p:sp>
        <p:nvSpPr>
          <p:cNvPr id="8" name="Text Placeholder 7">
            <a:extLst>
              <a:ext uri="{FF2B5EF4-FFF2-40B4-BE49-F238E27FC236}">
                <a16:creationId xmlns:a16="http://schemas.microsoft.com/office/drawing/2014/main" id="{7457966E-49B2-9869-9F96-812C86C21311}"/>
              </a:ext>
            </a:extLst>
          </p:cNvPr>
          <p:cNvSpPr>
            <a:spLocks noGrp="1"/>
          </p:cNvSpPr>
          <p:nvPr>
            <p:ph type="body" sz="half" idx="17"/>
          </p:nvPr>
        </p:nvSpPr>
        <p:spPr>
          <a:xfrm>
            <a:off x="8051801" y="2904564"/>
            <a:ext cx="3456432" cy="3724835"/>
          </a:xfrm>
        </p:spPr>
        <p:txBody>
          <a:bodyPr/>
          <a:lstStyle/>
          <a:p>
            <a:pPr marL="285750" indent="-285750">
              <a:buFont typeface="Courier New" panose="02070309020205020404" pitchFamily="49" charset="0"/>
              <a:buChar char="o"/>
            </a:pPr>
            <a:r>
              <a:rPr lang="en-IN" sz="1600" dirty="0"/>
              <a:t>Rich information </a:t>
            </a:r>
          </a:p>
          <a:p>
            <a:pPr marL="285750" indent="-285750">
              <a:buFont typeface="Courier New" panose="02070309020205020404" pitchFamily="49" charset="0"/>
              <a:buChar char="o"/>
            </a:pPr>
            <a:r>
              <a:rPr lang="en-IN" sz="1600" dirty="0"/>
              <a:t>Supports multimedia applications </a:t>
            </a:r>
          </a:p>
          <a:p>
            <a:pPr marL="285750" indent="-285750">
              <a:buFont typeface="Courier New" panose="02070309020205020404" pitchFamily="49" charset="0"/>
              <a:buChar char="o"/>
            </a:pPr>
            <a:r>
              <a:rPr lang="en-IN" sz="1600" dirty="0"/>
              <a:t>Valuable for customer sentiment analysis </a:t>
            </a:r>
          </a:p>
          <a:p>
            <a:endParaRPr lang="en-IN" dirty="0"/>
          </a:p>
          <a:p>
            <a:r>
              <a:rPr lang="en-IN" sz="2400" b="1" u="sng" dirty="0"/>
              <a:t>Disadvantages</a:t>
            </a:r>
          </a:p>
          <a:p>
            <a:pPr marL="285750" indent="-285750">
              <a:buFont typeface="Courier New" panose="02070309020205020404" pitchFamily="49" charset="0"/>
              <a:buChar char="o"/>
            </a:pPr>
            <a:r>
              <a:rPr lang="en-IN" sz="1600" dirty="0"/>
              <a:t>Difficult to manage </a:t>
            </a:r>
          </a:p>
          <a:p>
            <a:pPr marL="285750" indent="-285750">
              <a:buFont typeface="Courier New" panose="02070309020205020404" pitchFamily="49" charset="0"/>
              <a:buChar char="o"/>
            </a:pPr>
            <a:r>
              <a:rPr lang="en-IN" sz="1600" dirty="0"/>
              <a:t>Requires higher storage </a:t>
            </a:r>
          </a:p>
          <a:p>
            <a:pPr marL="285750" indent="-285750">
              <a:buFont typeface="Courier New" panose="02070309020205020404" pitchFamily="49" charset="0"/>
              <a:buChar char="o"/>
            </a:pPr>
            <a:r>
              <a:rPr lang="en-IN" sz="1600" dirty="0"/>
              <a:t>Complex analysis</a:t>
            </a:r>
          </a:p>
          <a:p>
            <a:endParaRPr lang="en-IN" dirty="0"/>
          </a:p>
        </p:txBody>
      </p:sp>
    </p:spTree>
    <p:extLst>
      <p:ext uri="{BB962C8B-B14F-4D97-AF65-F5344CB8AC3E}">
        <p14:creationId xmlns:p14="http://schemas.microsoft.com/office/powerpoint/2010/main" val="409103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0CC8-2C34-735F-171D-DD13881DC23C}"/>
              </a:ext>
            </a:extLst>
          </p:cNvPr>
          <p:cNvSpPr>
            <a:spLocks noGrp="1"/>
          </p:cNvSpPr>
          <p:nvPr>
            <p:ph type="title"/>
          </p:nvPr>
        </p:nvSpPr>
        <p:spPr/>
        <p:txBody>
          <a:bodyPr/>
          <a:lstStyle/>
          <a:p>
            <a:r>
              <a:rPr lang="en-IN" b="1" dirty="0"/>
              <a:t>3. Semi-structured Data</a:t>
            </a:r>
            <a:br>
              <a:rPr lang="en-IN" b="1" dirty="0"/>
            </a:br>
            <a:endParaRPr lang="en-IN" dirty="0"/>
          </a:p>
        </p:txBody>
      </p:sp>
      <p:sp>
        <p:nvSpPr>
          <p:cNvPr id="3" name="Text Placeholder 2">
            <a:extLst>
              <a:ext uri="{FF2B5EF4-FFF2-40B4-BE49-F238E27FC236}">
                <a16:creationId xmlns:a16="http://schemas.microsoft.com/office/drawing/2014/main" id="{38CE4BB2-B649-D9F9-1FB6-DB978A3AA842}"/>
              </a:ext>
            </a:extLst>
          </p:cNvPr>
          <p:cNvSpPr>
            <a:spLocks noGrp="1"/>
          </p:cNvSpPr>
          <p:nvPr>
            <p:ph type="body" idx="1"/>
          </p:nvPr>
        </p:nvSpPr>
        <p:spPr/>
        <p:txBody>
          <a:bodyPr/>
          <a:lstStyle/>
          <a:p>
            <a:r>
              <a:rPr lang="en-IN" b="1" u="sng" dirty="0"/>
              <a:t>Definition:</a:t>
            </a:r>
            <a:endParaRPr lang="en-IN" u="sng" dirty="0"/>
          </a:p>
        </p:txBody>
      </p:sp>
      <p:sp>
        <p:nvSpPr>
          <p:cNvPr id="4" name="Text Placeholder 3">
            <a:extLst>
              <a:ext uri="{FF2B5EF4-FFF2-40B4-BE49-F238E27FC236}">
                <a16:creationId xmlns:a16="http://schemas.microsoft.com/office/drawing/2014/main" id="{482292DF-2243-D92D-8767-0AF33EB5B826}"/>
              </a:ext>
            </a:extLst>
          </p:cNvPr>
          <p:cNvSpPr>
            <a:spLocks noGrp="1"/>
          </p:cNvSpPr>
          <p:nvPr>
            <p:ph type="body" sz="half" idx="15"/>
          </p:nvPr>
        </p:nvSpPr>
        <p:spPr>
          <a:xfrm>
            <a:off x="304799" y="2904553"/>
            <a:ext cx="3456432" cy="3314132"/>
          </a:xfrm>
        </p:spPr>
        <p:txBody>
          <a:bodyPr>
            <a:normAutofit/>
          </a:bodyPr>
          <a:lstStyle/>
          <a:p>
            <a:br>
              <a:rPr lang="en-IN" dirty="0"/>
            </a:br>
            <a:r>
              <a:rPr lang="en-IN" dirty="0"/>
              <a:t>Semi-structured data does not follow a strict relational format but contains tags or markers that organize information.</a:t>
            </a:r>
          </a:p>
          <a:p>
            <a:endParaRPr lang="en-IN" dirty="0"/>
          </a:p>
        </p:txBody>
      </p:sp>
      <p:sp>
        <p:nvSpPr>
          <p:cNvPr id="5" name="Text Placeholder 4">
            <a:extLst>
              <a:ext uri="{FF2B5EF4-FFF2-40B4-BE49-F238E27FC236}">
                <a16:creationId xmlns:a16="http://schemas.microsoft.com/office/drawing/2014/main" id="{CD713E93-0AFC-F7F3-7316-244CAB5ECDA7}"/>
              </a:ext>
            </a:extLst>
          </p:cNvPr>
          <p:cNvSpPr>
            <a:spLocks noGrp="1"/>
          </p:cNvSpPr>
          <p:nvPr>
            <p:ph type="body" sz="quarter" idx="3"/>
          </p:nvPr>
        </p:nvSpPr>
        <p:spPr>
          <a:xfrm>
            <a:off x="4368800" y="2201332"/>
            <a:ext cx="3456432" cy="988181"/>
          </a:xfrm>
        </p:spPr>
        <p:txBody>
          <a:bodyPr/>
          <a:lstStyle/>
          <a:p>
            <a:r>
              <a:rPr lang="en-IN" b="1" u="sng" dirty="0"/>
              <a:t>Characteristics</a:t>
            </a:r>
          </a:p>
          <a:p>
            <a:endParaRPr lang="en-IN" dirty="0"/>
          </a:p>
        </p:txBody>
      </p:sp>
      <p:sp>
        <p:nvSpPr>
          <p:cNvPr id="6" name="Text Placeholder 5">
            <a:extLst>
              <a:ext uri="{FF2B5EF4-FFF2-40B4-BE49-F238E27FC236}">
                <a16:creationId xmlns:a16="http://schemas.microsoft.com/office/drawing/2014/main" id="{7A9BF61C-7661-4DFA-F74D-14AD416C031D}"/>
              </a:ext>
            </a:extLst>
          </p:cNvPr>
          <p:cNvSpPr>
            <a:spLocks noGrp="1"/>
          </p:cNvSpPr>
          <p:nvPr>
            <p:ph type="body" sz="half" idx="16"/>
          </p:nvPr>
        </p:nvSpPr>
        <p:spPr/>
        <p:txBody>
          <a:bodyPr>
            <a:normAutofit lnSpcReduction="10000"/>
          </a:bodyPr>
          <a:lstStyle/>
          <a:p>
            <a:pPr marL="285750" indent="-285750">
              <a:buFont typeface="Courier New" panose="02070309020205020404" pitchFamily="49" charset="0"/>
              <a:buChar char="o"/>
            </a:pPr>
            <a:r>
              <a:rPr lang="en-IN" dirty="0"/>
              <a:t>Flexible structure </a:t>
            </a:r>
          </a:p>
          <a:p>
            <a:pPr marL="285750" indent="-285750">
              <a:buFont typeface="Courier New" panose="02070309020205020404" pitchFamily="49" charset="0"/>
              <a:buChar char="o"/>
            </a:pPr>
            <a:r>
              <a:rPr lang="en-IN" dirty="0"/>
              <a:t>Contains metadata </a:t>
            </a:r>
          </a:p>
          <a:p>
            <a:pPr marL="285750" indent="-285750">
              <a:buFont typeface="Courier New" panose="02070309020205020404" pitchFamily="49" charset="0"/>
              <a:buChar char="o"/>
            </a:pPr>
            <a:r>
              <a:rPr lang="en-IN" dirty="0"/>
              <a:t>Easier to process than unstructured data </a:t>
            </a:r>
          </a:p>
          <a:p>
            <a:endParaRPr lang="en-IN" dirty="0"/>
          </a:p>
          <a:p>
            <a:r>
              <a:rPr lang="en-IN" sz="2400" b="1" u="sng" dirty="0"/>
              <a:t>Examples</a:t>
            </a:r>
          </a:p>
          <a:p>
            <a:pPr marL="285750" indent="-285750">
              <a:buFont typeface="Courier New" panose="02070309020205020404" pitchFamily="49" charset="0"/>
              <a:buChar char="o"/>
            </a:pPr>
            <a:r>
              <a:rPr lang="en-IN" dirty="0"/>
              <a:t>JSON files </a:t>
            </a:r>
          </a:p>
          <a:p>
            <a:pPr marL="285750" indent="-285750">
              <a:buFont typeface="Courier New" panose="02070309020205020404" pitchFamily="49" charset="0"/>
              <a:buChar char="o"/>
            </a:pPr>
            <a:r>
              <a:rPr lang="en-IN" dirty="0"/>
              <a:t>XML documents </a:t>
            </a:r>
          </a:p>
          <a:p>
            <a:pPr marL="285750" indent="-285750">
              <a:buFont typeface="Courier New" panose="02070309020205020404" pitchFamily="49" charset="0"/>
              <a:buChar char="o"/>
            </a:pPr>
            <a:r>
              <a:rPr lang="en-IN" dirty="0"/>
              <a:t>HTML files </a:t>
            </a:r>
          </a:p>
          <a:p>
            <a:pPr marL="285750" indent="-285750">
              <a:buFont typeface="Courier New" panose="02070309020205020404" pitchFamily="49" charset="0"/>
              <a:buChar char="o"/>
            </a:pPr>
            <a:r>
              <a:rPr lang="en-IN" dirty="0"/>
              <a:t>Log files </a:t>
            </a:r>
          </a:p>
          <a:p>
            <a:pPr marL="285750" indent="-285750">
              <a:buFont typeface="Courier New" panose="02070309020205020404" pitchFamily="49" charset="0"/>
              <a:buChar char="o"/>
            </a:pPr>
            <a:r>
              <a:rPr lang="en-IN" dirty="0"/>
              <a:t>Email messages </a:t>
            </a:r>
          </a:p>
          <a:p>
            <a:endParaRPr lang="en-IN" dirty="0"/>
          </a:p>
        </p:txBody>
      </p:sp>
      <p:sp>
        <p:nvSpPr>
          <p:cNvPr id="7" name="Text Placeholder 6">
            <a:extLst>
              <a:ext uri="{FF2B5EF4-FFF2-40B4-BE49-F238E27FC236}">
                <a16:creationId xmlns:a16="http://schemas.microsoft.com/office/drawing/2014/main" id="{22FE08B3-E851-9464-5099-1C7402A148BD}"/>
              </a:ext>
            </a:extLst>
          </p:cNvPr>
          <p:cNvSpPr>
            <a:spLocks noGrp="1"/>
          </p:cNvSpPr>
          <p:nvPr>
            <p:ph type="body" sz="quarter" idx="13"/>
          </p:nvPr>
        </p:nvSpPr>
        <p:spPr>
          <a:xfrm>
            <a:off x="8051800" y="2065866"/>
            <a:ext cx="3456432" cy="617320"/>
          </a:xfrm>
        </p:spPr>
        <p:txBody>
          <a:bodyPr/>
          <a:lstStyle/>
          <a:p>
            <a:r>
              <a:rPr lang="en-IN" b="1" u="sng" dirty="0"/>
              <a:t>Advantages</a:t>
            </a:r>
            <a:endParaRPr lang="en-IN" u="sng" dirty="0"/>
          </a:p>
        </p:txBody>
      </p:sp>
      <p:sp>
        <p:nvSpPr>
          <p:cNvPr id="8" name="Text Placeholder 7">
            <a:extLst>
              <a:ext uri="{FF2B5EF4-FFF2-40B4-BE49-F238E27FC236}">
                <a16:creationId xmlns:a16="http://schemas.microsoft.com/office/drawing/2014/main" id="{247BB60B-C30B-A413-47BA-A810F6DBEB24}"/>
              </a:ext>
            </a:extLst>
          </p:cNvPr>
          <p:cNvSpPr>
            <a:spLocks noGrp="1"/>
          </p:cNvSpPr>
          <p:nvPr>
            <p:ph type="body" sz="half" idx="17"/>
          </p:nvPr>
        </p:nvSpPr>
        <p:spPr>
          <a:xfrm>
            <a:off x="8051801" y="2525486"/>
            <a:ext cx="3456432" cy="3570515"/>
          </a:xfrm>
        </p:spPr>
        <p:txBody>
          <a:bodyPr>
            <a:normAutofit/>
          </a:bodyPr>
          <a:lstStyle/>
          <a:p>
            <a:endParaRPr lang="en-IN" b="1" dirty="0"/>
          </a:p>
          <a:p>
            <a:pPr marL="285750" indent="-285750">
              <a:buFont typeface="Courier New" panose="02070309020205020404" pitchFamily="49" charset="0"/>
              <a:buChar char="o"/>
            </a:pPr>
            <a:r>
              <a:rPr lang="en-IN" dirty="0"/>
              <a:t>Flexible </a:t>
            </a:r>
          </a:p>
          <a:p>
            <a:pPr marL="285750" indent="-285750">
              <a:buFont typeface="Courier New" panose="02070309020205020404" pitchFamily="49" charset="0"/>
              <a:buChar char="o"/>
            </a:pPr>
            <a:r>
              <a:rPr lang="en-IN" dirty="0"/>
              <a:t>Easy integration </a:t>
            </a:r>
          </a:p>
          <a:p>
            <a:pPr marL="285750" indent="-285750">
              <a:buFont typeface="Courier New" panose="02070309020205020404" pitchFamily="49" charset="0"/>
              <a:buChar char="o"/>
            </a:pPr>
            <a:r>
              <a:rPr lang="en-IN" dirty="0"/>
              <a:t>Supports modern web applications</a:t>
            </a:r>
          </a:p>
          <a:p>
            <a:r>
              <a:rPr lang="en-IN" dirty="0"/>
              <a:t> </a:t>
            </a:r>
          </a:p>
          <a:p>
            <a:r>
              <a:rPr lang="en-IN" sz="2400" b="1" u="sng" dirty="0"/>
              <a:t>Disadvantages</a:t>
            </a:r>
          </a:p>
          <a:p>
            <a:pPr marL="285750" indent="-285750">
              <a:buFont typeface="Courier New" panose="02070309020205020404" pitchFamily="49" charset="0"/>
              <a:buChar char="o"/>
            </a:pPr>
            <a:r>
              <a:rPr lang="en-IN" dirty="0"/>
              <a:t>More complex than structured data </a:t>
            </a:r>
          </a:p>
          <a:p>
            <a:pPr marL="285750" indent="-285750">
              <a:buFont typeface="Courier New" panose="02070309020205020404" pitchFamily="49" charset="0"/>
              <a:buChar char="o"/>
            </a:pPr>
            <a:r>
              <a:rPr lang="en-IN" dirty="0"/>
              <a:t>Requires specialized tools</a:t>
            </a:r>
          </a:p>
          <a:p>
            <a:endParaRPr lang="en-IN" dirty="0"/>
          </a:p>
        </p:txBody>
      </p:sp>
    </p:spTree>
    <p:extLst>
      <p:ext uri="{BB962C8B-B14F-4D97-AF65-F5344CB8AC3E}">
        <p14:creationId xmlns:p14="http://schemas.microsoft.com/office/powerpoint/2010/main" val="706599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68B35-6F1B-939B-27E1-28D03CE6D70D}"/>
              </a:ext>
            </a:extLst>
          </p:cNvPr>
          <p:cNvSpPr>
            <a:spLocks noGrp="1"/>
          </p:cNvSpPr>
          <p:nvPr>
            <p:ph type="title"/>
          </p:nvPr>
        </p:nvSpPr>
        <p:spPr>
          <a:xfrm>
            <a:off x="2351314" y="764373"/>
            <a:ext cx="9154886" cy="1293028"/>
          </a:xfrm>
        </p:spPr>
        <p:txBody>
          <a:bodyPr/>
          <a:lstStyle/>
          <a:p>
            <a:r>
              <a:rPr lang="en-IN" u="sng" dirty="0"/>
              <a:t>Comparison of Data Types</a:t>
            </a:r>
          </a:p>
        </p:txBody>
      </p:sp>
      <p:pic>
        <p:nvPicPr>
          <p:cNvPr id="4" name="Picture 3">
            <a:extLst>
              <a:ext uri="{FF2B5EF4-FFF2-40B4-BE49-F238E27FC236}">
                <a16:creationId xmlns:a16="http://schemas.microsoft.com/office/drawing/2014/main" id="{6984A931-701B-BD8F-E84B-85B1A3F924C0}"/>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1872330" y="2057400"/>
            <a:ext cx="10112854" cy="372291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62842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AA39-678B-8C43-90FE-687E7A83A4B4}"/>
              </a:ext>
            </a:extLst>
          </p:cNvPr>
          <p:cNvSpPr>
            <a:spLocks noGrp="1"/>
          </p:cNvSpPr>
          <p:nvPr>
            <p:ph type="title"/>
          </p:nvPr>
        </p:nvSpPr>
        <p:spPr/>
        <p:txBody>
          <a:bodyPr>
            <a:normAutofit fontScale="90000"/>
          </a:bodyPr>
          <a:lstStyle/>
          <a:p>
            <a:r>
              <a:rPr lang="en-IN" b="1" u="sng" dirty="0"/>
              <a:t>B. Common Data Sources</a:t>
            </a:r>
            <a:br>
              <a:rPr lang="en-IN" b="1" dirty="0"/>
            </a:br>
            <a:r>
              <a:rPr lang="en-IN" sz="2200" dirty="0"/>
              <a:t>Organizations obtain data from multiple internal and external sources.</a:t>
            </a:r>
            <a:br>
              <a:rPr lang="en-IN" sz="2200" dirty="0"/>
            </a:br>
            <a:br>
              <a:rPr lang="en-IN" sz="2200" dirty="0"/>
            </a:br>
            <a:br>
              <a:rPr lang="en-IN" dirty="0"/>
            </a:br>
            <a:endParaRPr lang="en-IN" dirty="0"/>
          </a:p>
        </p:txBody>
      </p:sp>
      <p:sp>
        <p:nvSpPr>
          <p:cNvPr id="3" name="Text Placeholder 2">
            <a:extLst>
              <a:ext uri="{FF2B5EF4-FFF2-40B4-BE49-F238E27FC236}">
                <a16:creationId xmlns:a16="http://schemas.microsoft.com/office/drawing/2014/main" id="{F0921F2C-00AC-E52C-7B72-91DD3674EE30}"/>
              </a:ext>
            </a:extLst>
          </p:cNvPr>
          <p:cNvSpPr>
            <a:spLocks noGrp="1"/>
          </p:cNvSpPr>
          <p:nvPr>
            <p:ph type="body" idx="1"/>
          </p:nvPr>
        </p:nvSpPr>
        <p:spPr>
          <a:xfrm>
            <a:off x="914409" y="1665515"/>
            <a:ext cx="5079991" cy="979714"/>
          </a:xfrm>
        </p:spPr>
        <p:txBody>
          <a:bodyPr>
            <a:normAutofit lnSpcReduction="10000"/>
          </a:bodyPr>
          <a:lstStyle/>
          <a:p>
            <a:r>
              <a:rPr lang="en-IN" b="1" u="sng" dirty="0"/>
              <a:t>1. Internal Data Sources</a:t>
            </a:r>
          </a:p>
          <a:p>
            <a:endParaRPr lang="en-IN" dirty="0"/>
          </a:p>
        </p:txBody>
      </p:sp>
      <p:sp>
        <p:nvSpPr>
          <p:cNvPr id="4" name="Content Placeholder 3">
            <a:extLst>
              <a:ext uri="{FF2B5EF4-FFF2-40B4-BE49-F238E27FC236}">
                <a16:creationId xmlns:a16="http://schemas.microsoft.com/office/drawing/2014/main" id="{21065266-0B71-4A7B-3BD1-26946AC48B1E}"/>
              </a:ext>
            </a:extLst>
          </p:cNvPr>
          <p:cNvSpPr>
            <a:spLocks noGrp="1"/>
          </p:cNvSpPr>
          <p:nvPr>
            <p:ph sz="half" idx="2"/>
          </p:nvPr>
        </p:nvSpPr>
        <p:spPr>
          <a:xfrm>
            <a:off x="685800" y="2525486"/>
            <a:ext cx="4909457" cy="4169228"/>
          </a:xfrm>
        </p:spPr>
        <p:txBody>
          <a:bodyPr>
            <a:normAutofit fontScale="55000" lnSpcReduction="20000"/>
          </a:bodyPr>
          <a:lstStyle/>
          <a:p>
            <a:pPr marL="0" indent="0">
              <a:buNone/>
            </a:pPr>
            <a:r>
              <a:rPr lang="en-IN" sz="3300" dirty="0"/>
              <a:t>Internal data is generated within an organization.</a:t>
            </a:r>
          </a:p>
          <a:p>
            <a:pPr marL="0" indent="0">
              <a:buNone/>
            </a:pPr>
            <a:endParaRPr lang="en-IN" sz="3300" dirty="0"/>
          </a:p>
          <a:p>
            <a:pPr marL="0" indent="0">
              <a:buNone/>
            </a:pPr>
            <a:r>
              <a:rPr lang="en-IN" sz="4400" b="1" u="sng" dirty="0"/>
              <a:t>Examples</a:t>
            </a:r>
          </a:p>
          <a:p>
            <a:pPr marL="0" indent="0">
              <a:buNone/>
            </a:pPr>
            <a:endParaRPr lang="en-IN" sz="3300" b="1" dirty="0"/>
          </a:p>
          <a:p>
            <a:r>
              <a:rPr lang="en-IN" sz="3300" dirty="0"/>
              <a:t>Sales records </a:t>
            </a:r>
          </a:p>
          <a:p>
            <a:r>
              <a:rPr lang="en-IN" sz="3300" dirty="0"/>
              <a:t>Customer databases </a:t>
            </a:r>
          </a:p>
          <a:p>
            <a:r>
              <a:rPr lang="en-IN" sz="3300" dirty="0"/>
              <a:t>Financial statements </a:t>
            </a:r>
          </a:p>
          <a:p>
            <a:r>
              <a:rPr lang="en-IN" sz="3300" dirty="0"/>
              <a:t>Employee records </a:t>
            </a:r>
          </a:p>
          <a:p>
            <a:r>
              <a:rPr lang="en-IN" sz="3300" dirty="0"/>
              <a:t>Inventory systems </a:t>
            </a:r>
          </a:p>
          <a:p>
            <a:r>
              <a:rPr lang="en-IN" sz="3300" dirty="0"/>
              <a:t>ERP systems </a:t>
            </a:r>
          </a:p>
          <a:p>
            <a:r>
              <a:rPr lang="en-IN" sz="3300" dirty="0"/>
              <a:t>CRM systems </a:t>
            </a:r>
          </a:p>
          <a:p>
            <a:r>
              <a:rPr lang="en-IN" sz="3300" dirty="0"/>
              <a:t>HR databases </a:t>
            </a:r>
          </a:p>
          <a:p>
            <a:endParaRPr lang="en-IN" dirty="0"/>
          </a:p>
        </p:txBody>
      </p:sp>
      <p:sp>
        <p:nvSpPr>
          <p:cNvPr id="5" name="Text Placeholder 4">
            <a:extLst>
              <a:ext uri="{FF2B5EF4-FFF2-40B4-BE49-F238E27FC236}">
                <a16:creationId xmlns:a16="http://schemas.microsoft.com/office/drawing/2014/main" id="{98B1DF7A-B8D4-95B6-D416-659007932D47}"/>
              </a:ext>
            </a:extLst>
          </p:cNvPr>
          <p:cNvSpPr>
            <a:spLocks noGrp="1"/>
          </p:cNvSpPr>
          <p:nvPr>
            <p:ph type="body" sz="quarter" idx="3"/>
          </p:nvPr>
        </p:nvSpPr>
        <p:spPr>
          <a:xfrm>
            <a:off x="6400800" y="2183800"/>
            <a:ext cx="5105400" cy="461429"/>
          </a:xfrm>
        </p:spPr>
        <p:txBody>
          <a:bodyPr>
            <a:normAutofit lnSpcReduction="10000"/>
          </a:bodyPr>
          <a:lstStyle/>
          <a:p>
            <a:r>
              <a:rPr lang="en-IN" b="1" u="sng" dirty="0"/>
              <a:t>Advantages</a:t>
            </a:r>
          </a:p>
          <a:p>
            <a:endParaRPr lang="en-IN" dirty="0"/>
          </a:p>
        </p:txBody>
      </p:sp>
      <p:sp>
        <p:nvSpPr>
          <p:cNvPr id="6" name="Content Placeholder 5">
            <a:extLst>
              <a:ext uri="{FF2B5EF4-FFF2-40B4-BE49-F238E27FC236}">
                <a16:creationId xmlns:a16="http://schemas.microsoft.com/office/drawing/2014/main" id="{0E2CCE74-EB84-BC04-D3B7-C1B21D6023E6}"/>
              </a:ext>
            </a:extLst>
          </p:cNvPr>
          <p:cNvSpPr>
            <a:spLocks noGrp="1"/>
          </p:cNvSpPr>
          <p:nvPr>
            <p:ph sz="quarter" idx="4"/>
          </p:nvPr>
        </p:nvSpPr>
        <p:spPr/>
        <p:txBody>
          <a:bodyPr>
            <a:normAutofit fontScale="55000" lnSpcReduction="20000"/>
          </a:bodyPr>
          <a:lstStyle/>
          <a:p>
            <a:r>
              <a:rPr lang="en-IN" sz="3800" dirty="0"/>
              <a:t>Reliable </a:t>
            </a:r>
          </a:p>
          <a:p>
            <a:r>
              <a:rPr lang="en-IN" sz="3800" dirty="0"/>
              <a:t>Secure </a:t>
            </a:r>
          </a:p>
          <a:p>
            <a:r>
              <a:rPr lang="en-IN" sz="3800" dirty="0"/>
              <a:t>Easy to access </a:t>
            </a:r>
          </a:p>
          <a:p>
            <a:r>
              <a:rPr lang="en-IN" sz="3800" dirty="0"/>
              <a:t>Relevant to business operations</a:t>
            </a:r>
          </a:p>
          <a:p>
            <a:pPr marL="0" indent="0">
              <a:buNone/>
            </a:pPr>
            <a:endParaRPr lang="en-IN" dirty="0"/>
          </a:p>
        </p:txBody>
      </p:sp>
    </p:spTree>
    <p:extLst>
      <p:ext uri="{BB962C8B-B14F-4D97-AF65-F5344CB8AC3E}">
        <p14:creationId xmlns:p14="http://schemas.microsoft.com/office/powerpoint/2010/main" val="3293943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B32F-4E44-DDF0-D777-97B11455E671}"/>
              </a:ext>
            </a:extLst>
          </p:cNvPr>
          <p:cNvSpPr>
            <a:spLocks noGrp="1"/>
          </p:cNvSpPr>
          <p:nvPr>
            <p:ph type="title"/>
          </p:nvPr>
        </p:nvSpPr>
        <p:spPr/>
        <p:txBody>
          <a:bodyPr/>
          <a:lstStyle/>
          <a:p>
            <a:br>
              <a:rPr lang="en-IN" b="1" dirty="0"/>
            </a:br>
            <a:endParaRPr lang="en-IN" dirty="0"/>
          </a:p>
        </p:txBody>
      </p:sp>
      <p:sp>
        <p:nvSpPr>
          <p:cNvPr id="3" name="Text Placeholder 2">
            <a:extLst>
              <a:ext uri="{FF2B5EF4-FFF2-40B4-BE49-F238E27FC236}">
                <a16:creationId xmlns:a16="http://schemas.microsoft.com/office/drawing/2014/main" id="{5AC2B6BB-D296-5F51-4D25-B74EAAA6C06D}"/>
              </a:ext>
            </a:extLst>
          </p:cNvPr>
          <p:cNvSpPr>
            <a:spLocks noGrp="1"/>
          </p:cNvSpPr>
          <p:nvPr>
            <p:ph type="body" idx="1"/>
          </p:nvPr>
        </p:nvSpPr>
        <p:spPr>
          <a:xfrm>
            <a:off x="914409" y="1338944"/>
            <a:ext cx="5079991" cy="293913"/>
          </a:xfrm>
        </p:spPr>
        <p:txBody>
          <a:bodyPr>
            <a:noAutofit/>
          </a:bodyPr>
          <a:lstStyle/>
          <a:p>
            <a:r>
              <a:rPr lang="en-IN" b="1" u="sng" dirty="0"/>
              <a:t>2. External Data Sources</a:t>
            </a:r>
            <a:endParaRPr lang="en-IN" u="sng" dirty="0"/>
          </a:p>
        </p:txBody>
      </p:sp>
      <p:sp>
        <p:nvSpPr>
          <p:cNvPr id="4" name="Content Placeholder 3">
            <a:extLst>
              <a:ext uri="{FF2B5EF4-FFF2-40B4-BE49-F238E27FC236}">
                <a16:creationId xmlns:a16="http://schemas.microsoft.com/office/drawing/2014/main" id="{E2684F58-E8C2-A70E-0514-3298E199D757}"/>
              </a:ext>
            </a:extLst>
          </p:cNvPr>
          <p:cNvSpPr>
            <a:spLocks noGrp="1"/>
          </p:cNvSpPr>
          <p:nvPr>
            <p:ph sz="half" idx="2"/>
          </p:nvPr>
        </p:nvSpPr>
        <p:spPr>
          <a:xfrm>
            <a:off x="685800" y="2057400"/>
            <a:ext cx="5105400" cy="3886199"/>
          </a:xfrm>
        </p:spPr>
        <p:txBody>
          <a:bodyPr>
            <a:noAutofit/>
          </a:bodyPr>
          <a:lstStyle/>
          <a:p>
            <a:pPr marL="0" indent="0">
              <a:buNone/>
            </a:pPr>
            <a:r>
              <a:rPr lang="en-IN" sz="1800" dirty="0"/>
              <a:t>External data comes from outside the organization.</a:t>
            </a:r>
          </a:p>
          <a:p>
            <a:pPr marL="0" indent="0">
              <a:buNone/>
            </a:pPr>
            <a:endParaRPr lang="en-IN" sz="1400" dirty="0"/>
          </a:p>
          <a:p>
            <a:pPr marL="0" indent="0">
              <a:buNone/>
            </a:pPr>
            <a:r>
              <a:rPr lang="en-IN" sz="2400" b="1" u="sng" dirty="0"/>
              <a:t>Examples</a:t>
            </a:r>
          </a:p>
          <a:p>
            <a:pPr marL="0" indent="0">
              <a:buNone/>
            </a:pPr>
            <a:endParaRPr lang="en-IN" sz="1400" b="1" dirty="0"/>
          </a:p>
          <a:p>
            <a:r>
              <a:rPr lang="en-IN" sz="1800" dirty="0"/>
              <a:t>Government statistics </a:t>
            </a:r>
          </a:p>
          <a:p>
            <a:r>
              <a:rPr lang="en-IN" sz="1800" dirty="0"/>
              <a:t>Market research reports </a:t>
            </a:r>
          </a:p>
          <a:p>
            <a:r>
              <a:rPr lang="en-IN" sz="1800" dirty="0"/>
              <a:t>Social media </a:t>
            </a:r>
          </a:p>
          <a:p>
            <a:r>
              <a:rPr lang="en-IN" sz="1800" dirty="0"/>
              <a:t>Weather information </a:t>
            </a:r>
          </a:p>
          <a:p>
            <a:r>
              <a:rPr lang="en-IN" sz="1800" dirty="0"/>
              <a:t>Competitor websites </a:t>
            </a:r>
          </a:p>
          <a:p>
            <a:r>
              <a:rPr lang="en-IN" sz="1800" dirty="0"/>
              <a:t>Industry publications </a:t>
            </a:r>
          </a:p>
          <a:p>
            <a:r>
              <a:rPr lang="en-IN" sz="1800" dirty="0"/>
              <a:t>Public datasets </a:t>
            </a:r>
          </a:p>
        </p:txBody>
      </p:sp>
      <p:sp>
        <p:nvSpPr>
          <p:cNvPr id="5" name="Text Placeholder 4">
            <a:extLst>
              <a:ext uri="{FF2B5EF4-FFF2-40B4-BE49-F238E27FC236}">
                <a16:creationId xmlns:a16="http://schemas.microsoft.com/office/drawing/2014/main" id="{6FCDD466-5C18-22CF-36D0-BFF8167946FB}"/>
              </a:ext>
            </a:extLst>
          </p:cNvPr>
          <p:cNvSpPr>
            <a:spLocks noGrp="1"/>
          </p:cNvSpPr>
          <p:nvPr>
            <p:ph type="body" sz="quarter" idx="3"/>
          </p:nvPr>
        </p:nvSpPr>
        <p:spPr>
          <a:xfrm>
            <a:off x="6400800" y="1480457"/>
            <a:ext cx="5105400" cy="762000"/>
          </a:xfrm>
        </p:spPr>
        <p:txBody>
          <a:bodyPr>
            <a:normAutofit/>
          </a:bodyPr>
          <a:lstStyle/>
          <a:p>
            <a:r>
              <a:rPr lang="en-IN" b="1" u="sng" dirty="0"/>
              <a:t>Advantages</a:t>
            </a:r>
          </a:p>
          <a:p>
            <a:endParaRPr lang="en-IN" dirty="0"/>
          </a:p>
        </p:txBody>
      </p:sp>
      <p:sp>
        <p:nvSpPr>
          <p:cNvPr id="6" name="Content Placeholder 5">
            <a:extLst>
              <a:ext uri="{FF2B5EF4-FFF2-40B4-BE49-F238E27FC236}">
                <a16:creationId xmlns:a16="http://schemas.microsoft.com/office/drawing/2014/main" id="{0B885080-F039-31C3-9533-BA4CDEF365D3}"/>
              </a:ext>
            </a:extLst>
          </p:cNvPr>
          <p:cNvSpPr>
            <a:spLocks noGrp="1"/>
          </p:cNvSpPr>
          <p:nvPr>
            <p:ph sz="quarter" idx="4"/>
          </p:nvPr>
        </p:nvSpPr>
        <p:spPr>
          <a:xfrm>
            <a:off x="6172200" y="2133600"/>
            <a:ext cx="5334000" cy="4085085"/>
          </a:xfrm>
        </p:spPr>
        <p:txBody>
          <a:bodyPr>
            <a:normAutofit/>
          </a:bodyPr>
          <a:lstStyle/>
          <a:p>
            <a:r>
              <a:rPr lang="en-IN" sz="1800" dirty="0"/>
              <a:t>Market insights </a:t>
            </a:r>
          </a:p>
          <a:p>
            <a:r>
              <a:rPr lang="en-IN" sz="1800" dirty="0"/>
              <a:t>Customer trends </a:t>
            </a:r>
          </a:p>
          <a:p>
            <a:r>
              <a:rPr lang="en-IN" sz="1800" dirty="0"/>
              <a:t>Competitive analysis </a:t>
            </a:r>
          </a:p>
          <a:p>
            <a:r>
              <a:rPr lang="en-IN" sz="1800" dirty="0"/>
              <a:t>Better forecasting</a:t>
            </a:r>
          </a:p>
          <a:p>
            <a:endParaRPr lang="en-IN" dirty="0"/>
          </a:p>
        </p:txBody>
      </p:sp>
    </p:spTree>
    <p:extLst>
      <p:ext uri="{BB962C8B-B14F-4D97-AF65-F5344CB8AC3E}">
        <p14:creationId xmlns:p14="http://schemas.microsoft.com/office/powerpoint/2010/main" val="934971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81D0D-4651-0374-1282-30F66CE3916D}"/>
              </a:ext>
            </a:extLst>
          </p:cNvPr>
          <p:cNvSpPr>
            <a:spLocks noGrp="1"/>
          </p:cNvSpPr>
          <p:nvPr>
            <p:ph type="title"/>
          </p:nvPr>
        </p:nvSpPr>
        <p:spPr>
          <a:xfrm>
            <a:off x="2895600" y="762000"/>
            <a:ext cx="8610600" cy="337457"/>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228AB106-66CB-3622-3997-1BE9C3A1E335}"/>
              </a:ext>
            </a:extLst>
          </p:cNvPr>
          <p:cNvSpPr>
            <a:spLocks noGrp="1"/>
          </p:cNvSpPr>
          <p:nvPr>
            <p:ph type="body" idx="1"/>
          </p:nvPr>
        </p:nvSpPr>
        <p:spPr>
          <a:xfrm>
            <a:off x="914409" y="1262744"/>
            <a:ext cx="5079991" cy="827314"/>
          </a:xfrm>
        </p:spPr>
        <p:txBody>
          <a:bodyPr>
            <a:normAutofit/>
          </a:bodyPr>
          <a:lstStyle/>
          <a:p>
            <a:r>
              <a:rPr lang="en-IN" b="1" dirty="0"/>
              <a:t>3</a:t>
            </a:r>
            <a:r>
              <a:rPr lang="en-IN" b="1" u="sng" dirty="0"/>
              <a:t>. Databases</a:t>
            </a:r>
          </a:p>
          <a:p>
            <a:endParaRPr lang="en-IN" dirty="0"/>
          </a:p>
        </p:txBody>
      </p:sp>
      <p:sp>
        <p:nvSpPr>
          <p:cNvPr id="4" name="Content Placeholder 3">
            <a:extLst>
              <a:ext uri="{FF2B5EF4-FFF2-40B4-BE49-F238E27FC236}">
                <a16:creationId xmlns:a16="http://schemas.microsoft.com/office/drawing/2014/main" id="{76566358-7E88-5A11-CF3E-764C6C5B02E9}"/>
              </a:ext>
            </a:extLst>
          </p:cNvPr>
          <p:cNvSpPr>
            <a:spLocks noGrp="1"/>
          </p:cNvSpPr>
          <p:nvPr>
            <p:ph sz="half" idx="2"/>
          </p:nvPr>
        </p:nvSpPr>
        <p:spPr>
          <a:xfrm>
            <a:off x="685800" y="1883230"/>
            <a:ext cx="5311775" cy="4335456"/>
          </a:xfrm>
        </p:spPr>
        <p:txBody>
          <a:bodyPr>
            <a:normAutofit lnSpcReduction="10000"/>
          </a:bodyPr>
          <a:lstStyle/>
          <a:p>
            <a:pPr marL="0" indent="0">
              <a:buNone/>
            </a:pPr>
            <a:r>
              <a:rPr lang="en-IN" dirty="0"/>
              <a:t>A database is an organized collection of data that allows efficient storage, retrieval, and management.</a:t>
            </a:r>
          </a:p>
          <a:p>
            <a:endParaRPr lang="en-IN" dirty="0"/>
          </a:p>
          <a:p>
            <a:pPr marL="0" indent="0">
              <a:buNone/>
            </a:pPr>
            <a:r>
              <a:rPr lang="en-IN" sz="2800" b="1" u="sng" dirty="0"/>
              <a:t>Types of Databases</a:t>
            </a:r>
          </a:p>
          <a:p>
            <a:endParaRPr lang="en-IN" b="1" dirty="0"/>
          </a:p>
          <a:p>
            <a:r>
              <a:rPr lang="en-IN" dirty="0"/>
              <a:t>Relational Databases (MySQL, Oracle, PostgreSQL) </a:t>
            </a:r>
          </a:p>
          <a:p>
            <a:r>
              <a:rPr lang="en-IN" dirty="0"/>
              <a:t>NoSQL Databases (MongoDB, Cassandra) </a:t>
            </a:r>
          </a:p>
          <a:p>
            <a:r>
              <a:rPr lang="en-IN" dirty="0"/>
              <a:t>Cloud Databases </a:t>
            </a:r>
          </a:p>
          <a:p>
            <a:endParaRPr lang="en-IN" dirty="0"/>
          </a:p>
        </p:txBody>
      </p:sp>
      <p:sp>
        <p:nvSpPr>
          <p:cNvPr id="5" name="Text Placeholder 4">
            <a:extLst>
              <a:ext uri="{FF2B5EF4-FFF2-40B4-BE49-F238E27FC236}">
                <a16:creationId xmlns:a16="http://schemas.microsoft.com/office/drawing/2014/main" id="{70A5AABC-D41E-112B-F05C-C991C3A22C3B}"/>
              </a:ext>
            </a:extLst>
          </p:cNvPr>
          <p:cNvSpPr>
            <a:spLocks noGrp="1"/>
          </p:cNvSpPr>
          <p:nvPr>
            <p:ph type="body" sz="quarter" idx="3"/>
          </p:nvPr>
        </p:nvSpPr>
        <p:spPr>
          <a:xfrm>
            <a:off x="6400800" y="1262745"/>
            <a:ext cx="5105400" cy="827314"/>
          </a:xfrm>
        </p:spPr>
        <p:txBody>
          <a:bodyPr>
            <a:normAutofit/>
          </a:bodyPr>
          <a:lstStyle/>
          <a:p>
            <a:r>
              <a:rPr lang="en-IN" b="1" u="sng" dirty="0"/>
              <a:t>Benefits</a:t>
            </a:r>
          </a:p>
          <a:p>
            <a:endParaRPr lang="en-IN" dirty="0"/>
          </a:p>
        </p:txBody>
      </p:sp>
      <p:sp>
        <p:nvSpPr>
          <p:cNvPr id="6" name="Content Placeholder 5">
            <a:extLst>
              <a:ext uri="{FF2B5EF4-FFF2-40B4-BE49-F238E27FC236}">
                <a16:creationId xmlns:a16="http://schemas.microsoft.com/office/drawing/2014/main" id="{409B5955-E1A1-2B3F-C4E3-5374677A09DF}"/>
              </a:ext>
            </a:extLst>
          </p:cNvPr>
          <p:cNvSpPr>
            <a:spLocks noGrp="1"/>
          </p:cNvSpPr>
          <p:nvPr>
            <p:ph sz="quarter" idx="4"/>
          </p:nvPr>
        </p:nvSpPr>
        <p:spPr>
          <a:xfrm>
            <a:off x="6172200" y="2090059"/>
            <a:ext cx="5334000" cy="1959428"/>
          </a:xfrm>
        </p:spPr>
        <p:txBody>
          <a:bodyPr>
            <a:normAutofit lnSpcReduction="10000"/>
          </a:bodyPr>
          <a:lstStyle/>
          <a:p>
            <a:r>
              <a:rPr lang="en-IN" dirty="0"/>
              <a:t>Fast retrieval </a:t>
            </a:r>
          </a:p>
          <a:p>
            <a:r>
              <a:rPr lang="en-IN" dirty="0"/>
              <a:t>Data security </a:t>
            </a:r>
          </a:p>
          <a:p>
            <a:r>
              <a:rPr lang="en-IN" dirty="0"/>
              <a:t>Multi-user access </a:t>
            </a:r>
          </a:p>
          <a:p>
            <a:r>
              <a:rPr lang="en-IN" dirty="0"/>
              <a:t>Backup and recovery</a:t>
            </a:r>
          </a:p>
          <a:p>
            <a:endParaRPr lang="en-IN" dirty="0"/>
          </a:p>
        </p:txBody>
      </p:sp>
    </p:spTree>
    <p:extLst>
      <p:ext uri="{BB962C8B-B14F-4D97-AF65-F5344CB8AC3E}">
        <p14:creationId xmlns:p14="http://schemas.microsoft.com/office/powerpoint/2010/main" val="537440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EFDA-BE49-3B34-E469-7E73457FA5FA}"/>
              </a:ext>
            </a:extLst>
          </p:cNvPr>
          <p:cNvSpPr>
            <a:spLocks noGrp="1"/>
          </p:cNvSpPr>
          <p:nvPr>
            <p:ph type="title"/>
          </p:nvPr>
        </p:nvSpPr>
        <p:spPr>
          <a:xfrm>
            <a:off x="2895600" y="762000"/>
            <a:ext cx="8610600" cy="45719"/>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03E48B3D-B79E-5B5D-9FA5-00CE3309D987}"/>
              </a:ext>
            </a:extLst>
          </p:cNvPr>
          <p:cNvSpPr>
            <a:spLocks noGrp="1"/>
          </p:cNvSpPr>
          <p:nvPr>
            <p:ph type="body" idx="1"/>
          </p:nvPr>
        </p:nvSpPr>
        <p:spPr>
          <a:xfrm>
            <a:off x="917584" y="1338943"/>
            <a:ext cx="5079991" cy="1097281"/>
          </a:xfrm>
        </p:spPr>
        <p:txBody>
          <a:bodyPr>
            <a:normAutofit/>
          </a:bodyPr>
          <a:lstStyle/>
          <a:p>
            <a:r>
              <a:rPr lang="en-IN" b="1" dirty="0"/>
              <a:t>4. </a:t>
            </a:r>
            <a:r>
              <a:rPr lang="en-IN" b="1" u="sng" dirty="0"/>
              <a:t>APIs (Application Programming Interfaces)</a:t>
            </a:r>
          </a:p>
          <a:p>
            <a:endParaRPr lang="en-IN" dirty="0"/>
          </a:p>
        </p:txBody>
      </p:sp>
      <p:sp>
        <p:nvSpPr>
          <p:cNvPr id="4" name="Content Placeholder 3">
            <a:extLst>
              <a:ext uri="{FF2B5EF4-FFF2-40B4-BE49-F238E27FC236}">
                <a16:creationId xmlns:a16="http://schemas.microsoft.com/office/drawing/2014/main" id="{B627FED9-31ED-B1F6-D530-9819A96CC69D}"/>
              </a:ext>
            </a:extLst>
          </p:cNvPr>
          <p:cNvSpPr>
            <a:spLocks noGrp="1"/>
          </p:cNvSpPr>
          <p:nvPr>
            <p:ph sz="half" idx="2"/>
          </p:nvPr>
        </p:nvSpPr>
        <p:spPr>
          <a:xfrm>
            <a:off x="685800" y="2074822"/>
            <a:ext cx="5311775" cy="4143864"/>
          </a:xfrm>
        </p:spPr>
        <p:txBody>
          <a:bodyPr>
            <a:normAutofit lnSpcReduction="10000"/>
          </a:bodyPr>
          <a:lstStyle/>
          <a:p>
            <a:r>
              <a:rPr lang="en-IN" dirty="0"/>
              <a:t>An </a:t>
            </a:r>
            <a:r>
              <a:rPr lang="en-IN" b="1" dirty="0"/>
              <a:t>API</a:t>
            </a:r>
            <a:r>
              <a:rPr lang="en-IN" dirty="0"/>
              <a:t> is a set of rules that allows different software applications to communicate and exchange data.</a:t>
            </a:r>
          </a:p>
          <a:p>
            <a:endParaRPr lang="en-IN" dirty="0"/>
          </a:p>
          <a:p>
            <a:pPr marL="0" indent="0">
              <a:buNone/>
            </a:pPr>
            <a:r>
              <a:rPr lang="en-IN" sz="2800" b="1" u="sng" dirty="0"/>
              <a:t>Examples</a:t>
            </a:r>
          </a:p>
          <a:p>
            <a:endParaRPr lang="en-IN" b="1" dirty="0"/>
          </a:p>
          <a:p>
            <a:r>
              <a:rPr lang="en-IN" dirty="0"/>
              <a:t>Google Maps API </a:t>
            </a:r>
          </a:p>
          <a:p>
            <a:r>
              <a:rPr lang="en-IN" dirty="0"/>
              <a:t>Weather API </a:t>
            </a:r>
          </a:p>
          <a:p>
            <a:r>
              <a:rPr lang="en-IN" dirty="0"/>
              <a:t>Payment Gateway API </a:t>
            </a:r>
          </a:p>
          <a:p>
            <a:r>
              <a:rPr lang="en-IN" dirty="0"/>
              <a:t>Social Media APIs </a:t>
            </a:r>
          </a:p>
          <a:p>
            <a:r>
              <a:rPr lang="en-IN" dirty="0"/>
              <a:t>Banking APIs </a:t>
            </a:r>
          </a:p>
          <a:p>
            <a:endParaRPr lang="en-IN" dirty="0"/>
          </a:p>
        </p:txBody>
      </p:sp>
      <p:sp>
        <p:nvSpPr>
          <p:cNvPr id="5" name="Text Placeholder 4">
            <a:extLst>
              <a:ext uri="{FF2B5EF4-FFF2-40B4-BE49-F238E27FC236}">
                <a16:creationId xmlns:a16="http://schemas.microsoft.com/office/drawing/2014/main" id="{AE2AD880-5AC6-4BA9-37B8-AEA489FADB06}"/>
              </a:ext>
            </a:extLst>
          </p:cNvPr>
          <p:cNvSpPr>
            <a:spLocks noGrp="1"/>
          </p:cNvSpPr>
          <p:nvPr>
            <p:ph type="body" sz="quarter" idx="3"/>
          </p:nvPr>
        </p:nvSpPr>
        <p:spPr>
          <a:xfrm>
            <a:off x="6400800" y="914401"/>
            <a:ext cx="5105400" cy="1160420"/>
          </a:xfrm>
        </p:spPr>
        <p:txBody>
          <a:bodyPr>
            <a:normAutofit/>
          </a:bodyPr>
          <a:lstStyle/>
          <a:p>
            <a:r>
              <a:rPr lang="en-IN" b="1" u="sng" dirty="0"/>
              <a:t>Benefits</a:t>
            </a:r>
          </a:p>
          <a:p>
            <a:endParaRPr lang="en-IN" dirty="0"/>
          </a:p>
        </p:txBody>
      </p:sp>
      <p:sp>
        <p:nvSpPr>
          <p:cNvPr id="6" name="Content Placeholder 5">
            <a:extLst>
              <a:ext uri="{FF2B5EF4-FFF2-40B4-BE49-F238E27FC236}">
                <a16:creationId xmlns:a16="http://schemas.microsoft.com/office/drawing/2014/main" id="{74EB5CC3-2739-C638-9ABF-FB1DB3925B3C}"/>
              </a:ext>
            </a:extLst>
          </p:cNvPr>
          <p:cNvSpPr>
            <a:spLocks noGrp="1"/>
          </p:cNvSpPr>
          <p:nvPr>
            <p:ph sz="quarter" idx="4"/>
          </p:nvPr>
        </p:nvSpPr>
        <p:spPr>
          <a:xfrm>
            <a:off x="6172200" y="1905000"/>
            <a:ext cx="5334000" cy="4313685"/>
          </a:xfrm>
        </p:spPr>
        <p:txBody>
          <a:bodyPr>
            <a:normAutofit lnSpcReduction="10000"/>
          </a:bodyPr>
          <a:lstStyle/>
          <a:p>
            <a:r>
              <a:rPr lang="en-IN" dirty="0"/>
              <a:t>Real-time data </a:t>
            </a:r>
          </a:p>
          <a:p>
            <a:r>
              <a:rPr lang="en-IN" dirty="0"/>
              <a:t>Automation </a:t>
            </a:r>
          </a:p>
          <a:p>
            <a:r>
              <a:rPr lang="en-IN" dirty="0"/>
              <a:t>Easy integration </a:t>
            </a:r>
          </a:p>
          <a:p>
            <a:r>
              <a:rPr lang="en-IN" dirty="0"/>
              <a:t>Reduced development time</a:t>
            </a:r>
          </a:p>
          <a:p>
            <a:endParaRPr lang="en-IN" dirty="0"/>
          </a:p>
        </p:txBody>
      </p:sp>
    </p:spTree>
    <p:extLst>
      <p:ext uri="{BB962C8B-B14F-4D97-AF65-F5344CB8AC3E}">
        <p14:creationId xmlns:p14="http://schemas.microsoft.com/office/powerpoint/2010/main" val="1507956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F7426-9D26-21A3-3786-CAFDDE0A4C58}"/>
              </a:ext>
            </a:extLst>
          </p:cNvPr>
          <p:cNvSpPr>
            <a:spLocks noGrp="1"/>
          </p:cNvSpPr>
          <p:nvPr>
            <p:ph type="title"/>
          </p:nvPr>
        </p:nvSpPr>
        <p:spPr>
          <a:xfrm>
            <a:off x="4234543" y="174171"/>
            <a:ext cx="7641770" cy="1891695"/>
          </a:xfrm>
        </p:spPr>
        <p:txBody>
          <a:bodyPr>
            <a:normAutofit/>
          </a:bodyPr>
          <a:lstStyle/>
          <a:p>
            <a:pPr algn="l"/>
            <a:r>
              <a:rPr lang="en-IN" sz="3600" b="1" dirty="0"/>
              <a:t>C</a:t>
            </a:r>
            <a:r>
              <a:rPr lang="en-IN" sz="3600" b="1" u="sng" dirty="0"/>
              <a:t>. Data Collection Methods</a:t>
            </a:r>
            <a:br>
              <a:rPr lang="en-IN" sz="3600" b="1" u="sng" dirty="0"/>
            </a:br>
            <a:br>
              <a:rPr lang="en-IN" b="1" dirty="0"/>
            </a:br>
            <a:r>
              <a:rPr lang="en-IN" sz="1800" dirty="0"/>
              <a:t>Data collection is the process of gathering information from different sources for analysis and decision-making</a:t>
            </a:r>
          </a:p>
        </p:txBody>
      </p:sp>
      <p:sp>
        <p:nvSpPr>
          <p:cNvPr id="3" name="Text Placeholder 2">
            <a:extLst>
              <a:ext uri="{FF2B5EF4-FFF2-40B4-BE49-F238E27FC236}">
                <a16:creationId xmlns:a16="http://schemas.microsoft.com/office/drawing/2014/main" id="{6EB61ED5-E5B6-ADC5-8479-3F94BC2EA995}"/>
              </a:ext>
            </a:extLst>
          </p:cNvPr>
          <p:cNvSpPr>
            <a:spLocks noGrp="1"/>
          </p:cNvSpPr>
          <p:nvPr>
            <p:ph type="body" idx="1"/>
          </p:nvPr>
        </p:nvSpPr>
        <p:spPr>
          <a:xfrm>
            <a:off x="685800" y="2202080"/>
            <a:ext cx="3456432" cy="835034"/>
          </a:xfrm>
        </p:spPr>
        <p:txBody>
          <a:bodyPr/>
          <a:lstStyle/>
          <a:p>
            <a:r>
              <a:rPr lang="en-IN" b="1" u="sng" dirty="0"/>
              <a:t>1. Surveys</a:t>
            </a:r>
          </a:p>
          <a:p>
            <a:endParaRPr lang="en-IN" dirty="0"/>
          </a:p>
        </p:txBody>
      </p:sp>
      <p:sp>
        <p:nvSpPr>
          <p:cNvPr id="4" name="Text Placeholder 3">
            <a:extLst>
              <a:ext uri="{FF2B5EF4-FFF2-40B4-BE49-F238E27FC236}">
                <a16:creationId xmlns:a16="http://schemas.microsoft.com/office/drawing/2014/main" id="{1F5DA27A-D8BA-D05A-55F8-6F68820BCE66}"/>
              </a:ext>
            </a:extLst>
          </p:cNvPr>
          <p:cNvSpPr>
            <a:spLocks noGrp="1"/>
          </p:cNvSpPr>
          <p:nvPr>
            <p:ph type="body" sz="half" idx="15"/>
          </p:nvPr>
        </p:nvSpPr>
        <p:spPr>
          <a:xfrm>
            <a:off x="457289" y="2449286"/>
            <a:ext cx="3684942" cy="4408713"/>
          </a:xfrm>
        </p:spPr>
        <p:txBody>
          <a:bodyPr>
            <a:normAutofit/>
          </a:bodyPr>
          <a:lstStyle/>
          <a:p>
            <a:br>
              <a:rPr lang="en-IN" dirty="0"/>
            </a:br>
            <a:br>
              <a:rPr lang="en-IN" b="1" dirty="0"/>
            </a:br>
            <a:r>
              <a:rPr lang="en-IN" dirty="0"/>
              <a:t>Questionnaires used to collect opinions or feedback.</a:t>
            </a:r>
          </a:p>
          <a:p>
            <a:br>
              <a:rPr lang="en-IN" dirty="0"/>
            </a:br>
            <a:r>
              <a:rPr lang="en-IN" sz="2400" b="1" u="sng" dirty="0"/>
              <a:t>Examples</a:t>
            </a:r>
          </a:p>
          <a:p>
            <a:pPr marL="285750" indent="-285750">
              <a:buFont typeface="Wingdings" panose="05000000000000000000" pitchFamily="2" charset="2"/>
              <a:buChar char="§"/>
            </a:pPr>
            <a:r>
              <a:rPr lang="en-IN" dirty="0"/>
              <a:t>Customer satisfaction surveys </a:t>
            </a:r>
          </a:p>
          <a:p>
            <a:pPr marL="285750" indent="-285750">
              <a:buFont typeface="Wingdings" panose="05000000000000000000" pitchFamily="2" charset="2"/>
              <a:buChar char="§"/>
            </a:pPr>
            <a:r>
              <a:rPr lang="en-IN" dirty="0"/>
              <a:t>Employee feedback surveys </a:t>
            </a:r>
          </a:p>
          <a:p>
            <a:br>
              <a:rPr lang="en-IN" sz="2400" u="sng" dirty="0"/>
            </a:br>
            <a:r>
              <a:rPr lang="en-IN" sz="2400" b="1" u="sng" dirty="0"/>
              <a:t>Advantages</a:t>
            </a:r>
          </a:p>
          <a:p>
            <a:pPr marL="285750" indent="-285750">
              <a:buFont typeface="Wingdings" panose="05000000000000000000" pitchFamily="2" charset="2"/>
              <a:buChar char="§"/>
            </a:pPr>
            <a:r>
              <a:rPr lang="en-IN" dirty="0"/>
              <a:t>Low cost </a:t>
            </a:r>
          </a:p>
          <a:p>
            <a:pPr marL="285750" indent="-285750">
              <a:buFont typeface="Wingdings" panose="05000000000000000000" pitchFamily="2" charset="2"/>
              <a:buChar char="§"/>
            </a:pPr>
            <a:r>
              <a:rPr lang="en-IN" dirty="0"/>
              <a:t>Easy to distribute </a:t>
            </a:r>
          </a:p>
          <a:p>
            <a:pPr marL="285750" indent="-285750">
              <a:buFont typeface="Wingdings" panose="05000000000000000000" pitchFamily="2" charset="2"/>
              <a:buChar char="§"/>
            </a:pPr>
            <a:r>
              <a:rPr lang="en-IN" dirty="0"/>
              <a:t>Large sample size </a:t>
            </a:r>
            <a:br>
              <a:rPr lang="en-IN" dirty="0"/>
            </a:br>
            <a:endParaRPr lang="en-IN" dirty="0"/>
          </a:p>
        </p:txBody>
      </p:sp>
      <p:sp>
        <p:nvSpPr>
          <p:cNvPr id="5" name="Text Placeholder 4">
            <a:extLst>
              <a:ext uri="{FF2B5EF4-FFF2-40B4-BE49-F238E27FC236}">
                <a16:creationId xmlns:a16="http://schemas.microsoft.com/office/drawing/2014/main" id="{D6DDE639-4702-2410-FB0A-B0AC31B35F43}"/>
              </a:ext>
            </a:extLst>
          </p:cNvPr>
          <p:cNvSpPr>
            <a:spLocks noGrp="1"/>
          </p:cNvSpPr>
          <p:nvPr>
            <p:ph type="body" sz="quarter" idx="3"/>
          </p:nvPr>
        </p:nvSpPr>
        <p:spPr>
          <a:xfrm>
            <a:off x="4368800" y="2201333"/>
            <a:ext cx="3456432" cy="835034"/>
          </a:xfrm>
        </p:spPr>
        <p:txBody>
          <a:bodyPr/>
          <a:lstStyle/>
          <a:p>
            <a:r>
              <a:rPr lang="en-IN" b="1" u="sng" dirty="0"/>
              <a:t>2. Interviews</a:t>
            </a:r>
          </a:p>
          <a:p>
            <a:endParaRPr lang="en-IN" dirty="0"/>
          </a:p>
        </p:txBody>
      </p:sp>
      <p:sp>
        <p:nvSpPr>
          <p:cNvPr id="6" name="Text Placeholder 5">
            <a:extLst>
              <a:ext uri="{FF2B5EF4-FFF2-40B4-BE49-F238E27FC236}">
                <a16:creationId xmlns:a16="http://schemas.microsoft.com/office/drawing/2014/main" id="{6759B235-E516-0D87-39DC-064962556352}"/>
              </a:ext>
            </a:extLst>
          </p:cNvPr>
          <p:cNvSpPr>
            <a:spLocks noGrp="1"/>
          </p:cNvSpPr>
          <p:nvPr>
            <p:ph type="body" sz="half" idx="16"/>
          </p:nvPr>
        </p:nvSpPr>
        <p:spPr>
          <a:xfrm>
            <a:off x="4367784" y="2819400"/>
            <a:ext cx="3456432" cy="3864429"/>
          </a:xfrm>
        </p:spPr>
        <p:txBody>
          <a:bodyPr/>
          <a:lstStyle/>
          <a:p>
            <a:r>
              <a:rPr lang="en-IN" dirty="0"/>
              <a:t>Direct communication with respondents.</a:t>
            </a:r>
          </a:p>
          <a:p>
            <a:endParaRPr lang="en-IN" dirty="0"/>
          </a:p>
          <a:p>
            <a:r>
              <a:rPr lang="en-IN" sz="2400" b="1" u="sng" dirty="0"/>
              <a:t>Types</a:t>
            </a:r>
          </a:p>
          <a:p>
            <a:pPr marL="285750" indent="-285750">
              <a:buFont typeface="Wingdings" panose="05000000000000000000" pitchFamily="2" charset="2"/>
              <a:buChar char="§"/>
            </a:pPr>
            <a:r>
              <a:rPr lang="en-IN" dirty="0"/>
              <a:t>Structured </a:t>
            </a:r>
          </a:p>
          <a:p>
            <a:pPr marL="285750" indent="-285750">
              <a:buFont typeface="Wingdings" panose="05000000000000000000" pitchFamily="2" charset="2"/>
              <a:buChar char="§"/>
            </a:pPr>
            <a:r>
              <a:rPr lang="en-IN" dirty="0"/>
              <a:t>Semi-structured </a:t>
            </a:r>
          </a:p>
          <a:p>
            <a:pPr marL="285750" indent="-285750">
              <a:buFont typeface="Wingdings" panose="05000000000000000000" pitchFamily="2" charset="2"/>
              <a:buChar char="§"/>
            </a:pPr>
            <a:r>
              <a:rPr lang="en-IN" dirty="0"/>
              <a:t>Unstructured </a:t>
            </a:r>
          </a:p>
          <a:p>
            <a:endParaRPr lang="en-IN" dirty="0"/>
          </a:p>
          <a:p>
            <a:r>
              <a:rPr lang="en-IN" sz="2400" b="1" u="sng" dirty="0"/>
              <a:t>Advantages</a:t>
            </a:r>
          </a:p>
          <a:p>
            <a:pPr marL="285750" indent="-285750">
              <a:buFont typeface="Wingdings" panose="05000000000000000000" pitchFamily="2" charset="2"/>
              <a:buChar char="§"/>
            </a:pPr>
            <a:r>
              <a:rPr lang="en-IN" dirty="0"/>
              <a:t>Detailed responses </a:t>
            </a:r>
          </a:p>
          <a:p>
            <a:pPr marL="285750" indent="-285750">
              <a:buFont typeface="Wingdings" panose="05000000000000000000" pitchFamily="2" charset="2"/>
              <a:buChar char="§"/>
            </a:pPr>
            <a:r>
              <a:rPr lang="en-IN" dirty="0"/>
              <a:t>Better understanding</a:t>
            </a:r>
          </a:p>
          <a:p>
            <a:endParaRPr lang="en-IN" dirty="0"/>
          </a:p>
        </p:txBody>
      </p:sp>
      <p:sp>
        <p:nvSpPr>
          <p:cNvPr id="7" name="Text Placeholder 6">
            <a:extLst>
              <a:ext uri="{FF2B5EF4-FFF2-40B4-BE49-F238E27FC236}">
                <a16:creationId xmlns:a16="http://schemas.microsoft.com/office/drawing/2014/main" id="{5C5DAEAE-5E1A-C22B-7302-4F132E959D78}"/>
              </a:ext>
            </a:extLst>
          </p:cNvPr>
          <p:cNvSpPr>
            <a:spLocks noGrp="1"/>
          </p:cNvSpPr>
          <p:nvPr>
            <p:ph type="body" sz="quarter" idx="13"/>
          </p:nvPr>
        </p:nvSpPr>
        <p:spPr>
          <a:xfrm>
            <a:off x="8051800" y="2192865"/>
            <a:ext cx="3456432" cy="843501"/>
          </a:xfrm>
        </p:spPr>
        <p:txBody>
          <a:bodyPr/>
          <a:lstStyle/>
          <a:p>
            <a:r>
              <a:rPr lang="en-IN" b="1" u="sng" dirty="0"/>
              <a:t>3</a:t>
            </a:r>
            <a:r>
              <a:rPr lang="en-IN" b="1" i="1" u="sng" dirty="0"/>
              <a:t>. Observation</a:t>
            </a:r>
          </a:p>
          <a:p>
            <a:endParaRPr lang="en-IN" dirty="0"/>
          </a:p>
        </p:txBody>
      </p:sp>
      <p:sp>
        <p:nvSpPr>
          <p:cNvPr id="8" name="Text Placeholder 7">
            <a:extLst>
              <a:ext uri="{FF2B5EF4-FFF2-40B4-BE49-F238E27FC236}">
                <a16:creationId xmlns:a16="http://schemas.microsoft.com/office/drawing/2014/main" id="{39DDB162-260D-6310-1A38-0A3050DB9214}"/>
              </a:ext>
            </a:extLst>
          </p:cNvPr>
          <p:cNvSpPr>
            <a:spLocks noGrp="1"/>
          </p:cNvSpPr>
          <p:nvPr>
            <p:ph type="body" sz="half" idx="17"/>
          </p:nvPr>
        </p:nvSpPr>
        <p:spPr>
          <a:xfrm>
            <a:off x="8051801" y="2904565"/>
            <a:ext cx="3456432" cy="3594206"/>
          </a:xfrm>
        </p:spPr>
        <p:txBody>
          <a:bodyPr/>
          <a:lstStyle/>
          <a:p>
            <a:r>
              <a:rPr lang="en-IN" dirty="0"/>
              <a:t>Collecting data by watching people or processes.</a:t>
            </a:r>
          </a:p>
          <a:p>
            <a:endParaRPr lang="en-IN" dirty="0"/>
          </a:p>
          <a:p>
            <a:r>
              <a:rPr lang="en-IN" sz="2400" b="1" u="sng" dirty="0"/>
              <a:t>Examples</a:t>
            </a:r>
          </a:p>
          <a:p>
            <a:pPr marL="285750" indent="-285750">
              <a:buFont typeface="Wingdings" panose="05000000000000000000" pitchFamily="2" charset="2"/>
              <a:buChar char="§"/>
            </a:pPr>
            <a:r>
              <a:rPr lang="en-IN" dirty="0"/>
              <a:t>Monitoring customer </a:t>
            </a:r>
            <a:r>
              <a:rPr lang="en-IN" dirty="0" err="1"/>
              <a:t>behavior</a:t>
            </a:r>
            <a:r>
              <a:rPr lang="en-IN" dirty="0"/>
              <a:t> </a:t>
            </a:r>
          </a:p>
          <a:p>
            <a:pPr marL="285750" indent="-285750">
              <a:buFont typeface="Wingdings" panose="05000000000000000000" pitchFamily="2" charset="2"/>
              <a:buChar char="§"/>
            </a:pPr>
            <a:r>
              <a:rPr lang="en-IN" dirty="0"/>
              <a:t>Factory production observation </a:t>
            </a:r>
          </a:p>
          <a:p>
            <a:endParaRPr lang="en-IN" dirty="0"/>
          </a:p>
          <a:p>
            <a:r>
              <a:rPr lang="en-IN" sz="2400" b="1" u="sng" dirty="0"/>
              <a:t>Advantages</a:t>
            </a:r>
          </a:p>
          <a:p>
            <a:pPr marL="285750" indent="-285750">
              <a:buFont typeface="Wingdings" panose="05000000000000000000" pitchFamily="2" charset="2"/>
              <a:buChar char="§"/>
            </a:pPr>
            <a:r>
              <a:rPr lang="en-IN" dirty="0"/>
              <a:t>Real-time information </a:t>
            </a:r>
          </a:p>
          <a:p>
            <a:pPr marL="285750" indent="-285750">
              <a:buFont typeface="Wingdings" panose="05000000000000000000" pitchFamily="2" charset="2"/>
              <a:buChar char="§"/>
            </a:pPr>
            <a:r>
              <a:rPr lang="en-IN" dirty="0"/>
              <a:t>Natural </a:t>
            </a:r>
            <a:r>
              <a:rPr lang="en-IN" dirty="0" err="1"/>
              <a:t>behavior</a:t>
            </a:r>
            <a:r>
              <a:rPr lang="en-IN" dirty="0"/>
              <a:t> </a:t>
            </a:r>
          </a:p>
          <a:p>
            <a:endParaRPr lang="en-IN" dirty="0"/>
          </a:p>
        </p:txBody>
      </p:sp>
    </p:spTree>
    <p:extLst>
      <p:ext uri="{BB962C8B-B14F-4D97-AF65-F5344CB8AC3E}">
        <p14:creationId xmlns:p14="http://schemas.microsoft.com/office/powerpoint/2010/main" val="10020977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809369B-6C4E-4B29-712B-C7AB9E8359BD}"/>
              </a:ext>
            </a:extLst>
          </p:cNvPr>
          <p:cNvSpPr>
            <a:spLocks noGrp="1"/>
          </p:cNvSpPr>
          <p:nvPr>
            <p:ph type="title"/>
          </p:nvPr>
        </p:nvSpPr>
        <p:spPr>
          <a:xfrm>
            <a:off x="2895600" y="206830"/>
            <a:ext cx="8610600" cy="272142"/>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A19C6D51-7D6D-B3A6-0949-7D4BC18E8246}"/>
              </a:ext>
            </a:extLst>
          </p:cNvPr>
          <p:cNvSpPr>
            <a:spLocks noGrp="1"/>
          </p:cNvSpPr>
          <p:nvPr>
            <p:ph type="body" idx="1"/>
          </p:nvPr>
        </p:nvSpPr>
        <p:spPr>
          <a:xfrm>
            <a:off x="914409" y="1828800"/>
            <a:ext cx="5079991" cy="936171"/>
          </a:xfrm>
        </p:spPr>
        <p:txBody>
          <a:bodyPr/>
          <a:lstStyle/>
          <a:p>
            <a:r>
              <a:rPr lang="en-IN" b="1" u="sng" dirty="0"/>
              <a:t>4. Experiments</a:t>
            </a:r>
          </a:p>
          <a:p>
            <a:endParaRPr lang="en-IN" dirty="0"/>
          </a:p>
        </p:txBody>
      </p:sp>
      <p:sp>
        <p:nvSpPr>
          <p:cNvPr id="6" name="Text Placeholder 5">
            <a:extLst>
              <a:ext uri="{FF2B5EF4-FFF2-40B4-BE49-F238E27FC236}">
                <a16:creationId xmlns:a16="http://schemas.microsoft.com/office/drawing/2014/main" id="{5266F31F-BBDE-2676-969D-D38C661001FA}"/>
              </a:ext>
            </a:extLst>
          </p:cNvPr>
          <p:cNvSpPr>
            <a:spLocks noGrp="1"/>
          </p:cNvSpPr>
          <p:nvPr>
            <p:ph sz="half" idx="2"/>
          </p:nvPr>
        </p:nvSpPr>
        <p:spPr>
          <a:xfrm>
            <a:off x="685800" y="2558144"/>
            <a:ext cx="5311775" cy="3660542"/>
          </a:xfrm>
        </p:spPr>
        <p:txBody>
          <a:bodyPr>
            <a:normAutofit fontScale="92500" lnSpcReduction="10000"/>
          </a:bodyPr>
          <a:lstStyle/>
          <a:p>
            <a:endParaRPr lang="en-IN" dirty="0"/>
          </a:p>
          <a:p>
            <a:r>
              <a:rPr lang="en-IN" dirty="0"/>
              <a:t>Automatically collect environmental or machine data.</a:t>
            </a:r>
          </a:p>
          <a:p>
            <a:pPr marL="0" indent="0">
              <a:buNone/>
            </a:pPr>
            <a:endParaRPr lang="en-IN" dirty="0"/>
          </a:p>
          <a:p>
            <a:pPr marL="0" indent="0">
              <a:buNone/>
            </a:pPr>
            <a:r>
              <a:rPr lang="en-IN" b="1" u="sng" dirty="0"/>
              <a:t>Examples</a:t>
            </a:r>
          </a:p>
          <a:p>
            <a:pPr marL="0" indent="0">
              <a:buNone/>
            </a:pPr>
            <a:endParaRPr lang="en-IN" b="1" dirty="0"/>
          </a:p>
          <a:p>
            <a:r>
              <a:rPr lang="en-IN" dirty="0"/>
              <a:t>GPS devices </a:t>
            </a:r>
          </a:p>
          <a:p>
            <a:r>
              <a:rPr lang="en-IN" dirty="0"/>
              <a:t>Smart meters </a:t>
            </a:r>
          </a:p>
          <a:p>
            <a:r>
              <a:rPr lang="en-IN" dirty="0"/>
              <a:t>Wearable fitness trackers </a:t>
            </a:r>
          </a:p>
          <a:p>
            <a:r>
              <a:rPr lang="en-IN" dirty="0"/>
              <a:t>Temperature sensors</a:t>
            </a:r>
          </a:p>
          <a:p>
            <a:endParaRPr lang="en-IN" dirty="0"/>
          </a:p>
        </p:txBody>
      </p:sp>
      <p:sp>
        <p:nvSpPr>
          <p:cNvPr id="5" name="Text Placeholder 4">
            <a:extLst>
              <a:ext uri="{FF2B5EF4-FFF2-40B4-BE49-F238E27FC236}">
                <a16:creationId xmlns:a16="http://schemas.microsoft.com/office/drawing/2014/main" id="{BB18C984-AD22-4293-DA41-159115A95F50}"/>
              </a:ext>
            </a:extLst>
          </p:cNvPr>
          <p:cNvSpPr>
            <a:spLocks noGrp="1"/>
          </p:cNvSpPr>
          <p:nvPr>
            <p:ph type="body" sz="quarter" idx="3"/>
          </p:nvPr>
        </p:nvSpPr>
        <p:spPr>
          <a:xfrm>
            <a:off x="6400800" y="1513114"/>
            <a:ext cx="5105400" cy="1251857"/>
          </a:xfrm>
        </p:spPr>
        <p:txBody>
          <a:bodyPr/>
          <a:lstStyle/>
          <a:p>
            <a:r>
              <a:rPr lang="en-IN" b="1" u="sng" dirty="0"/>
              <a:t>5. Sensors and IoT Devices</a:t>
            </a:r>
          </a:p>
          <a:p>
            <a:endParaRPr lang="en-IN" dirty="0"/>
          </a:p>
        </p:txBody>
      </p:sp>
      <p:sp>
        <p:nvSpPr>
          <p:cNvPr id="4" name="Text Placeholder 3">
            <a:extLst>
              <a:ext uri="{FF2B5EF4-FFF2-40B4-BE49-F238E27FC236}">
                <a16:creationId xmlns:a16="http://schemas.microsoft.com/office/drawing/2014/main" id="{82F9BBB7-F267-C90C-DC58-8F742AC11BAF}"/>
              </a:ext>
            </a:extLst>
          </p:cNvPr>
          <p:cNvSpPr>
            <a:spLocks noGrp="1"/>
          </p:cNvSpPr>
          <p:nvPr>
            <p:ph sz="quarter" idx="4"/>
          </p:nvPr>
        </p:nvSpPr>
        <p:spPr>
          <a:xfrm>
            <a:off x="6172200" y="2558144"/>
            <a:ext cx="5334000" cy="3660542"/>
          </a:xfrm>
        </p:spPr>
        <p:txBody>
          <a:bodyPr>
            <a:normAutofit fontScale="92500" lnSpcReduction="10000"/>
          </a:bodyPr>
          <a:lstStyle/>
          <a:p>
            <a:endParaRPr lang="en-IN" dirty="0"/>
          </a:p>
          <a:p>
            <a:r>
              <a:rPr lang="en-IN" dirty="0"/>
              <a:t>Testing hypotheses under controlled conditions.</a:t>
            </a:r>
          </a:p>
          <a:p>
            <a:endParaRPr lang="en-IN" dirty="0"/>
          </a:p>
          <a:p>
            <a:pPr marL="0" indent="0">
              <a:buNone/>
            </a:pPr>
            <a:r>
              <a:rPr lang="en-IN" b="1" u="sng" dirty="0"/>
              <a:t>Examples</a:t>
            </a:r>
          </a:p>
          <a:p>
            <a:pPr marL="0" indent="0">
              <a:buNone/>
            </a:pPr>
            <a:endParaRPr lang="en-IN" b="1" dirty="0"/>
          </a:p>
          <a:p>
            <a:r>
              <a:rPr lang="en-IN" dirty="0"/>
              <a:t>Product testing </a:t>
            </a:r>
          </a:p>
          <a:p>
            <a:r>
              <a:rPr lang="en-IN" dirty="0"/>
              <a:t>A/B testing of websites </a:t>
            </a:r>
          </a:p>
          <a:p>
            <a:pPr marL="0" indent="0">
              <a:buNone/>
            </a:pPr>
            <a:br>
              <a:rPr lang="en-IN" dirty="0"/>
            </a:br>
            <a:endParaRPr lang="en-IN" dirty="0"/>
          </a:p>
          <a:p>
            <a:endParaRPr lang="en-IN" dirty="0"/>
          </a:p>
        </p:txBody>
      </p:sp>
    </p:spTree>
    <p:extLst>
      <p:ext uri="{BB962C8B-B14F-4D97-AF65-F5344CB8AC3E}">
        <p14:creationId xmlns:p14="http://schemas.microsoft.com/office/powerpoint/2010/main" val="677540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EA1B0-8867-6A83-A002-7253FE20505A}"/>
              </a:ext>
            </a:extLst>
          </p:cNvPr>
          <p:cNvSpPr>
            <a:spLocks noGrp="1"/>
          </p:cNvSpPr>
          <p:nvPr>
            <p:ph type="title"/>
          </p:nvPr>
        </p:nvSpPr>
        <p:spPr>
          <a:xfrm>
            <a:off x="2895600" y="794657"/>
            <a:ext cx="8610600" cy="87086"/>
          </a:xfrm>
        </p:spPr>
        <p:txBody>
          <a:bodyPr>
            <a:normAutofit fontScale="90000"/>
          </a:bodyPr>
          <a:lstStyle/>
          <a:p>
            <a:r>
              <a:rPr lang="en-IN" dirty="0">
                <a:solidFill>
                  <a:schemeClr val="bg1"/>
                </a:solidFill>
              </a:rPr>
              <a:t>.</a:t>
            </a:r>
            <a:br>
              <a:rPr lang="en-IN" dirty="0">
                <a:solidFill>
                  <a:schemeClr val="bg1"/>
                </a:solidFill>
              </a:rPr>
            </a:br>
            <a:endParaRPr lang="en-IN" dirty="0">
              <a:solidFill>
                <a:schemeClr val="bg1"/>
              </a:solidFill>
            </a:endParaRPr>
          </a:p>
        </p:txBody>
      </p:sp>
      <p:sp>
        <p:nvSpPr>
          <p:cNvPr id="3" name="Text Placeholder 2">
            <a:extLst>
              <a:ext uri="{FF2B5EF4-FFF2-40B4-BE49-F238E27FC236}">
                <a16:creationId xmlns:a16="http://schemas.microsoft.com/office/drawing/2014/main" id="{EEFD8D90-56F8-81DD-73FD-408CA3E194DF}"/>
              </a:ext>
            </a:extLst>
          </p:cNvPr>
          <p:cNvSpPr>
            <a:spLocks noGrp="1"/>
          </p:cNvSpPr>
          <p:nvPr>
            <p:ph type="body" idx="1"/>
          </p:nvPr>
        </p:nvSpPr>
        <p:spPr>
          <a:xfrm>
            <a:off x="914409" y="2183802"/>
            <a:ext cx="5079991" cy="948864"/>
          </a:xfrm>
        </p:spPr>
        <p:txBody>
          <a:bodyPr>
            <a:normAutofit/>
          </a:bodyPr>
          <a:lstStyle/>
          <a:p>
            <a:r>
              <a:rPr lang="en-IN" b="1" dirty="0"/>
              <a:t>6</a:t>
            </a:r>
            <a:r>
              <a:rPr lang="en-IN" b="1" u="sng" dirty="0"/>
              <a:t>. Online Forms and Websites</a:t>
            </a:r>
          </a:p>
          <a:p>
            <a:endParaRPr lang="en-IN" dirty="0"/>
          </a:p>
        </p:txBody>
      </p:sp>
      <p:sp>
        <p:nvSpPr>
          <p:cNvPr id="4" name="Content Placeholder 3">
            <a:extLst>
              <a:ext uri="{FF2B5EF4-FFF2-40B4-BE49-F238E27FC236}">
                <a16:creationId xmlns:a16="http://schemas.microsoft.com/office/drawing/2014/main" id="{784E8E7F-DD09-69ED-A195-9B5A307B8D3B}"/>
              </a:ext>
            </a:extLst>
          </p:cNvPr>
          <p:cNvSpPr>
            <a:spLocks noGrp="1"/>
          </p:cNvSpPr>
          <p:nvPr>
            <p:ph sz="half" idx="2"/>
          </p:nvPr>
        </p:nvSpPr>
        <p:spPr>
          <a:xfrm>
            <a:off x="685800" y="2873829"/>
            <a:ext cx="5311775" cy="3581399"/>
          </a:xfrm>
        </p:spPr>
        <p:txBody>
          <a:bodyPr>
            <a:normAutofit fontScale="85000" lnSpcReduction="20000"/>
          </a:bodyPr>
          <a:lstStyle/>
          <a:p>
            <a:r>
              <a:rPr lang="en-IN" dirty="0"/>
              <a:t>Organizations collect information through websites and applications.</a:t>
            </a:r>
          </a:p>
          <a:p>
            <a:endParaRPr lang="en-IN" sz="3400" dirty="0"/>
          </a:p>
          <a:p>
            <a:pPr marL="0" indent="0">
              <a:buNone/>
            </a:pPr>
            <a:r>
              <a:rPr lang="en-IN" sz="3400" b="1" u="sng" dirty="0"/>
              <a:t>Examples:</a:t>
            </a:r>
          </a:p>
          <a:p>
            <a:endParaRPr lang="en-IN" b="1" u="sng" dirty="0"/>
          </a:p>
          <a:p>
            <a:r>
              <a:rPr lang="en-IN" dirty="0"/>
              <a:t>Registration forms </a:t>
            </a:r>
          </a:p>
          <a:p>
            <a:r>
              <a:rPr lang="en-IN" dirty="0"/>
              <a:t>Contact forms </a:t>
            </a:r>
          </a:p>
          <a:p>
            <a:r>
              <a:rPr lang="en-IN" dirty="0"/>
              <a:t>Online purchases </a:t>
            </a:r>
          </a:p>
          <a:p>
            <a:r>
              <a:rPr lang="en-IN" dirty="0"/>
              <a:t>Feedback forms </a:t>
            </a:r>
          </a:p>
          <a:p>
            <a:pPr marL="0" indent="0">
              <a:buNone/>
            </a:pPr>
            <a:br>
              <a:rPr lang="en-IN" dirty="0"/>
            </a:br>
            <a:endParaRPr lang="en-IN" dirty="0"/>
          </a:p>
          <a:p>
            <a:endParaRPr lang="en-IN" dirty="0"/>
          </a:p>
        </p:txBody>
      </p:sp>
      <p:sp>
        <p:nvSpPr>
          <p:cNvPr id="5" name="Text Placeholder 4">
            <a:extLst>
              <a:ext uri="{FF2B5EF4-FFF2-40B4-BE49-F238E27FC236}">
                <a16:creationId xmlns:a16="http://schemas.microsoft.com/office/drawing/2014/main" id="{04A32D85-5F0A-96C5-59E7-4D6BD10F0B69}"/>
              </a:ext>
            </a:extLst>
          </p:cNvPr>
          <p:cNvSpPr>
            <a:spLocks noGrp="1"/>
          </p:cNvSpPr>
          <p:nvPr>
            <p:ph type="body" sz="quarter" idx="3"/>
          </p:nvPr>
        </p:nvSpPr>
        <p:spPr>
          <a:xfrm>
            <a:off x="6400800" y="1709058"/>
            <a:ext cx="5105400" cy="948864"/>
          </a:xfrm>
        </p:spPr>
        <p:txBody>
          <a:bodyPr>
            <a:normAutofit/>
          </a:bodyPr>
          <a:lstStyle/>
          <a:p>
            <a:r>
              <a:rPr lang="en-IN" b="1" dirty="0"/>
              <a:t>7. </a:t>
            </a:r>
            <a:r>
              <a:rPr lang="en-IN" b="1" u="sng" dirty="0"/>
              <a:t>Mobile Applications</a:t>
            </a:r>
          </a:p>
          <a:p>
            <a:endParaRPr lang="en-IN" dirty="0"/>
          </a:p>
        </p:txBody>
      </p:sp>
      <p:sp>
        <p:nvSpPr>
          <p:cNvPr id="6" name="Content Placeholder 5">
            <a:extLst>
              <a:ext uri="{FF2B5EF4-FFF2-40B4-BE49-F238E27FC236}">
                <a16:creationId xmlns:a16="http://schemas.microsoft.com/office/drawing/2014/main" id="{D2CD290C-D795-18D4-A719-AE2187ED58E3}"/>
              </a:ext>
            </a:extLst>
          </p:cNvPr>
          <p:cNvSpPr>
            <a:spLocks noGrp="1"/>
          </p:cNvSpPr>
          <p:nvPr>
            <p:ph sz="quarter" idx="4"/>
          </p:nvPr>
        </p:nvSpPr>
        <p:spPr>
          <a:xfrm>
            <a:off x="6868886" y="2657069"/>
            <a:ext cx="3624943" cy="3086019"/>
          </a:xfrm>
        </p:spPr>
        <p:txBody>
          <a:bodyPr>
            <a:normAutofit fontScale="85000" lnSpcReduction="20000"/>
          </a:bodyPr>
          <a:lstStyle/>
          <a:p>
            <a:r>
              <a:rPr lang="en-IN" sz="2900" dirty="0"/>
              <a:t>Apps collect:</a:t>
            </a:r>
          </a:p>
          <a:p>
            <a:r>
              <a:rPr lang="en-IN" sz="2900" dirty="0"/>
              <a:t>User activity </a:t>
            </a:r>
          </a:p>
          <a:p>
            <a:r>
              <a:rPr lang="en-IN" sz="2900" dirty="0"/>
              <a:t>Location </a:t>
            </a:r>
          </a:p>
          <a:p>
            <a:r>
              <a:rPr lang="en-IN" sz="2900" dirty="0"/>
              <a:t>Purchase history </a:t>
            </a:r>
          </a:p>
          <a:p>
            <a:r>
              <a:rPr lang="en-IN" sz="2900" dirty="0"/>
              <a:t>Device information</a:t>
            </a:r>
          </a:p>
          <a:p>
            <a:endParaRPr lang="en-IN" dirty="0"/>
          </a:p>
        </p:txBody>
      </p:sp>
    </p:spTree>
    <p:extLst>
      <p:ext uri="{BB962C8B-B14F-4D97-AF65-F5344CB8AC3E}">
        <p14:creationId xmlns:p14="http://schemas.microsoft.com/office/powerpoint/2010/main" val="27563679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5F3D-8FC4-4C78-9458-99C583F47D92}"/>
              </a:ext>
            </a:extLst>
          </p:cNvPr>
          <p:cNvSpPr>
            <a:spLocks noGrp="1"/>
          </p:cNvSpPr>
          <p:nvPr>
            <p:ph type="ctrTitle"/>
          </p:nvPr>
        </p:nvSpPr>
        <p:spPr>
          <a:xfrm>
            <a:off x="2667000" y="936172"/>
            <a:ext cx="8926286" cy="1132114"/>
          </a:xfrm>
        </p:spPr>
        <p:txBody>
          <a:bodyPr>
            <a:normAutofit/>
          </a:bodyPr>
          <a:lstStyle/>
          <a:p>
            <a:r>
              <a:rPr lang="en-IN" sz="3600" b="1" u="sng" dirty="0"/>
              <a:t>Best Practices for Data Collection</a:t>
            </a:r>
            <a:br>
              <a:rPr lang="en-IN" sz="3600" b="1" u="sng" dirty="0"/>
            </a:br>
            <a:endParaRPr lang="en-IN" sz="3600" u="sng" dirty="0"/>
          </a:p>
        </p:txBody>
      </p:sp>
      <p:sp>
        <p:nvSpPr>
          <p:cNvPr id="3" name="Subtitle 2">
            <a:extLst>
              <a:ext uri="{FF2B5EF4-FFF2-40B4-BE49-F238E27FC236}">
                <a16:creationId xmlns:a16="http://schemas.microsoft.com/office/drawing/2014/main" id="{9DD35103-EF4C-F3EF-E330-E61315501B5B}"/>
              </a:ext>
            </a:extLst>
          </p:cNvPr>
          <p:cNvSpPr>
            <a:spLocks noGrp="1"/>
          </p:cNvSpPr>
          <p:nvPr>
            <p:ph type="subTitle" idx="1"/>
          </p:nvPr>
        </p:nvSpPr>
        <p:spPr>
          <a:xfrm>
            <a:off x="2841171" y="1807029"/>
            <a:ext cx="9448800" cy="2648787"/>
          </a:xfrm>
        </p:spPr>
        <p:txBody>
          <a:bodyPr>
            <a:normAutofit/>
          </a:bodyPr>
          <a:lstStyle/>
          <a:p>
            <a:pPr marL="342900" indent="-342900">
              <a:buFont typeface="Wingdings" panose="05000000000000000000" pitchFamily="2" charset="2"/>
              <a:buChar char="ü"/>
            </a:pPr>
            <a:r>
              <a:rPr lang="en-IN" dirty="0"/>
              <a:t>Collect only necessary data. </a:t>
            </a:r>
          </a:p>
          <a:p>
            <a:pPr marL="342900" indent="-342900">
              <a:buFont typeface="Wingdings" panose="05000000000000000000" pitchFamily="2" charset="2"/>
              <a:buChar char="ü"/>
            </a:pPr>
            <a:r>
              <a:rPr lang="en-IN" dirty="0"/>
              <a:t>Obtain user consent. </a:t>
            </a:r>
          </a:p>
          <a:p>
            <a:pPr marL="342900" indent="-342900">
              <a:buFont typeface="Wingdings" panose="05000000000000000000" pitchFamily="2" charset="2"/>
              <a:buChar char="ü"/>
            </a:pPr>
            <a:r>
              <a:rPr lang="en-IN" dirty="0"/>
              <a:t>Ensure data accuracy. </a:t>
            </a:r>
          </a:p>
          <a:p>
            <a:pPr marL="342900" indent="-342900">
              <a:buFont typeface="Wingdings" panose="05000000000000000000" pitchFamily="2" charset="2"/>
              <a:buChar char="ü"/>
            </a:pPr>
            <a:r>
              <a:rPr lang="en-IN" dirty="0"/>
              <a:t>Protect user privacy. </a:t>
            </a:r>
          </a:p>
          <a:p>
            <a:pPr marL="342900" indent="-342900">
              <a:buFont typeface="Wingdings" panose="05000000000000000000" pitchFamily="2" charset="2"/>
              <a:buChar char="ü"/>
            </a:pPr>
            <a:r>
              <a:rPr lang="en-IN" dirty="0"/>
              <a:t>Store data securely. </a:t>
            </a:r>
          </a:p>
          <a:p>
            <a:pPr marL="342900" indent="-342900">
              <a:buFont typeface="Wingdings" panose="05000000000000000000" pitchFamily="2" charset="2"/>
              <a:buChar char="ü"/>
            </a:pPr>
            <a:r>
              <a:rPr lang="en-IN" dirty="0"/>
              <a:t>Validate collected information.</a:t>
            </a:r>
          </a:p>
          <a:p>
            <a:endParaRPr lang="en-IN" dirty="0"/>
          </a:p>
        </p:txBody>
      </p:sp>
    </p:spTree>
    <p:extLst>
      <p:ext uri="{BB962C8B-B14F-4D97-AF65-F5344CB8AC3E}">
        <p14:creationId xmlns:p14="http://schemas.microsoft.com/office/powerpoint/2010/main" val="29246728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FC60-FC2B-ED03-9506-3C04652ACC89}"/>
              </a:ext>
            </a:extLst>
          </p:cNvPr>
          <p:cNvSpPr>
            <a:spLocks noGrp="1"/>
          </p:cNvSpPr>
          <p:nvPr>
            <p:ph type="ctrTitle"/>
          </p:nvPr>
        </p:nvSpPr>
        <p:spPr>
          <a:xfrm>
            <a:off x="3940628" y="780148"/>
            <a:ext cx="9448800" cy="685800"/>
          </a:xfrm>
        </p:spPr>
        <p:txBody>
          <a:bodyPr>
            <a:noAutofit/>
          </a:bodyPr>
          <a:lstStyle/>
          <a:p>
            <a:r>
              <a:rPr lang="en-IN" sz="3600" b="1" u="sng" dirty="0"/>
              <a:t>D. Data Lifecycle Management</a:t>
            </a:r>
            <a:br>
              <a:rPr lang="en-IN" sz="3600" b="1" u="sng" dirty="0"/>
            </a:br>
            <a:endParaRPr lang="en-IN" sz="3600" u="sng" dirty="0"/>
          </a:p>
        </p:txBody>
      </p:sp>
      <p:sp>
        <p:nvSpPr>
          <p:cNvPr id="3" name="Subtitle 2">
            <a:extLst>
              <a:ext uri="{FF2B5EF4-FFF2-40B4-BE49-F238E27FC236}">
                <a16:creationId xmlns:a16="http://schemas.microsoft.com/office/drawing/2014/main" id="{8684F8AE-14FA-9C45-F669-4645BDB8ED56}"/>
              </a:ext>
            </a:extLst>
          </p:cNvPr>
          <p:cNvSpPr>
            <a:spLocks noGrp="1"/>
          </p:cNvSpPr>
          <p:nvPr>
            <p:ph type="subTitle" idx="1"/>
          </p:nvPr>
        </p:nvSpPr>
        <p:spPr>
          <a:xfrm>
            <a:off x="1861456" y="1632857"/>
            <a:ext cx="8958943" cy="2685144"/>
          </a:xfrm>
        </p:spPr>
        <p:txBody>
          <a:bodyPr>
            <a:normAutofit/>
          </a:bodyPr>
          <a:lstStyle/>
          <a:p>
            <a:r>
              <a:rPr lang="en-IN" dirty="0"/>
              <a:t>What is Data Lifecycle Management ?</a:t>
            </a:r>
          </a:p>
          <a:p>
            <a:endParaRPr lang="en-IN" b="1" dirty="0"/>
          </a:p>
          <a:p>
            <a:pPr marL="342900" indent="-342900">
              <a:buFont typeface="Wingdings" panose="05000000000000000000" pitchFamily="2" charset="2"/>
              <a:buChar char="Ø"/>
            </a:pPr>
            <a:r>
              <a:rPr lang="en-IN" b="1" dirty="0"/>
              <a:t>Data Lifecycle Management (DLM)</a:t>
            </a:r>
            <a:r>
              <a:rPr lang="en-IN" dirty="0"/>
              <a:t> is the process of managing data from its creation to its final deletion. It ensures data remains secure, accurate, and available throughout its life.</a:t>
            </a:r>
          </a:p>
        </p:txBody>
      </p:sp>
    </p:spTree>
    <p:extLst>
      <p:ext uri="{BB962C8B-B14F-4D97-AF65-F5344CB8AC3E}">
        <p14:creationId xmlns:p14="http://schemas.microsoft.com/office/powerpoint/2010/main" val="1566685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C8F7-BF31-D734-146B-5C0BA2D59A6D}"/>
              </a:ext>
            </a:extLst>
          </p:cNvPr>
          <p:cNvSpPr>
            <a:spLocks noGrp="1"/>
          </p:cNvSpPr>
          <p:nvPr>
            <p:ph type="title"/>
          </p:nvPr>
        </p:nvSpPr>
        <p:spPr/>
        <p:txBody>
          <a:bodyPr/>
          <a:lstStyle/>
          <a:p>
            <a:r>
              <a:rPr lang="en-IN" b="1" u="sng" dirty="0"/>
              <a:t>Stages of Data Lifecycle</a:t>
            </a:r>
            <a:br>
              <a:rPr lang="en-IN" b="1" dirty="0"/>
            </a:br>
            <a:endParaRPr lang="en-IN" dirty="0"/>
          </a:p>
        </p:txBody>
      </p:sp>
      <p:sp>
        <p:nvSpPr>
          <p:cNvPr id="3" name="Text Placeholder 2">
            <a:extLst>
              <a:ext uri="{FF2B5EF4-FFF2-40B4-BE49-F238E27FC236}">
                <a16:creationId xmlns:a16="http://schemas.microsoft.com/office/drawing/2014/main" id="{C223DAA6-1657-B3A3-76E8-4C9CCC882406}"/>
              </a:ext>
            </a:extLst>
          </p:cNvPr>
          <p:cNvSpPr>
            <a:spLocks noGrp="1"/>
          </p:cNvSpPr>
          <p:nvPr>
            <p:ph type="body" idx="1"/>
          </p:nvPr>
        </p:nvSpPr>
        <p:spPr/>
        <p:txBody>
          <a:bodyPr/>
          <a:lstStyle/>
          <a:p>
            <a:r>
              <a:rPr lang="en-IN" b="1" dirty="0"/>
              <a:t>1. </a:t>
            </a:r>
            <a:r>
              <a:rPr lang="en-IN" b="1" u="sng" dirty="0"/>
              <a:t>Data Creation</a:t>
            </a:r>
          </a:p>
          <a:p>
            <a:endParaRPr lang="en-IN" dirty="0"/>
          </a:p>
        </p:txBody>
      </p:sp>
      <p:sp>
        <p:nvSpPr>
          <p:cNvPr id="4" name="Text Placeholder 3">
            <a:extLst>
              <a:ext uri="{FF2B5EF4-FFF2-40B4-BE49-F238E27FC236}">
                <a16:creationId xmlns:a16="http://schemas.microsoft.com/office/drawing/2014/main" id="{83D6C17A-395F-F928-4AB0-5AD6D689D5FD}"/>
              </a:ext>
            </a:extLst>
          </p:cNvPr>
          <p:cNvSpPr>
            <a:spLocks noGrp="1"/>
          </p:cNvSpPr>
          <p:nvPr>
            <p:ph type="body" sz="half" idx="15"/>
          </p:nvPr>
        </p:nvSpPr>
        <p:spPr>
          <a:xfrm>
            <a:off x="685799" y="2569029"/>
            <a:ext cx="3456432" cy="3649668"/>
          </a:xfrm>
        </p:spPr>
        <p:txBody>
          <a:bodyPr>
            <a:normAutofit lnSpcReduction="10000"/>
          </a:bodyPr>
          <a:lstStyle/>
          <a:p>
            <a:r>
              <a:rPr lang="en-IN" dirty="0"/>
              <a:t>Data is generated or collected.</a:t>
            </a:r>
          </a:p>
          <a:p>
            <a:endParaRPr lang="en-IN" dirty="0"/>
          </a:p>
          <a:p>
            <a:r>
              <a:rPr lang="en-IN" sz="1600" u="sng" dirty="0"/>
              <a:t>Examples:</a:t>
            </a:r>
          </a:p>
          <a:p>
            <a:pPr marL="285750" indent="-285750">
              <a:buFont typeface="Wingdings" panose="05000000000000000000" pitchFamily="2" charset="2"/>
              <a:buChar char="§"/>
            </a:pPr>
            <a:r>
              <a:rPr lang="en-IN" dirty="0"/>
              <a:t>Customer registration </a:t>
            </a:r>
          </a:p>
          <a:p>
            <a:pPr marL="285750" indent="-285750">
              <a:buFont typeface="Wingdings" panose="05000000000000000000" pitchFamily="2" charset="2"/>
              <a:buChar char="§"/>
            </a:pPr>
            <a:r>
              <a:rPr lang="en-IN" dirty="0"/>
              <a:t>Sales transactions </a:t>
            </a:r>
          </a:p>
          <a:p>
            <a:pPr marL="285750" indent="-285750">
              <a:buFont typeface="Wingdings" panose="05000000000000000000" pitchFamily="2" charset="2"/>
              <a:buChar char="§"/>
            </a:pPr>
            <a:r>
              <a:rPr lang="en-IN" dirty="0"/>
              <a:t>Sensor readings </a:t>
            </a:r>
          </a:p>
          <a:p>
            <a:pPr marL="285750" indent="-285750">
              <a:buFont typeface="Wingdings" panose="05000000000000000000" pitchFamily="2" charset="2"/>
              <a:buChar char="§"/>
            </a:pPr>
            <a:r>
              <a:rPr lang="en-IN" dirty="0"/>
              <a:t>Survey responses </a:t>
            </a:r>
          </a:p>
          <a:p>
            <a:endParaRPr lang="en-IN" dirty="0"/>
          </a:p>
          <a:p>
            <a:r>
              <a:rPr lang="en-IN" sz="1600" u="sng" dirty="0"/>
              <a:t>Objectives</a:t>
            </a:r>
          </a:p>
          <a:p>
            <a:pPr marL="285750" indent="-285750">
              <a:buFont typeface="Wingdings" panose="05000000000000000000" pitchFamily="2" charset="2"/>
              <a:buChar char="§"/>
            </a:pPr>
            <a:r>
              <a:rPr lang="en-IN" dirty="0"/>
              <a:t>Collect accurate information </a:t>
            </a:r>
          </a:p>
          <a:p>
            <a:pPr marL="285750" indent="-285750">
              <a:buFont typeface="Wingdings" panose="05000000000000000000" pitchFamily="2" charset="2"/>
              <a:buChar char="§"/>
            </a:pPr>
            <a:r>
              <a:rPr lang="en-IN" dirty="0"/>
              <a:t>Validate inputs </a:t>
            </a:r>
          </a:p>
          <a:p>
            <a:pPr marL="285750" indent="-285750">
              <a:buFont typeface="Wingdings" panose="05000000000000000000" pitchFamily="2" charset="2"/>
              <a:buChar char="§"/>
            </a:pPr>
            <a:r>
              <a:rPr lang="en-IN" dirty="0"/>
              <a:t>Record metadata</a:t>
            </a:r>
          </a:p>
          <a:p>
            <a:endParaRPr lang="en-IN" dirty="0"/>
          </a:p>
        </p:txBody>
      </p:sp>
      <p:sp>
        <p:nvSpPr>
          <p:cNvPr id="5" name="Text Placeholder 4">
            <a:extLst>
              <a:ext uri="{FF2B5EF4-FFF2-40B4-BE49-F238E27FC236}">
                <a16:creationId xmlns:a16="http://schemas.microsoft.com/office/drawing/2014/main" id="{DB4701ED-3085-2925-2177-23783F69CE1E}"/>
              </a:ext>
            </a:extLst>
          </p:cNvPr>
          <p:cNvSpPr>
            <a:spLocks noGrp="1"/>
          </p:cNvSpPr>
          <p:nvPr>
            <p:ph type="body" sz="quarter" idx="3"/>
          </p:nvPr>
        </p:nvSpPr>
        <p:spPr/>
        <p:txBody>
          <a:bodyPr/>
          <a:lstStyle/>
          <a:p>
            <a:r>
              <a:rPr lang="en-IN" b="1" dirty="0"/>
              <a:t>2. </a:t>
            </a:r>
            <a:r>
              <a:rPr lang="en-IN" b="1" u="sng" dirty="0"/>
              <a:t>Data Storage</a:t>
            </a:r>
          </a:p>
          <a:p>
            <a:endParaRPr lang="en-IN" dirty="0"/>
          </a:p>
        </p:txBody>
      </p:sp>
      <p:sp>
        <p:nvSpPr>
          <p:cNvPr id="6" name="Text Placeholder 5">
            <a:extLst>
              <a:ext uri="{FF2B5EF4-FFF2-40B4-BE49-F238E27FC236}">
                <a16:creationId xmlns:a16="http://schemas.microsoft.com/office/drawing/2014/main" id="{A495545C-0410-DCCF-CB11-ED988DC73AD7}"/>
              </a:ext>
            </a:extLst>
          </p:cNvPr>
          <p:cNvSpPr>
            <a:spLocks noGrp="1"/>
          </p:cNvSpPr>
          <p:nvPr>
            <p:ph type="body" sz="half" idx="16"/>
          </p:nvPr>
        </p:nvSpPr>
        <p:spPr>
          <a:xfrm>
            <a:off x="4367784" y="2582856"/>
            <a:ext cx="3456432" cy="3828829"/>
          </a:xfrm>
        </p:spPr>
        <p:txBody>
          <a:bodyPr>
            <a:normAutofit fontScale="92500" lnSpcReduction="10000"/>
          </a:bodyPr>
          <a:lstStyle/>
          <a:p>
            <a:r>
              <a:rPr lang="en-IN" dirty="0"/>
              <a:t>Data is stored securely.</a:t>
            </a:r>
          </a:p>
          <a:p>
            <a:endParaRPr lang="en-IN" dirty="0"/>
          </a:p>
          <a:p>
            <a:r>
              <a:rPr lang="en-IN" sz="1600" u="sng" dirty="0"/>
              <a:t>Storage options</a:t>
            </a:r>
            <a:r>
              <a:rPr lang="en-IN" dirty="0"/>
              <a:t>:</a:t>
            </a:r>
          </a:p>
          <a:p>
            <a:pPr marL="285750" indent="-285750">
              <a:buFont typeface="Wingdings" panose="05000000000000000000" pitchFamily="2" charset="2"/>
              <a:buChar char="§"/>
            </a:pPr>
            <a:r>
              <a:rPr lang="en-IN" dirty="0"/>
              <a:t>Hard drives </a:t>
            </a:r>
          </a:p>
          <a:p>
            <a:pPr marL="285750" indent="-285750">
              <a:buFont typeface="Wingdings" panose="05000000000000000000" pitchFamily="2" charset="2"/>
              <a:buChar char="§"/>
            </a:pPr>
            <a:r>
              <a:rPr lang="en-IN" dirty="0"/>
              <a:t>Cloud storage </a:t>
            </a:r>
          </a:p>
          <a:p>
            <a:pPr marL="285750" indent="-285750">
              <a:buFont typeface="Wingdings" panose="05000000000000000000" pitchFamily="2" charset="2"/>
              <a:buChar char="§"/>
            </a:pPr>
            <a:r>
              <a:rPr lang="en-IN" dirty="0"/>
              <a:t>Databases </a:t>
            </a:r>
          </a:p>
          <a:p>
            <a:pPr marL="285750" indent="-285750">
              <a:buFont typeface="Wingdings" panose="05000000000000000000" pitchFamily="2" charset="2"/>
              <a:buChar char="§"/>
            </a:pPr>
            <a:r>
              <a:rPr lang="en-IN" dirty="0"/>
              <a:t>Data warehouses </a:t>
            </a:r>
          </a:p>
          <a:p>
            <a:endParaRPr lang="en-IN" dirty="0"/>
          </a:p>
          <a:p>
            <a:r>
              <a:rPr lang="en-IN" sz="1600" u="sng" dirty="0"/>
              <a:t>Objectives</a:t>
            </a:r>
          </a:p>
          <a:p>
            <a:pPr marL="285750" indent="-285750">
              <a:buFont typeface="Wingdings" panose="05000000000000000000" pitchFamily="2" charset="2"/>
              <a:buChar char="§"/>
            </a:pPr>
            <a:r>
              <a:rPr lang="en-IN" dirty="0"/>
              <a:t>Security </a:t>
            </a:r>
          </a:p>
          <a:p>
            <a:pPr marL="285750" indent="-285750">
              <a:buFont typeface="Wingdings" panose="05000000000000000000" pitchFamily="2" charset="2"/>
              <a:buChar char="§"/>
            </a:pPr>
            <a:r>
              <a:rPr lang="en-IN" dirty="0"/>
              <a:t>Availability </a:t>
            </a:r>
          </a:p>
          <a:p>
            <a:pPr marL="285750" indent="-285750">
              <a:buFont typeface="Wingdings" panose="05000000000000000000" pitchFamily="2" charset="2"/>
              <a:buChar char="§"/>
            </a:pPr>
            <a:r>
              <a:rPr lang="en-IN" dirty="0"/>
              <a:t>Backup </a:t>
            </a:r>
          </a:p>
          <a:p>
            <a:pPr marL="285750" indent="-285750">
              <a:buFont typeface="Wingdings" panose="05000000000000000000" pitchFamily="2" charset="2"/>
              <a:buChar char="§"/>
            </a:pPr>
            <a:r>
              <a:rPr lang="en-IN" dirty="0"/>
              <a:t>Easy retrieval</a:t>
            </a:r>
          </a:p>
          <a:p>
            <a:endParaRPr lang="en-IN" dirty="0"/>
          </a:p>
        </p:txBody>
      </p:sp>
      <p:sp>
        <p:nvSpPr>
          <p:cNvPr id="7" name="Text Placeholder 6">
            <a:extLst>
              <a:ext uri="{FF2B5EF4-FFF2-40B4-BE49-F238E27FC236}">
                <a16:creationId xmlns:a16="http://schemas.microsoft.com/office/drawing/2014/main" id="{A548D055-1124-5C40-0BEA-DE17DC9B8473}"/>
              </a:ext>
            </a:extLst>
          </p:cNvPr>
          <p:cNvSpPr>
            <a:spLocks noGrp="1"/>
          </p:cNvSpPr>
          <p:nvPr>
            <p:ph type="body" sz="quarter" idx="13"/>
          </p:nvPr>
        </p:nvSpPr>
        <p:spPr/>
        <p:txBody>
          <a:bodyPr/>
          <a:lstStyle/>
          <a:p>
            <a:r>
              <a:rPr lang="en-IN" b="1" dirty="0"/>
              <a:t>3. </a:t>
            </a:r>
            <a:r>
              <a:rPr lang="en-IN" b="1" u="sng" dirty="0"/>
              <a:t>Data Usage</a:t>
            </a:r>
          </a:p>
          <a:p>
            <a:endParaRPr lang="en-IN" dirty="0"/>
          </a:p>
        </p:txBody>
      </p:sp>
      <p:sp>
        <p:nvSpPr>
          <p:cNvPr id="8" name="Text Placeholder 7">
            <a:extLst>
              <a:ext uri="{FF2B5EF4-FFF2-40B4-BE49-F238E27FC236}">
                <a16:creationId xmlns:a16="http://schemas.microsoft.com/office/drawing/2014/main" id="{D310CD3C-3085-404F-8AA3-93F78461D658}"/>
              </a:ext>
            </a:extLst>
          </p:cNvPr>
          <p:cNvSpPr>
            <a:spLocks noGrp="1"/>
          </p:cNvSpPr>
          <p:nvPr>
            <p:ph type="body" sz="half" idx="17"/>
          </p:nvPr>
        </p:nvSpPr>
        <p:spPr>
          <a:xfrm>
            <a:off x="8051801" y="2569017"/>
            <a:ext cx="3456432" cy="3733812"/>
          </a:xfrm>
        </p:spPr>
        <p:txBody>
          <a:bodyPr>
            <a:normAutofit fontScale="92500" lnSpcReduction="10000"/>
          </a:bodyPr>
          <a:lstStyle/>
          <a:p>
            <a:r>
              <a:rPr lang="en-IN" dirty="0"/>
              <a:t>Data is processed and </a:t>
            </a:r>
            <a:r>
              <a:rPr lang="en-IN" dirty="0" err="1"/>
              <a:t>analyzed</a:t>
            </a:r>
            <a:r>
              <a:rPr lang="en-IN" dirty="0"/>
              <a:t> for business purposes.</a:t>
            </a:r>
          </a:p>
          <a:p>
            <a:endParaRPr lang="en-IN" dirty="0"/>
          </a:p>
          <a:p>
            <a:r>
              <a:rPr lang="en-IN" sz="1600" u="sng" dirty="0"/>
              <a:t>Examples:</a:t>
            </a:r>
          </a:p>
          <a:p>
            <a:pPr marL="285750" indent="-285750">
              <a:buFont typeface="Wingdings" panose="05000000000000000000" pitchFamily="2" charset="2"/>
              <a:buChar char="§"/>
            </a:pPr>
            <a:r>
              <a:rPr lang="en-IN" dirty="0"/>
              <a:t>Reporting </a:t>
            </a:r>
          </a:p>
          <a:p>
            <a:pPr marL="285750" indent="-285750">
              <a:buFont typeface="Wingdings" panose="05000000000000000000" pitchFamily="2" charset="2"/>
              <a:buChar char="§"/>
            </a:pPr>
            <a:r>
              <a:rPr lang="en-IN" dirty="0"/>
              <a:t>Business intelligence </a:t>
            </a:r>
          </a:p>
          <a:p>
            <a:pPr marL="285750" indent="-285750">
              <a:buFont typeface="Wingdings" panose="05000000000000000000" pitchFamily="2" charset="2"/>
              <a:buChar char="§"/>
            </a:pPr>
            <a:r>
              <a:rPr lang="en-IN" dirty="0"/>
              <a:t>Machine learning </a:t>
            </a:r>
          </a:p>
          <a:p>
            <a:pPr marL="285750" indent="-285750">
              <a:buFont typeface="Wingdings" panose="05000000000000000000" pitchFamily="2" charset="2"/>
              <a:buChar char="§"/>
            </a:pPr>
            <a:r>
              <a:rPr lang="en-IN" dirty="0"/>
              <a:t>Customer analysis </a:t>
            </a:r>
          </a:p>
          <a:p>
            <a:endParaRPr lang="en-IN" dirty="0"/>
          </a:p>
          <a:p>
            <a:r>
              <a:rPr lang="en-IN" sz="1600" u="sng" dirty="0"/>
              <a:t>Objectives</a:t>
            </a:r>
          </a:p>
          <a:p>
            <a:pPr marL="285750" indent="-285750">
              <a:buFont typeface="Wingdings" panose="05000000000000000000" pitchFamily="2" charset="2"/>
              <a:buChar char="§"/>
            </a:pPr>
            <a:r>
              <a:rPr lang="en-IN" dirty="0"/>
              <a:t>Support decision-making </a:t>
            </a:r>
          </a:p>
          <a:p>
            <a:pPr marL="285750" indent="-285750">
              <a:buFont typeface="Wingdings" panose="05000000000000000000" pitchFamily="2" charset="2"/>
              <a:buChar char="§"/>
            </a:pPr>
            <a:r>
              <a:rPr lang="en-IN" dirty="0"/>
              <a:t>Improve operations </a:t>
            </a:r>
          </a:p>
          <a:p>
            <a:pPr marL="285750" indent="-285750">
              <a:buFont typeface="Wingdings" panose="05000000000000000000" pitchFamily="2" charset="2"/>
              <a:buChar char="§"/>
            </a:pPr>
            <a:r>
              <a:rPr lang="en-IN" dirty="0"/>
              <a:t>Generate insights </a:t>
            </a:r>
          </a:p>
          <a:p>
            <a:endParaRPr lang="en-IN" dirty="0"/>
          </a:p>
        </p:txBody>
      </p:sp>
    </p:spTree>
    <p:extLst>
      <p:ext uri="{BB962C8B-B14F-4D97-AF65-F5344CB8AC3E}">
        <p14:creationId xmlns:p14="http://schemas.microsoft.com/office/powerpoint/2010/main" val="29406967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32CD-D53A-A756-C8D4-E257519943A1}"/>
              </a:ext>
            </a:extLst>
          </p:cNvPr>
          <p:cNvSpPr>
            <a:spLocks noGrp="1"/>
          </p:cNvSpPr>
          <p:nvPr>
            <p:ph type="title"/>
          </p:nvPr>
        </p:nvSpPr>
        <p:spPr>
          <a:xfrm>
            <a:off x="2895600" y="762000"/>
            <a:ext cx="8610599" cy="185058"/>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65D4D90C-1F23-7EDE-E82F-2477E5B5AF52}"/>
              </a:ext>
            </a:extLst>
          </p:cNvPr>
          <p:cNvSpPr>
            <a:spLocks noGrp="1"/>
          </p:cNvSpPr>
          <p:nvPr>
            <p:ph type="body" idx="1"/>
          </p:nvPr>
        </p:nvSpPr>
        <p:spPr/>
        <p:txBody>
          <a:bodyPr/>
          <a:lstStyle/>
          <a:p>
            <a:r>
              <a:rPr lang="en-IN" b="1" dirty="0"/>
              <a:t>4. </a:t>
            </a:r>
            <a:r>
              <a:rPr lang="en-IN" b="1" u="sng" dirty="0"/>
              <a:t>Data Archiving</a:t>
            </a:r>
          </a:p>
          <a:p>
            <a:endParaRPr lang="en-IN" dirty="0"/>
          </a:p>
        </p:txBody>
      </p:sp>
      <p:sp>
        <p:nvSpPr>
          <p:cNvPr id="4" name="Text Placeholder 3">
            <a:extLst>
              <a:ext uri="{FF2B5EF4-FFF2-40B4-BE49-F238E27FC236}">
                <a16:creationId xmlns:a16="http://schemas.microsoft.com/office/drawing/2014/main" id="{75C08FEF-1660-783D-1AFD-D0715E58E0E1}"/>
              </a:ext>
            </a:extLst>
          </p:cNvPr>
          <p:cNvSpPr>
            <a:spLocks noGrp="1"/>
          </p:cNvSpPr>
          <p:nvPr>
            <p:ph type="body" sz="half" idx="15"/>
          </p:nvPr>
        </p:nvSpPr>
        <p:spPr>
          <a:xfrm>
            <a:off x="685799" y="2601686"/>
            <a:ext cx="3456432" cy="3897085"/>
          </a:xfrm>
        </p:spPr>
        <p:txBody>
          <a:bodyPr/>
          <a:lstStyle/>
          <a:p>
            <a:r>
              <a:rPr lang="en-IN" dirty="0"/>
              <a:t>Older data is moved to long-term storage while remaining accessible if needed.</a:t>
            </a:r>
          </a:p>
          <a:p>
            <a:endParaRPr lang="en-IN" dirty="0"/>
          </a:p>
          <a:p>
            <a:r>
              <a:rPr lang="en-IN" b="1" u="sng" dirty="0"/>
              <a:t>Benefits</a:t>
            </a:r>
            <a:endParaRPr lang="en-IN" u="sng" dirty="0"/>
          </a:p>
          <a:p>
            <a:pPr marL="285750" indent="-285750">
              <a:buFont typeface="Wingdings" panose="05000000000000000000" pitchFamily="2" charset="2"/>
              <a:buChar char="Ø"/>
            </a:pPr>
            <a:r>
              <a:rPr lang="en-IN" dirty="0"/>
              <a:t>Saves storage costs </a:t>
            </a:r>
          </a:p>
          <a:p>
            <a:pPr marL="285750" indent="-285750">
              <a:buFont typeface="Wingdings" panose="05000000000000000000" pitchFamily="2" charset="2"/>
              <a:buChar char="Ø"/>
            </a:pPr>
            <a:r>
              <a:rPr lang="en-IN" dirty="0"/>
              <a:t>Improves system performance </a:t>
            </a:r>
          </a:p>
          <a:p>
            <a:pPr marL="285750" indent="-285750">
              <a:buFont typeface="Wingdings" panose="05000000000000000000" pitchFamily="2" charset="2"/>
              <a:buChar char="Ø"/>
            </a:pPr>
            <a:r>
              <a:rPr lang="en-IN" dirty="0"/>
              <a:t>Meets legal requirements </a:t>
            </a:r>
          </a:p>
          <a:p>
            <a:pPr marL="285750" indent="-285750">
              <a:buFont typeface="Wingdings" panose="05000000000000000000" pitchFamily="2" charset="2"/>
              <a:buChar char="Ø"/>
            </a:pPr>
            <a:r>
              <a:rPr lang="en-IN" dirty="0"/>
              <a:t>Preserves historical records</a:t>
            </a:r>
          </a:p>
          <a:p>
            <a:endParaRPr lang="en-IN" dirty="0"/>
          </a:p>
        </p:txBody>
      </p:sp>
      <p:sp>
        <p:nvSpPr>
          <p:cNvPr id="5" name="Text Placeholder 4">
            <a:extLst>
              <a:ext uri="{FF2B5EF4-FFF2-40B4-BE49-F238E27FC236}">
                <a16:creationId xmlns:a16="http://schemas.microsoft.com/office/drawing/2014/main" id="{DD286BC2-3A6D-B3A5-EA1E-092ECC432C03}"/>
              </a:ext>
            </a:extLst>
          </p:cNvPr>
          <p:cNvSpPr>
            <a:spLocks noGrp="1"/>
          </p:cNvSpPr>
          <p:nvPr>
            <p:ph type="body" sz="quarter" idx="3"/>
          </p:nvPr>
        </p:nvSpPr>
        <p:spPr>
          <a:xfrm>
            <a:off x="4368800" y="1499809"/>
            <a:ext cx="3456432" cy="807962"/>
          </a:xfrm>
        </p:spPr>
        <p:txBody>
          <a:bodyPr/>
          <a:lstStyle/>
          <a:p>
            <a:r>
              <a:rPr lang="en-IN" b="1" dirty="0"/>
              <a:t>5. </a:t>
            </a:r>
            <a:r>
              <a:rPr lang="en-IN" b="1" u="sng" dirty="0"/>
              <a:t>Data Deletion</a:t>
            </a:r>
          </a:p>
          <a:p>
            <a:endParaRPr lang="en-IN" dirty="0"/>
          </a:p>
        </p:txBody>
      </p:sp>
      <p:sp>
        <p:nvSpPr>
          <p:cNvPr id="6" name="Text Placeholder 5">
            <a:extLst>
              <a:ext uri="{FF2B5EF4-FFF2-40B4-BE49-F238E27FC236}">
                <a16:creationId xmlns:a16="http://schemas.microsoft.com/office/drawing/2014/main" id="{2A8F4E80-3758-2DE8-7CAA-F5A54A4C1C0A}"/>
              </a:ext>
            </a:extLst>
          </p:cNvPr>
          <p:cNvSpPr>
            <a:spLocks noGrp="1"/>
          </p:cNvSpPr>
          <p:nvPr>
            <p:ph type="body" sz="half" idx="16"/>
          </p:nvPr>
        </p:nvSpPr>
        <p:spPr>
          <a:xfrm>
            <a:off x="4366858" y="2100944"/>
            <a:ext cx="3456432" cy="4397828"/>
          </a:xfrm>
        </p:spPr>
        <p:txBody>
          <a:bodyPr>
            <a:normAutofit/>
          </a:bodyPr>
          <a:lstStyle/>
          <a:p>
            <a:r>
              <a:rPr lang="en-IN" dirty="0"/>
              <a:t>Data is permanently removed when no longer needed or after the retention period expires.</a:t>
            </a:r>
          </a:p>
          <a:p>
            <a:endParaRPr lang="en-IN" dirty="0"/>
          </a:p>
          <a:p>
            <a:r>
              <a:rPr lang="en-IN" b="1" u="sng" dirty="0"/>
              <a:t>Methods:</a:t>
            </a:r>
          </a:p>
          <a:p>
            <a:pPr marL="285750" indent="-285750">
              <a:buFont typeface="Wingdings" panose="05000000000000000000" pitchFamily="2" charset="2"/>
              <a:buChar char="Ø"/>
            </a:pPr>
            <a:r>
              <a:rPr lang="en-IN" dirty="0"/>
              <a:t>Secure deletion </a:t>
            </a:r>
          </a:p>
          <a:p>
            <a:pPr marL="285750" indent="-285750">
              <a:buFont typeface="Wingdings" panose="05000000000000000000" pitchFamily="2" charset="2"/>
              <a:buChar char="Ø"/>
            </a:pPr>
            <a:r>
              <a:rPr lang="en-IN" dirty="0"/>
              <a:t>Data wiping </a:t>
            </a:r>
          </a:p>
          <a:p>
            <a:pPr marL="285750" indent="-285750">
              <a:buFont typeface="Wingdings" panose="05000000000000000000" pitchFamily="2" charset="2"/>
              <a:buChar char="Ø"/>
            </a:pPr>
            <a:r>
              <a:rPr lang="en-IN" dirty="0"/>
              <a:t>Physical destruction of storage devices</a:t>
            </a:r>
          </a:p>
          <a:p>
            <a:pPr marL="285750" indent="-285750">
              <a:buFont typeface="Wingdings" panose="05000000000000000000" pitchFamily="2" charset="2"/>
              <a:buChar char="Ø"/>
            </a:pPr>
            <a:r>
              <a:rPr lang="en-IN" dirty="0"/>
              <a:t> </a:t>
            </a:r>
          </a:p>
          <a:p>
            <a:r>
              <a:rPr lang="en-IN" b="1" u="sng" dirty="0"/>
              <a:t>Benefits</a:t>
            </a:r>
            <a:endParaRPr lang="en-IN" u="sng" dirty="0"/>
          </a:p>
          <a:p>
            <a:pPr marL="285750" indent="-285750">
              <a:buFont typeface="Wingdings" panose="05000000000000000000" pitchFamily="2" charset="2"/>
              <a:buChar char="Ø"/>
            </a:pPr>
            <a:r>
              <a:rPr lang="en-IN" dirty="0"/>
              <a:t>Protects privacy </a:t>
            </a:r>
          </a:p>
          <a:p>
            <a:pPr marL="285750" indent="-285750">
              <a:buFont typeface="Wingdings" panose="05000000000000000000" pitchFamily="2" charset="2"/>
              <a:buChar char="Ø"/>
            </a:pPr>
            <a:r>
              <a:rPr lang="en-IN" dirty="0"/>
              <a:t>Reduces storage costs </a:t>
            </a:r>
          </a:p>
          <a:p>
            <a:pPr marL="285750" indent="-285750">
              <a:buFont typeface="Wingdings" panose="05000000000000000000" pitchFamily="2" charset="2"/>
              <a:buChar char="Ø"/>
            </a:pPr>
            <a:r>
              <a:rPr lang="en-IN" dirty="0"/>
              <a:t>Meets legal requirements </a:t>
            </a:r>
          </a:p>
          <a:p>
            <a:pPr marL="285750" indent="-285750">
              <a:buFont typeface="Wingdings" panose="05000000000000000000" pitchFamily="2" charset="2"/>
              <a:buChar char="Ø"/>
            </a:pPr>
            <a:r>
              <a:rPr lang="en-IN" dirty="0"/>
              <a:t>Prevents unauthorized access</a:t>
            </a:r>
          </a:p>
          <a:p>
            <a:endParaRPr lang="en-IN" dirty="0"/>
          </a:p>
        </p:txBody>
      </p:sp>
      <p:sp>
        <p:nvSpPr>
          <p:cNvPr id="7" name="Text Placeholder 6">
            <a:extLst>
              <a:ext uri="{FF2B5EF4-FFF2-40B4-BE49-F238E27FC236}">
                <a16:creationId xmlns:a16="http://schemas.microsoft.com/office/drawing/2014/main" id="{46C892C1-3329-D8B7-8DDB-E365BED5AE3C}"/>
              </a:ext>
            </a:extLst>
          </p:cNvPr>
          <p:cNvSpPr>
            <a:spLocks noGrp="1"/>
          </p:cNvSpPr>
          <p:nvPr>
            <p:ph type="body" sz="quarter" idx="13"/>
          </p:nvPr>
        </p:nvSpPr>
        <p:spPr>
          <a:xfrm>
            <a:off x="8120489" y="1164772"/>
            <a:ext cx="3456432" cy="1328058"/>
          </a:xfrm>
        </p:spPr>
        <p:txBody>
          <a:bodyPr/>
          <a:lstStyle/>
          <a:p>
            <a:r>
              <a:rPr lang="en-IN" b="1" u="sng" dirty="0"/>
              <a:t>Importance of Data Lifecycle Management</a:t>
            </a:r>
          </a:p>
          <a:p>
            <a:endParaRPr lang="en-IN" b="1" dirty="0"/>
          </a:p>
          <a:p>
            <a:endParaRPr lang="en-IN" dirty="0"/>
          </a:p>
        </p:txBody>
      </p:sp>
      <p:sp>
        <p:nvSpPr>
          <p:cNvPr id="8" name="Text Placeholder 7">
            <a:extLst>
              <a:ext uri="{FF2B5EF4-FFF2-40B4-BE49-F238E27FC236}">
                <a16:creationId xmlns:a16="http://schemas.microsoft.com/office/drawing/2014/main" id="{6EFE9EA8-C481-FD8D-654C-4CBD52ABC6EA}"/>
              </a:ext>
            </a:extLst>
          </p:cNvPr>
          <p:cNvSpPr>
            <a:spLocks noGrp="1"/>
          </p:cNvSpPr>
          <p:nvPr>
            <p:ph type="body" sz="half" idx="17"/>
          </p:nvPr>
        </p:nvSpPr>
        <p:spPr>
          <a:xfrm>
            <a:off x="8047917" y="1915886"/>
            <a:ext cx="3926370" cy="3897085"/>
          </a:xfrm>
        </p:spPr>
        <p:txBody>
          <a:bodyPr/>
          <a:lstStyle/>
          <a:p>
            <a:pPr marL="285750" indent="-285750">
              <a:buFont typeface="Wingdings" panose="05000000000000000000" pitchFamily="2" charset="2"/>
              <a:buChar char="Ø"/>
            </a:pPr>
            <a:r>
              <a:rPr lang="en-IN" sz="1600" dirty="0"/>
              <a:t>Better security </a:t>
            </a:r>
          </a:p>
          <a:p>
            <a:pPr marL="285750" indent="-285750">
              <a:buFont typeface="Wingdings" panose="05000000000000000000" pitchFamily="2" charset="2"/>
              <a:buChar char="Ø"/>
            </a:pPr>
            <a:r>
              <a:rPr lang="en-IN" sz="1600" dirty="0"/>
              <a:t>Lower storage costs </a:t>
            </a:r>
          </a:p>
          <a:p>
            <a:pPr marL="285750" indent="-285750">
              <a:buFont typeface="Wingdings" panose="05000000000000000000" pitchFamily="2" charset="2"/>
              <a:buChar char="Ø"/>
            </a:pPr>
            <a:r>
              <a:rPr lang="en-IN" sz="1600" dirty="0"/>
              <a:t>Improved compliance </a:t>
            </a:r>
          </a:p>
          <a:p>
            <a:pPr marL="285750" indent="-285750">
              <a:buFont typeface="Wingdings" panose="05000000000000000000" pitchFamily="2" charset="2"/>
              <a:buChar char="Ø"/>
            </a:pPr>
            <a:r>
              <a:rPr lang="en-IN" sz="1600" dirty="0"/>
              <a:t>Higher data quality </a:t>
            </a:r>
          </a:p>
          <a:p>
            <a:pPr marL="285750" indent="-285750">
              <a:buFont typeface="Wingdings" panose="05000000000000000000" pitchFamily="2" charset="2"/>
              <a:buChar char="Ø"/>
            </a:pPr>
            <a:r>
              <a:rPr lang="en-IN" sz="1600" dirty="0"/>
              <a:t>Better business performance</a:t>
            </a:r>
          </a:p>
          <a:p>
            <a:endParaRPr lang="en-IN" dirty="0"/>
          </a:p>
        </p:txBody>
      </p:sp>
    </p:spTree>
    <p:extLst>
      <p:ext uri="{BB962C8B-B14F-4D97-AF65-F5344CB8AC3E}">
        <p14:creationId xmlns:p14="http://schemas.microsoft.com/office/powerpoint/2010/main" val="1345940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81EE1-3EA6-AB8E-6952-92917B7A8998}"/>
              </a:ext>
            </a:extLst>
          </p:cNvPr>
          <p:cNvSpPr>
            <a:spLocks noGrp="1"/>
          </p:cNvSpPr>
          <p:nvPr>
            <p:ph type="ctrTitle"/>
          </p:nvPr>
        </p:nvSpPr>
        <p:spPr>
          <a:xfrm>
            <a:off x="2111828" y="1273629"/>
            <a:ext cx="9448800" cy="1317171"/>
          </a:xfrm>
        </p:spPr>
        <p:txBody>
          <a:bodyPr>
            <a:normAutofit fontScale="90000"/>
          </a:bodyPr>
          <a:lstStyle/>
          <a:p>
            <a:pPr algn="ctr"/>
            <a:r>
              <a:rPr lang="en-IN" sz="3600" b="1" u="sng" dirty="0"/>
              <a:t>E. Data Quality and Integrity</a:t>
            </a:r>
            <a:br>
              <a:rPr lang="en-IN" sz="3600" b="1" u="sng" dirty="0"/>
            </a:br>
            <a:r>
              <a:rPr lang="en-IN" sz="3600" b="1" u="sng" dirty="0"/>
              <a:t>Data Quality</a:t>
            </a:r>
            <a:br>
              <a:rPr lang="en-IN" b="1" dirty="0"/>
            </a:br>
            <a:endParaRPr lang="en-IN" dirty="0"/>
          </a:p>
        </p:txBody>
      </p:sp>
      <p:sp>
        <p:nvSpPr>
          <p:cNvPr id="3" name="Subtitle 2">
            <a:extLst>
              <a:ext uri="{FF2B5EF4-FFF2-40B4-BE49-F238E27FC236}">
                <a16:creationId xmlns:a16="http://schemas.microsoft.com/office/drawing/2014/main" id="{80DA0A09-051F-2FA2-77F0-AB5203314E03}"/>
              </a:ext>
            </a:extLst>
          </p:cNvPr>
          <p:cNvSpPr>
            <a:spLocks noGrp="1"/>
          </p:cNvSpPr>
          <p:nvPr>
            <p:ph type="subTitle" idx="1"/>
          </p:nvPr>
        </p:nvSpPr>
        <p:spPr>
          <a:xfrm>
            <a:off x="2525486" y="2394857"/>
            <a:ext cx="8294914" cy="1923144"/>
          </a:xfrm>
        </p:spPr>
        <p:txBody>
          <a:bodyPr>
            <a:normAutofit/>
          </a:bodyPr>
          <a:lstStyle/>
          <a:p>
            <a:r>
              <a:rPr lang="en-IN" sz="2400" b="1" dirty="0"/>
              <a:t>Data Quality</a:t>
            </a:r>
            <a:r>
              <a:rPr lang="en-IN" sz="2400" dirty="0"/>
              <a:t> refers to how accurate, complete, reliable, consistent, and timely data is for its intended purpose.</a:t>
            </a:r>
            <a:br>
              <a:rPr lang="en-IN" sz="2400" dirty="0"/>
            </a:br>
            <a:endParaRPr lang="en-IN" sz="2400" dirty="0"/>
          </a:p>
        </p:txBody>
      </p:sp>
    </p:spTree>
    <p:extLst>
      <p:ext uri="{BB962C8B-B14F-4D97-AF65-F5344CB8AC3E}">
        <p14:creationId xmlns:p14="http://schemas.microsoft.com/office/powerpoint/2010/main" val="32597645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4368-21F2-8FD8-0F04-3969A60BF5A3}"/>
              </a:ext>
            </a:extLst>
          </p:cNvPr>
          <p:cNvSpPr>
            <a:spLocks noGrp="1"/>
          </p:cNvSpPr>
          <p:nvPr>
            <p:ph type="title"/>
          </p:nvPr>
        </p:nvSpPr>
        <p:spPr/>
        <p:txBody>
          <a:bodyPr>
            <a:normAutofit fontScale="90000"/>
          </a:bodyPr>
          <a:lstStyle/>
          <a:p>
            <a:pPr algn="ctr"/>
            <a:r>
              <a:rPr lang="en-IN" b="1" u="sng" dirty="0"/>
              <a:t>Characteristics of High-Quality Data</a:t>
            </a:r>
            <a:br>
              <a:rPr lang="en-IN" b="1" dirty="0"/>
            </a:br>
            <a:endParaRPr lang="en-IN" dirty="0"/>
          </a:p>
        </p:txBody>
      </p:sp>
      <p:sp>
        <p:nvSpPr>
          <p:cNvPr id="3" name="Text Placeholder 2">
            <a:extLst>
              <a:ext uri="{FF2B5EF4-FFF2-40B4-BE49-F238E27FC236}">
                <a16:creationId xmlns:a16="http://schemas.microsoft.com/office/drawing/2014/main" id="{DC134497-1ECA-C0ED-1075-F8C7CA87E054}"/>
              </a:ext>
            </a:extLst>
          </p:cNvPr>
          <p:cNvSpPr>
            <a:spLocks noGrp="1"/>
          </p:cNvSpPr>
          <p:nvPr>
            <p:ph type="body" idx="1"/>
          </p:nvPr>
        </p:nvSpPr>
        <p:spPr/>
        <p:txBody>
          <a:bodyPr/>
          <a:lstStyle/>
          <a:p>
            <a:r>
              <a:rPr lang="en-IN" b="1" u="sng" dirty="0"/>
              <a:t>1. Accuracy</a:t>
            </a:r>
          </a:p>
          <a:p>
            <a:endParaRPr lang="en-IN" dirty="0"/>
          </a:p>
        </p:txBody>
      </p:sp>
      <p:sp>
        <p:nvSpPr>
          <p:cNvPr id="4" name="Text Placeholder 3">
            <a:extLst>
              <a:ext uri="{FF2B5EF4-FFF2-40B4-BE49-F238E27FC236}">
                <a16:creationId xmlns:a16="http://schemas.microsoft.com/office/drawing/2014/main" id="{ECF3FF89-8F64-C980-C5C3-0C34437EC8D6}"/>
              </a:ext>
            </a:extLst>
          </p:cNvPr>
          <p:cNvSpPr>
            <a:spLocks noGrp="1"/>
          </p:cNvSpPr>
          <p:nvPr>
            <p:ph type="body" sz="half" idx="15"/>
          </p:nvPr>
        </p:nvSpPr>
        <p:spPr>
          <a:xfrm>
            <a:off x="685799" y="2525486"/>
            <a:ext cx="3456432" cy="3693211"/>
          </a:xfrm>
        </p:spPr>
        <p:txBody>
          <a:bodyPr>
            <a:normAutofit fontScale="92500" lnSpcReduction="10000"/>
          </a:bodyPr>
          <a:lstStyle/>
          <a:p>
            <a:r>
              <a:rPr lang="en-IN" dirty="0"/>
              <a:t>Data correctly represents real-world information.</a:t>
            </a:r>
          </a:p>
          <a:p>
            <a:endParaRPr lang="en-IN" dirty="0"/>
          </a:p>
          <a:p>
            <a:r>
              <a:rPr lang="en-IN" b="1" dirty="0"/>
              <a:t>Example:</a:t>
            </a:r>
            <a:r>
              <a:rPr lang="en-IN" dirty="0"/>
              <a:t> A customer's address is entered correctly.</a:t>
            </a:r>
          </a:p>
          <a:p>
            <a:endParaRPr lang="en-IN" dirty="0"/>
          </a:p>
          <a:p>
            <a:endParaRPr lang="en-IN" dirty="0"/>
          </a:p>
          <a:p>
            <a:r>
              <a:rPr lang="en-IN" sz="2600" b="1" u="sng" dirty="0"/>
              <a:t>4. Timeliness</a:t>
            </a:r>
          </a:p>
          <a:p>
            <a:r>
              <a:rPr lang="en-IN" dirty="0"/>
              <a:t>Data is current and available when needed.</a:t>
            </a:r>
          </a:p>
          <a:p>
            <a:r>
              <a:rPr lang="en-IN" b="1" dirty="0"/>
              <a:t>Example:</a:t>
            </a:r>
            <a:r>
              <a:rPr lang="en-IN" dirty="0"/>
              <a:t> Inventory levels are updated immediately after a sale.</a:t>
            </a:r>
          </a:p>
          <a:p>
            <a:br>
              <a:rPr lang="en-IN" dirty="0"/>
            </a:br>
            <a:endParaRPr lang="en-IN" dirty="0"/>
          </a:p>
          <a:p>
            <a:endParaRPr lang="en-IN" dirty="0"/>
          </a:p>
        </p:txBody>
      </p:sp>
      <p:sp>
        <p:nvSpPr>
          <p:cNvPr id="5" name="Text Placeholder 4">
            <a:extLst>
              <a:ext uri="{FF2B5EF4-FFF2-40B4-BE49-F238E27FC236}">
                <a16:creationId xmlns:a16="http://schemas.microsoft.com/office/drawing/2014/main" id="{BA683072-C355-4B94-F1AC-E7F957AE9467}"/>
              </a:ext>
            </a:extLst>
          </p:cNvPr>
          <p:cNvSpPr>
            <a:spLocks noGrp="1"/>
          </p:cNvSpPr>
          <p:nvPr>
            <p:ph type="body" sz="quarter" idx="3"/>
          </p:nvPr>
        </p:nvSpPr>
        <p:spPr/>
        <p:txBody>
          <a:bodyPr/>
          <a:lstStyle/>
          <a:p>
            <a:r>
              <a:rPr lang="en-IN" b="1" u="sng" dirty="0"/>
              <a:t>2. Completeness</a:t>
            </a:r>
          </a:p>
          <a:p>
            <a:endParaRPr lang="en-IN" dirty="0"/>
          </a:p>
        </p:txBody>
      </p:sp>
      <p:sp>
        <p:nvSpPr>
          <p:cNvPr id="6" name="Text Placeholder 5">
            <a:extLst>
              <a:ext uri="{FF2B5EF4-FFF2-40B4-BE49-F238E27FC236}">
                <a16:creationId xmlns:a16="http://schemas.microsoft.com/office/drawing/2014/main" id="{43650F83-1F32-6157-6AB2-955C07C1C0BE}"/>
              </a:ext>
            </a:extLst>
          </p:cNvPr>
          <p:cNvSpPr>
            <a:spLocks noGrp="1"/>
          </p:cNvSpPr>
          <p:nvPr>
            <p:ph type="body" sz="half" idx="16"/>
          </p:nvPr>
        </p:nvSpPr>
        <p:spPr>
          <a:xfrm>
            <a:off x="4366858" y="2524932"/>
            <a:ext cx="3456432" cy="3693753"/>
          </a:xfrm>
        </p:spPr>
        <p:txBody>
          <a:bodyPr>
            <a:normAutofit lnSpcReduction="10000"/>
          </a:bodyPr>
          <a:lstStyle/>
          <a:p>
            <a:r>
              <a:rPr lang="en-IN" dirty="0"/>
              <a:t>All required information is available.</a:t>
            </a:r>
          </a:p>
          <a:p>
            <a:endParaRPr lang="en-IN" dirty="0"/>
          </a:p>
          <a:p>
            <a:r>
              <a:rPr lang="en-IN" b="1" dirty="0"/>
              <a:t>Example:</a:t>
            </a:r>
            <a:r>
              <a:rPr lang="en-IN" dirty="0"/>
              <a:t> A student record includes name, ID, course, and contact number.</a:t>
            </a:r>
          </a:p>
          <a:p>
            <a:br>
              <a:rPr lang="en-IN" dirty="0"/>
            </a:br>
            <a:endParaRPr lang="en-IN" dirty="0"/>
          </a:p>
          <a:p>
            <a:r>
              <a:rPr lang="en-IN" sz="2600" b="1" u="sng" dirty="0"/>
              <a:t>5. Validity</a:t>
            </a:r>
          </a:p>
          <a:p>
            <a:r>
              <a:rPr lang="en-IN" dirty="0"/>
              <a:t>Data follows the required format and business rules.</a:t>
            </a:r>
          </a:p>
          <a:p>
            <a:r>
              <a:rPr lang="en-IN" b="1" dirty="0"/>
              <a:t>Example:</a:t>
            </a:r>
            <a:r>
              <a:rPr lang="en-IN" dirty="0"/>
              <a:t> An email address follows the correct format (name@example.com).</a:t>
            </a:r>
          </a:p>
          <a:p>
            <a:br>
              <a:rPr lang="en-IN" dirty="0"/>
            </a:br>
            <a:endParaRPr lang="en-IN" dirty="0"/>
          </a:p>
          <a:p>
            <a:endParaRPr lang="en-IN" dirty="0"/>
          </a:p>
        </p:txBody>
      </p:sp>
      <p:sp>
        <p:nvSpPr>
          <p:cNvPr id="7" name="Text Placeholder 6">
            <a:extLst>
              <a:ext uri="{FF2B5EF4-FFF2-40B4-BE49-F238E27FC236}">
                <a16:creationId xmlns:a16="http://schemas.microsoft.com/office/drawing/2014/main" id="{272B735A-0738-72ED-1710-0EAA8C6C7247}"/>
              </a:ext>
            </a:extLst>
          </p:cNvPr>
          <p:cNvSpPr>
            <a:spLocks noGrp="1"/>
          </p:cNvSpPr>
          <p:nvPr>
            <p:ph type="body" sz="quarter" idx="13"/>
          </p:nvPr>
        </p:nvSpPr>
        <p:spPr/>
        <p:txBody>
          <a:bodyPr/>
          <a:lstStyle/>
          <a:p>
            <a:r>
              <a:rPr lang="en-IN" b="1" u="sng" dirty="0"/>
              <a:t>3. Consistency</a:t>
            </a:r>
          </a:p>
          <a:p>
            <a:endParaRPr lang="en-IN" dirty="0"/>
          </a:p>
        </p:txBody>
      </p:sp>
      <p:sp>
        <p:nvSpPr>
          <p:cNvPr id="8" name="Text Placeholder 7">
            <a:extLst>
              <a:ext uri="{FF2B5EF4-FFF2-40B4-BE49-F238E27FC236}">
                <a16:creationId xmlns:a16="http://schemas.microsoft.com/office/drawing/2014/main" id="{22D39C73-4F9F-60AE-8BF8-6D6528F1C566}"/>
              </a:ext>
            </a:extLst>
          </p:cNvPr>
          <p:cNvSpPr>
            <a:spLocks noGrp="1"/>
          </p:cNvSpPr>
          <p:nvPr>
            <p:ph type="body" sz="half" idx="17"/>
          </p:nvPr>
        </p:nvSpPr>
        <p:spPr>
          <a:xfrm>
            <a:off x="8051801" y="2524932"/>
            <a:ext cx="3456432" cy="3693765"/>
          </a:xfrm>
        </p:spPr>
        <p:txBody>
          <a:bodyPr/>
          <a:lstStyle/>
          <a:p>
            <a:r>
              <a:rPr lang="en-IN" dirty="0"/>
              <a:t>The same data remains uniform across all systems.</a:t>
            </a:r>
          </a:p>
          <a:p>
            <a:endParaRPr lang="en-IN" dirty="0"/>
          </a:p>
          <a:p>
            <a:r>
              <a:rPr lang="en-IN" b="1" dirty="0"/>
              <a:t>Example:</a:t>
            </a:r>
            <a:r>
              <a:rPr lang="en-IN" dirty="0"/>
              <a:t> A customer's phone number is identical in both the CRM and billing systems.</a:t>
            </a:r>
          </a:p>
          <a:p>
            <a:endParaRPr lang="en-IN" dirty="0"/>
          </a:p>
          <a:p>
            <a:r>
              <a:rPr lang="en-IN" sz="2400" b="1" u="sng" dirty="0"/>
              <a:t>6. Uniqueness</a:t>
            </a:r>
          </a:p>
          <a:p>
            <a:r>
              <a:rPr lang="en-IN" dirty="0"/>
              <a:t>Each record exists only once.</a:t>
            </a:r>
          </a:p>
          <a:p>
            <a:r>
              <a:rPr lang="en-IN" b="1" dirty="0"/>
              <a:t>Example:</a:t>
            </a:r>
            <a:r>
              <a:rPr lang="en-IN" dirty="0"/>
              <a:t> A customer should not have duplicate records in the database.</a:t>
            </a:r>
          </a:p>
          <a:p>
            <a:endParaRPr lang="en-IN" dirty="0"/>
          </a:p>
        </p:txBody>
      </p:sp>
    </p:spTree>
    <p:extLst>
      <p:ext uri="{BB962C8B-B14F-4D97-AF65-F5344CB8AC3E}">
        <p14:creationId xmlns:p14="http://schemas.microsoft.com/office/powerpoint/2010/main" val="3244393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7C87-7166-195B-4D57-1ED5343B41D5}"/>
              </a:ext>
            </a:extLst>
          </p:cNvPr>
          <p:cNvSpPr>
            <a:spLocks noGrp="1"/>
          </p:cNvSpPr>
          <p:nvPr>
            <p:ph type="title"/>
          </p:nvPr>
        </p:nvSpPr>
        <p:spPr/>
        <p:txBody>
          <a:bodyPr>
            <a:normAutofit fontScale="90000"/>
          </a:bodyPr>
          <a:lstStyle/>
          <a:p>
            <a:pPr algn="ctr"/>
            <a:r>
              <a:rPr lang="en-IN" b="1" u="sng" dirty="0"/>
              <a:t>Data Integrity</a:t>
            </a:r>
            <a:br>
              <a:rPr lang="en-IN" sz="2200" b="1" dirty="0"/>
            </a:br>
            <a:br>
              <a:rPr lang="en-IN" sz="2200" b="1" dirty="0"/>
            </a:br>
            <a:r>
              <a:rPr lang="en-IN" sz="1800" dirty="0">
                <a:latin typeface="+mn-lt"/>
              </a:rPr>
              <a:t>Data Integrity is the assurance that data remains accurate, consistent, complete, and trustworthy throughout it lifecycle</a:t>
            </a:r>
            <a:r>
              <a:rPr lang="en-IN" dirty="0">
                <a:latin typeface="+mn-lt"/>
              </a:rPr>
              <a:t>.</a:t>
            </a:r>
            <a:br>
              <a:rPr lang="en-IN" dirty="0">
                <a:latin typeface="+mn-lt"/>
              </a:rPr>
            </a:br>
            <a:endParaRPr lang="en-IN" dirty="0">
              <a:latin typeface="+mn-lt"/>
            </a:endParaRPr>
          </a:p>
        </p:txBody>
      </p:sp>
      <p:sp>
        <p:nvSpPr>
          <p:cNvPr id="3" name="Text Placeholder 2">
            <a:extLst>
              <a:ext uri="{FF2B5EF4-FFF2-40B4-BE49-F238E27FC236}">
                <a16:creationId xmlns:a16="http://schemas.microsoft.com/office/drawing/2014/main" id="{FAF81996-AB3A-9CA7-DCD1-6AFD74203D4E}"/>
              </a:ext>
            </a:extLst>
          </p:cNvPr>
          <p:cNvSpPr>
            <a:spLocks noGrp="1"/>
          </p:cNvSpPr>
          <p:nvPr>
            <p:ph type="body" idx="1"/>
          </p:nvPr>
        </p:nvSpPr>
        <p:spPr>
          <a:xfrm>
            <a:off x="914409" y="2183801"/>
            <a:ext cx="5079991" cy="1876569"/>
          </a:xfrm>
        </p:spPr>
        <p:txBody>
          <a:bodyPr/>
          <a:lstStyle/>
          <a:p>
            <a:r>
              <a:rPr lang="en-IN" b="1" u="sng" dirty="0"/>
              <a:t>1. Physical Integrity</a:t>
            </a:r>
          </a:p>
          <a:p>
            <a:endParaRPr lang="en-IN" dirty="0"/>
          </a:p>
        </p:txBody>
      </p:sp>
      <p:sp>
        <p:nvSpPr>
          <p:cNvPr id="6" name="Text Placeholder 5">
            <a:extLst>
              <a:ext uri="{FF2B5EF4-FFF2-40B4-BE49-F238E27FC236}">
                <a16:creationId xmlns:a16="http://schemas.microsoft.com/office/drawing/2014/main" id="{9E74134D-9FA2-62FC-BB8B-B8331D69BE8D}"/>
              </a:ext>
            </a:extLst>
          </p:cNvPr>
          <p:cNvSpPr>
            <a:spLocks noGrp="1"/>
          </p:cNvSpPr>
          <p:nvPr>
            <p:ph sz="half" idx="2"/>
          </p:nvPr>
        </p:nvSpPr>
        <p:spPr>
          <a:xfrm>
            <a:off x="685800" y="3929743"/>
            <a:ext cx="5311775" cy="2288942"/>
          </a:xfrm>
        </p:spPr>
        <p:txBody>
          <a:bodyPr>
            <a:normAutofit fontScale="70000" lnSpcReduction="20000"/>
          </a:bodyPr>
          <a:lstStyle/>
          <a:p>
            <a:pPr marL="0" indent="0">
              <a:buNone/>
            </a:pPr>
            <a:r>
              <a:rPr lang="en-IN" dirty="0"/>
              <a:t>Ensures that data remains logically correct and follows business rules.</a:t>
            </a:r>
          </a:p>
          <a:p>
            <a:endParaRPr lang="en-IN" dirty="0"/>
          </a:p>
          <a:p>
            <a:r>
              <a:rPr lang="en-IN" b="1" u="sng" dirty="0"/>
              <a:t>Examples:</a:t>
            </a:r>
          </a:p>
          <a:p>
            <a:pPr marL="285750" indent="-285750">
              <a:buFont typeface="Arial" panose="020B0604020202020204" pitchFamily="34" charset="0"/>
              <a:buChar char="•"/>
            </a:pPr>
            <a:r>
              <a:rPr lang="en-IN" dirty="0"/>
              <a:t>Primary key constraints </a:t>
            </a:r>
          </a:p>
          <a:p>
            <a:pPr marL="285750" indent="-285750">
              <a:buFont typeface="Arial" panose="020B0604020202020204" pitchFamily="34" charset="0"/>
              <a:buChar char="•"/>
            </a:pPr>
            <a:r>
              <a:rPr lang="en-IN" dirty="0"/>
              <a:t>Foreign key relationships </a:t>
            </a:r>
          </a:p>
          <a:p>
            <a:pPr marL="285750" indent="-285750">
              <a:buFont typeface="Arial" panose="020B0604020202020204" pitchFamily="34" charset="0"/>
              <a:buChar char="•"/>
            </a:pPr>
            <a:r>
              <a:rPr lang="en-IN" dirty="0"/>
              <a:t>Validation rules </a:t>
            </a:r>
          </a:p>
          <a:p>
            <a:pPr marL="285750" indent="-285750">
              <a:buFont typeface="Arial" panose="020B0604020202020204" pitchFamily="34" charset="0"/>
              <a:buChar char="•"/>
            </a:pPr>
            <a:r>
              <a:rPr lang="en-IN" dirty="0"/>
              <a:t>Data type restrictions</a:t>
            </a:r>
          </a:p>
          <a:p>
            <a:endParaRPr lang="en-IN" dirty="0"/>
          </a:p>
        </p:txBody>
      </p:sp>
      <p:sp>
        <p:nvSpPr>
          <p:cNvPr id="5" name="Text Placeholder 4">
            <a:extLst>
              <a:ext uri="{FF2B5EF4-FFF2-40B4-BE49-F238E27FC236}">
                <a16:creationId xmlns:a16="http://schemas.microsoft.com/office/drawing/2014/main" id="{106EDD7B-4005-A0E0-93D7-876A54E36AAB}"/>
              </a:ext>
            </a:extLst>
          </p:cNvPr>
          <p:cNvSpPr>
            <a:spLocks noGrp="1"/>
          </p:cNvSpPr>
          <p:nvPr>
            <p:ph type="body" sz="quarter" idx="3"/>
          </p:nvPr>
        </p:nvSpPr>
        <p:spPr>
          <a:xfrm>
            <a:off x="6400800" y="2183801"/>
            <a:ext cx="5105400" cy="1876569"/>
          </a:xfrm>
        </p:spPr>
        <p:txBody>
          <a:bodyPr/>
          <a:lstStyle/>
          <a:p>
            <a:r>
              <a:rPr lang="en-IN" b="1" u="sng" dirty="0"/>
              <a:t>2. Logical Integrity</a:t>
            </a:r>
          </a:p>
          <a:p>
            <a:endParaRPr lang="en-IN" dirty="0"/>
          </a:p>
        </p:txBody>
      </p:sp>
      <p:sp>
        <p:nvSpPr>
          <p:cNvPr id="4" name="Text Placeholder 3">
            <a:extLst>
              <a:ext uri="{FF2B5EF4-FFF2-40B4-BE49-F238E27FC236}">
                <a16:creationId xmlns:a16="http://schemas.microsoft.com/office/drawing/2014/main" id="{AC810930-D2E6-79F1-AC6B-C5EB1B460483}"/>
              </a:ext>
            </a:extLst>
          </p:cNvPr>
          <p:cNvSpPr>
            <a:spLocks noGrp="1"/>
          </p:cNvSpPr>
          <p:nvPr>
            <p:ph sz="quarter" idx="4"/>
          </p:nvPr>
        </p:nvSpPr>
        <p:spPr>
          <a:xfrm>
            <a:off x="6286500" y="3929743"/>
            <a:ext cx="4239986" cy="3086019"/>
          </a:xfrm>
        </p:spPr>
        <p:txBody>
          <a:bodyPr>
            <a:normAutofit fontScale="70000" lnSpcReduction="20000"/>
          </a:bodyPr>
          <a:lstStyle/>
          <a:p>
            <a:r>
              <a:rPr lang="en-IN" sz="2900" dirty="0"/>
              <a:t>Protects data from physical threats such as hardware failures, power outages, and natural disasters.</a:t>
            </a:r>
          </a:p>
          <a:p>
            <a:endParaRPr lang="en-IN" dirty="0"/>
          </a:p>
        </p:txBody>
      </p:sp>
      <p:sp>
        <p:nvSpPr>
          <p:cNvPr id="10" name="TextBox 9">
            <a:extLst>
              <a:ext uri="{FF2B5EF4-FFF2-40B4-BE49-F238E27FC236}">
                <a16:creationId xmlns:a16="http://schemas.microsoft.com/office/drawing/2014/main" id="{E8B7763F-D933-A55F-C027-B53869BA3A13}"/>
              </a:ext>
            </a:extLst>
          </p:cNvPr>
          <p:cNvSpPr txBox="1"/>
          <p:nvPr/>
        </p:nvSpPr>
        <p:spPr>
          <a:xfrm>
            <a:off x="381000" y="2163020"/>
            <a:ext cx="6096000" cy="461665"/>
          </a:xfrm>
          <a:prstGeom prst="rect">
            <a:avLst/>
          </a:prstGeom>
          <a:noFill/>
        </p:spPr>
        <p:txBody>
          <a:bodyPr wrap="square">
            <a:spAutoFit/>
          </a:bodyPr>
          <a:lstStyle/>
          <a:p>
            <a:r>
              <a:rPr lang="en-IN" sz="2400" b="1" u="sng" dirty="0"/>
              <a:t>Types of Data Integrity</a:t>
            </a:r>
          </a:p>
        </p:txBody>
      </p:sp>
    </p:spTree>
    <p:extLst>
      <p:ext uri="{BB962C8B-B14F-4D97-AF65-F5344CB8AC3E}">
        <p14:creationId xmlns:p14="http://schemas.microsoft.com/office/powerpoint/2010/main" val="21198993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EBAB-A9CB-766A-2519-6AA1AB01240B}"/>
              </a:ext>
            </a:extLst>
          </p:cNvPr>
          <p:cNvSpPr>
            <a:spLocks noGrp="1"/>
          </p:cNvSpPr>
          <p:nvPr>
            <p:ph type="title"/>
          </p:nvPr>
        </p:nvSpPr>
        <p:spPr/>
        <p:txBody>
          <a:bodyPr/>
          <a:lstStyle/>
          <a:p>
            <a:r>
              <a:rPr lang="en-IN" dirty="0">
                <a:solidFill>
                  <a:schemeClr val="bg1"/>
                </a:solidFill>
              </a:rPr>
              <a:t>.</a:t>
            </a:r>
          </a:p>
        </p:txBody>
      </p:sp>
      <p:sp>
        <p:nvSpPr>
          <p:cNvPr id="3" name="Text Placeholder 2">
            <a:extLst>
              <a:ext uri="{FF2B5EF4-FFF2-40B4-BE49-F238E27FC236}">
                <a16:creationId xmlns:a16="http://schemas.microsoft.com/office/drawing/2014/main" id="{2FEBDDF9-0FC6-EA60-268A-7793EC8AB2FF}"/>
              </a:ext>
            </a:extLst>
          </p:cNvPr>
          <p:cNvSpPr>
            <a:spLocks noGrp="1"/>
          </p:cNvSpPr>
          <p:nvPr>
            <p:ph type="body" idx="1"/>
          </p:nvPr>
        </p:nvSpPr>
        <p:spPr>
          <a:xfrm>
            <a:off x="914409" y="2183802"/>
            <a:ext cx="5079991" cy="1245198"/>
          </a:xfrm>
        </p:spPr>
        <p:txBody>
          <a:bodyPr>
            <a:normAutofit/>
          </a:bodyPr>
          <a:lstStyle/>
          <a:p>
            <a:r>
              <a:rPr lang="en-IN" b="1" u="sng" dirty="0"/>
              <a:t>Methods to Maintain Data Quality and Integrity</a:t>
            </a:r>
          </a:p>
          <a:p>
            <a:endParaRPr lang="en-IN" dirty="0"/>
          </a:p>
        </p:txBody>
      </p:sp>
      <p:sp>
        <p:nvSpPr>
          <p:cNvPr id="4" name="Content Placeholder 3">
            <a:extLst>
              <a:ext uri="{FF2B5EF4-FFF2-40B4-BE49-F238E27FC236}">
                <a16:creationId xmlns:a16="http://schemas.microsoft.com/office/drawing/2014/main" id="{A0A3B4D7-61EB-D782-68C0-C9BA3FD99467}"/>
              </a:ext>
            </a:extLst>
          </p:cNvPr>
          <p:cNvSpPr>
            <a:spLocks noGrp="1"/>
          </p:cNvSpPr>
          <p:nvPr>
            <p:ph sz="half" idx="2"/>
          </p:nvPr>
        </p:nvSpPr>
        <p:spPr/>
        <p:txBody>
          <a:bodyPr>
            <a:normAutofit fontScale="77500" lnSpcReduction="20000"/>
          </a:bodyPr>
          <a:lstStyle/>
          <a:p>
            <a:r>
              <a:rPr lang="en-IN" dirty="0"/>
              <a:t>Data validation </a:t>
            </a:r>
          </a:p>
          <a:p>
            <a:r>
              <a:rPr lang="en-IN" dirty="0"/>
              <a:t>Data cleansing </a:t>
            </a:r>
          </a:p>
          <a:p>
            <a:r>
              <a:rPr lang="en-IN" dirty="0"/>
              <a:t>Regular backups </a:t>
            </a:r>
          </a:p>
          <a:p>
            <a:r>
              <a:rPr lang="en-IN" dirty="0"/>
              <a:t>Access control </a:t>
            </a:r>
          </a:p>
          <a:p>
            <a:r>
              <a:rPr lang="en-IN" dirty="0"/>
              <a:t>Encryption </a:t>
            </a:r>
          </a:p>
          <a:p>
            <a:r>
              <a:rPr lang="en-IN" dirty="0"/>
              <a:t>Audit trails </a:t>
            </a:r>
          </a:p>
          <a:p>
            <a:r>
              <a:rPr lang="en-IN" dirty="0"/>
              <a:t>Error checking </a:t>
            </a:r>
          </a:p>
          <a:p>
            <a:r>
              <a:rPr lang="en-IN" dirty="0"/>
              <a:t>Duplicate removal </a:t>
            </a:r>
          </a:p>
          <a:p>
            <a:r>
              <a:rPr lang="en-IN" dirty="0"/>
              <a:t>Regular monitoring </a:t>
            </a:r>
          </a:p>
          <a:p>
            <a:r>
              <a:rPr lang="en-IN" dirty="0"/>
              <a:t>Employee training</a:t>
            </a:r>
          </a:p>
          <a:p>
            <a:endParaRPr lang="en-IN" dirty="0"/>
          </a:p>
        </p:txBody>
      </p:sp>
      <p:sp>
        <p:nvSpPr>
          <p:cNvPr id="5" name="Text Placeholder 4">
            <a:extLst>
              <a:ext uri="{FF2B5EF4-FFF2-40B4-BE49-F238E27FC236}">
                <a16:creationId xmlns:a16="http://schemas.microsoft.com/office/drawing/2014/main" id="{EB67DC81-FD16-454E-C94A-F11293C228B2}"/>
              </a:ext>
            </a:extLst>
          </p:cNvPr>
          <p:cNvSpPr>
            <a:spLocks noGrp="1"/>
          </p:cNvSpPr>
          <p:nvPr>
            <p:ph type="body" sz="quarter" idx="3"/>
          </p:nvPr>
        </p:nvSpPr>
        <p:spPr>
          <a:xfrm>
            <a:off x="6400800" y="2183802"/>
            <a:ext cx="5105400" cy="1245198"/>
          </a:xfrm>
        </p:spPr>
        <p:txBody>
          <a:bodyPr>
            <a:normAutofit/>
          </a:bodyPr>
          <a:lstStyle/>
          <a:p>
            <a:r>
              <a:rPr lang="en-IN" b="1" u="sng" dirty="0"/>
              <a:t>Benefits of High Data Quality and Integrity</a:t>
            </a:r>
          </a:p>
          <a:p>
            <a:endParaRPr lang="en-IN" dirty="0"/>
          </a:p>
        </p:txBody>
      </p:sp>
      <p:sp>
        <p:nvSpPr>
          <p:cNvPr id="6" name="Content Placeholder 5">
            <a:extLst>
              <a:ext uri="{FF2B5EF4-FFF2-40B4-BE49-F238E27FC236}">
                <a16:creationId xmlns:a16="http://schemas.microsoft.com/office/drawing/2014/main" id="{C5523470-0A9B-3F8A-AAAA-1BA96FE63C01}"/>
              </a:ext>
            </a:extLst>
          </p:cNvPr>
          <p:cNvSpPr>
            <a:spLocks noGrp="1"/>
          </p:cNvSpPr>
          <p:nvPr>
            <p:ph sz="quarter" idx="4"/>
          </p:nvPr>
        </p:nvSpPr>
        <p:spPr/>
        <p:txBody>
          <a:bodyPr>
            <a:normAutofit fontScale="77500" lnSpcReduction="20000"/>
          </a:bodyPr>
          <a:lstStyle/>
          <a:p>
            <a:r>
              <a:rPr lang="en-IN" dirty="0"/>
              <a:t>Better decision-making </a:t>
            </a:r>
          </a:p>
          <a:p>
            <a:r>
              <a:rPr lang="en-IN" dirty="0"/>
              <a:t>Improved customer satisfaction </a:t>
            </a:r>
          </a:p>
          <a:p>
            <a:r>
              <a:rPr lang="en-IN" dirty="0"/>
              <a:t>Increased operational efficiency </a:t>
            </a:r>
          </a:p>
          <a:p>
            <a:r>
              <a:rPr lang="en-IN" dirty="0"/>
              <a:t>Accurate reporting </a:t>
            </a:r>
          </a:p>
          <a:p>
            <a:r>
              <a:rPr lang="en-IN" dirty="0"/>
              <a:t>Reduced errors and duplication </a:t>
            </a:r>
          </a:p>
          <a:p>
            <a:r>
              <a:rPr lang="en-IN" dirty="0"/>
              <a:t>Better regulatory compliance </a:t>
            </a:r>
          </a:p>
          <a:p>
            <a:r>
              <a:rPr lang="en-IN" dirty="0"/>
              <a:t>Enhanced business reputation </a:t>
            </a:r>
          </a:p>
          <a:p>
            <a:r>
              <a:rPr lang="en-IN" dirty="0"/>
              <a:t>Stronger data security</a:t>
            </a:r>
          </a:p>
          <a:p>
            <a:endParaRPr lang="en-IN" dirty="0"/>
          </a:p>
        </p:txBody>
      </p:sp>
    </p:spTree>
    <p:extLst>
      <p:ext uri="{BB962C8B-B14F-4D97-AF65-F5344CB8AC3E}">
        <p14:creationId xmlns:p14="http://schemas.microsoft.com/office/powerpoint/2010/main" val="1204853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AF356-9CC2-457D-DA0D-9CE6F4D5CAB7}"/>
              </a:ext>
            </a:extLst>
          </p:cNvPr>
          <p:cNvSpPr>
            <a:spLocks noGrp="1"/>
          </p:cNvSpPr>
          <p:nvPr>
            <p:ph type="ctrTitle"/>
          </p:nvPr>
        </p:nvSpPr>
        <p:spPr>
          <a:xfrm>
            <a:off x="1371600" y="1803404"/>
            <a:ext cx="9448800" cy="950681"/>
          </a:xfrm>
        </p:spPr>
        <p:txBody>
          <a:bodyPr>
            <a:normAutofit fontScale="90000"/>
          </a:bodyPr>
          <a:lstStyle/>
          <a:p>
            <a:r>
              <a:rPr lang="en-IN" b="1" u="sng" dirty="0"/>
              <a:t>Real-World Example</a:t>
            </a:r>
            <a:br>
              <a:rPr lang="en-IN" b="1" dirty="0"/>
            </a:br>
            <a:endParaRPr lang="en-IN" dirty="0"/>
          </a:p>
        </p:txBody>
      </p:sp>
      <p:sp>
        <p:nvSpPr>
          <p:cNvPr id="3" name="Subtitle 2">
            <a:extLst>
              <a:ext uri="{FF2B5EF4-FFF2-40B4-BE49-F238E27FC236}">
                <a16:creationId xmlns:a16="http://schemas.microsoft.com/office/drawing/2014/main" id="{0C2F07F1-3BBA-370B-1DD1-D402C5925123}"/>
              </a:ext>
            </a:extLst>
          </p:cNvPr>
          <p:cNvSpPr>
            <a:spLocks noGrp="1"/>
          </p:cNvSpPr>
          <p:nvPr>
            <p:ph type="subTitle" idx="1"/>
          </p:nvPr>
        </p:nvSpPr>
        <p:spPr>
          <a:xfrm>
            <a:off x="1371600" y="2590799"/>
            <a:ext cx="9448800" cy="2002971"/>
          </a:xfrm>
        </p:spPr>
        <p:txBody>
          <a:bodyPr>
            <a:normAutofit fontScale="92500" lnSpcReduction="10000"/>
          </a:bodyPr>
          <a:lstStyle/>
          <a:p>
            <a:r>
              <a:rPr lang="en-IN" dirty="0"/>
              <a:t>An e-commerce company collects customer information through its website (</a:t>
            </a:r>
            <a:r>
              <a:rPr lang="en-IN" b="1" dirty="0"/>
              <a:t>Data Creation</a:t>
            </a:r>
            <a:r>
              <a:rPr lang="en-IN" dirty="0"/>
              <a:t>). The information is stored securely in a cloud database (</a:t>
            </a:r>
            <a:r>
              <a:rPr lang="en-IN" b="1" dirty="0"/>
              <a:t>Storage</a:t>
            </a:r>
            <a:r>
              <a:rPr lang="en-IN" dirty="0"/>
              <a:t>). Sales and marketing teams use the data to recommend products and generate reports (</a:t>
            </a:r>
            <a:r>
              <a:rPr lang="en-IN" b="1" dirty="0"/>
              <a:t>Usage</a:t>
            </a:r>
            <a:r>
              <a:rPr lang="en-IN" dirty="0"/>
              <a:t>). Purchase records older than five years are moved to long-term cloud storage (</a:t>
            </a:r>
            <a:r>
              <a:rPr lang="en-IN" b="1" dirty="0"/>
              <a:t>Archiving</a:t>
            </a:r>
            <a:r>
              <a:rPr lang="en-IN" dirty="0"/>
              <a:t>). After the legally required retention period expires, the records are securely erased (</a:t>
            </a:r>
            <a:r>
              <a:rPr lang="en-IN" b="1" dirty="0"/>
              <a:t>Deletion</a:t>
            </a:r>
            <a:r>
              <a:rPr lang="en-IN" dirty="0"/>
              <a:t>). Throughout this process, validation rules, encryption, backups, and regular audits help maintain </a:t>
            </a:r>
            <a:r>
              <a:rPr lang="en-IN" b="1" dirty="0"/>
              <a:t>data quality and integrity</a:t>
            </a:r>
            <a:r>
              <a:rPr lang="en-IN" dirty="0"/>
              <a:t>.</a:t>
            </a:r>
          </a:p>
          <a:p>
            <a:endParaRPr lang="en-IN" dirty="0"/>
          </a:p>
        </p:txBody>
      </p:sp>
    </p:spTree>
    <p:extLst>
      <p:ext uri="{BB962C8B-B14F-4D97-AF65-F5344CB8AC3E}">
        <p14:creationId xmlns:p14="http://schemas.microsoft.com/office/powerpoint/2010/main" val="13343838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759A-627F-07E4-3CFA-BFD8E4518D93}"/>
              </a:ext>
            </a:extLst>
          </p:cNvPr>
          <p:cNvSpPr>
            <a:spLocks noGrp="1"/>
          </p:cNvSpPr>
          <p:nvPr>
            <p:ph type="title"/>
          </p:nvPr>
        </p:nvSpPr>
        <p:spPr/>
        <p:txBody>
          <a:bodyPr>
            <a:normAutofit fontScale="90000"/>
          </a:bodyPr>
          <a:lstStyle/>
          <a:p>
            <a:pPr algn="ctr"/>
            <a:r>
              <a:rPr lang="en-IN" b="1" u="sng" dirty="0"/>
              <a:t>Introduction to Business Analyst Role</a:t>
            </a:r>
            <a:br>
              <a:rPr lang="en-IN" b="1" u="sng" dirty="0"/>
            </a:br>
            <a:endParaRPr lang="en-IN" u="sng" dirty="0"/>
          </a:p>
        </p:txBody>
      </p:sp>
      <p:sp>
        <p:nvSpPr>
          <p:cNvPr id="3" name="Content Placeholder 2">
            <a:extLst>
              <a:ext uri="{FF2B5EF4-FFF2-40B4-BE49-F238E27FC236}">
                <a16:creationId xmlns:a16="http://schemas.microsoft.com/office/drawing/2014/main" id="{AD0BB3E0-46B6-DDA3-06CF-A065B2CF100D}"/>
              </a:ext>
            </a:extLst>
          </p:cNvPr>
          <p:cNvSpPr>
            <a:spLocks noGrp="1"/>
          </p:cNvSpPr>
          <p:nvPr>
            <p:ph idx="1"/>
          </p:nvPr>
        </p:nvSpPr>
        <p:spPr>
          <a:xfrm>
            <a:off x="685800" y="1883230"/>
            <a:ext cx="10820400" cy="4335456"/>
          </a:xfrm>
        </p:spPr>
        <p:txBody>
          <a:bodyPr>
            <a:normAutofit/>
          </a:bodyPr>
          <a:lstStyle/>
          <a:p>
            <a:pPr marL="0" indent="0">
              <a:buNone/>
            </a:pPr>
            <a:r>
              <a:rPr lang="en-IN" sz="2800" b="1" u="sng" dirty="0"/>
              <a:t>Introduction</a:t>
            </a:r>
          </a:p>
          <a:p>
            <a:pPr marL="0" indent="0">
              <a:buNone/>
            </a:pPr>
            <a:endParaRPr lang="en-IN" b="1" dirty="0"/>
          </a:p>
          <a:p>
            <a:r>
              <a:rPr lang="en-IN" dirty="0"/>
              <a:t>A </a:t>
            </a:r>
            <a:r>
              <a:rPr lang="en-IN" b="1" dirty="0"/>
              <a:t>Business Analyst (BA)</a:t>
            </a:r>
            <a:r>
              <a:rPr lang="en-IN" dirty="0"/>
              <a:t> is a professional who acts as a bridge between business stakeholders and the technical team. The primary role of a Business Analyst is to understand business needs, identify problems, </a:t>
            </a:r>
            <a:r>
              <a:rPr lang="en-IN" dirty="0" err="1"/>
              <a:t>analyze</a:t>
            </a:r>
            <a:r>
              <a:rPr lang="en-IN" dirty="0"/>
              <a:t> requirements, and recommend technology-based or process-based solutions that help organizations achieve their objectives. Business Analysts play a crucial role in improving business processes, increasing efficiency, reducing costs, and ensuring that projects deliver value to the organization.</a:t>
            </a:r>
          </a:p>
          <a:p>
            <a:r>
              <a:rPr lang="en-IN" dirty="0"/>
              <a:t>Business Analysts work in various industries, including banking, healthcare, retail, finance, manufacturing, information technology (IT), telecommunications, education, and government organizations.</a:t>
            </a:r>
          </a:p>
          <a:p>
            <a:endParaRPr lang="en-IN" dirty="0"/>
          </a:p>
        </p:txBody>
      </p:sp>
    </p:spTree>
    <p:extLst>
      <p:ext uri="{BB962C8B-B14F-4D97-AF65-F5344CB8AC3E}">
        <p14:creationId xmlns:p14="http://schemas.microsoft.com/office/powerpoint/2010/main" val="817354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A8F9-F7EA-245E-36ED-D3C1AE81C34A}"/>
              </a:ext>
            </a:extLst>
          </p:cNvPr>
          <p:cNvSpPr>
            <a:spLocks noGrp="1"/>
          </p:cNvSpPr>
          <p:nvPr>
            <p:ph type="ctrTitle"/>
          </p:nvPr>
        </p:nvSpPr>
        <p:spPr>
          <a:xfrm>
            <a:off x="2917370" y="1219201"/>
            <a:ext cx="7903029" cy="1164770"/>
          </a:xfrm>
        </p:spPr>
        <p:txBody>
          <a:bodyPr>
            <a:normAutofit fontScale="90000"/>
          </a:bodyPr>
          <a:lstStyle/>
          <a:p>
            <a:r>
              <a:rPr lang="en-IN" sz="3100" b="1" u="sng" dirty="0"/>
              <a:t>A. Definition and Responsibilities of a Business Analyst</a:t>
            </a:r>
            <a:br>
              <a:rPr lang="en-IN" b="1" u="sng" dirty="0"/>
            </a:br>
            <a:endParaRPr lang="en-IN" u="sng" dirty="0"/>
          </a:p>
        </p:txBody>
      </p:sp>
      <p:sp>
        <p:nvSpPr>
          <p:cNvPr id="3" name="Subtitle 2">
            <a:extLst>
              <a:ext uri="{FF2B5EF4-FFF2-40B4-BE49-F238E27FC236}">
                <a16:creationId xmlns:a16="http://schemas.microsoft.com/office/drawing/2014/main" id="{8CBE94D4-4C40-0218-A893-0B369C385FDD}"/>
              </a:ext>
            </a:extLst>
          </p:cNvPr>
          <p:cNvSpPr>
            <a:spLocks noGrp="1"/>
          </p:cNvSpPr>
          <p:nvPr>
            <p:ph type="subTitle" idx="1"/>
          </p:nvPr>
        </p:nvSpPr>
        <p:spPr>
          <a:xfrm>
            <a:off x="1371600" y="1905000"/>
            <a:ext cx="9448800" cy="4550229"/>
          </a:xfrm>
        </p:spPr>
        <p:txBody>
          <a:bodyPr>
            <a:normAutofit fontScale="85000" lnSpcReduction="20000"/>
          </a:bodyPr>
          <a:lstStyle/>
          <a:p>
            <a:r>
              <a:rPr lang="en-IN" sz="2600" b="1" u="sng" dirty="0"/>
              <a:t>Definition</a:t>
            </a:r>
          </a:p>
          <a:p>
            <a:endParaRPr lang="en-IN" b="1" dirty="0"/>
          </a:p>
          <a:p>
            <a:r>
              <a:rPr lang="en-IN" dirty="0"/>
              <a:t>A </a:t>
            </a:r>
            <a:r>
              <a:rPr lang="en-IN" b="1" dirty="0"/>
              <a:t>Business Analyst (BA)</a:t>
            </a:r>
            <a:r>
              <a:rPr lang="en-IN" dirty="0"/>
              <a:t> is a professional responsible for identifying business needs, gathering and </a:t>
            </a:r>
            <a:r>
              <a:rPr lang="en-IN" dirty="0" err="1"/>
              <a:t>analyzing</a:t>
            </a:r>
            <a:r>
              <a:rPr lang="en-IN" dirty="0"/>
              <a:t> requirements, evaluating business processes, and proposing solutions that align with organizational goals. The BA serves as a communication link between business users, management, and the technical development team.</a:t>
            </a:r>
          </a:p>
          <a:p>
            <a:br>
              <a:rPr lang="en-IN" dirty="0"/>
            </a:br>
            <a:endParaRPr lang="en-IN" dirty="0"/>
          </a:p>
          <a:p>
            <a:r>
              <a:rPr lang="en-IN" b="1" u="sng" dirty="0"/>
              <a:t>Objectives of a Business Analyst</a:t>
            </a:r>
          </a:p>
          <a:p>
            <a:pPr marL="342900" indent="-342900">
              <a:buFont typeface="Arial" panose="020B0604020202020204" pitchFamily="34" charset="0"/>
              <a:buChar char="•"/>
            </a:pPr>
            <a:r>
              <a:rPr lang="en-IN" dirty="0"/>
              <a:t>Understand business problems. </a:t>
            </a:r>
          </a:p>
          <a:p>
            <a:pPr marL="342900" indent="-342900">
              <a:buFont typeface="Arial" panose="020B0604020202020204" pitchFamily="34" charset="0"/>
              <a:buChar char="•"/>
            </a:pPr>
            <a:r>
              <a:rPr lang="en-IN" dirty="0"/>
              <a:t>Identify opportunities for improvement. </a:t>
            </a:r>
          </a:p>
          <a:p>
            <a:pPr marL="342900" indent="-342900">
              <a:buFont typeface="Arial" panose="020B0604020202020204" pitchFamily="34" charset="0"/>
              <a:buChar char="•"/>
            </a:pPr>
            <a:r>
              <a:rPr lang="en-IN" dirty="0"/>
              <a:t>Gather and document business requirements. </a:t>
            </a:r>
          </a:p>
          <a:p>
            <a:pPr marL="342900" indent="-342900">
              <a:buFont typeface="Arial" panose="020B0604020202020204" pitchFamily="34" charset="0"/>
              <a:buChar char="•"/>
            </a:pPr>
            <a:r>
              <a:rPr lang="en-IN" dirty="0"/>
              <a:t>Recommend effective solutions. </a:t>
            </a:r>
          </a:p>
          <a:p>
            <a:pPr marL="342900" indent="-342900">
              <a:buFont typeface="Arial" panose="020B0604020202020204" pitchFamily="34" charset="0"/>
              <a:buChar char="•"/>
            </a:pPr>
            <a:r>
              <a:rPr lang="en-IN" dirty="0"/>
              <a:t>Improve business processes. </a:t>
            </a:r>
          </a:p>
          <a:p>
            <a:pPr marL="342900" indent="-342900">
              <a:buFont typeface="Arial" panose="020B0604020202020204" pitchFamily="34" charset="0"/>
              <a:buChar char="•"/>
            </a:pPr>
            <a:r>
              <a:rPr lang="en-IN" dirty="0"/>
              <a:t>Support successful project implementation. </a:t>
            </a:r>
          </a:p>
          <a:p>
            <a:pPr marL="342900" indent="-342900">
              <a:buFont typeface="Arial" panose="020B0604020202020204" pitchFamily="34" charset="0"/>
              <a:buChar char="•"/>
            </a:pPr>
            <a:r>
              <a:rPr lang="en-IN" dirty="0"/>
              <a:t>Ensure customer and stakeholder satisfaction.</a:t>
            </a:r>
          </a:p>
          <a:p>
            <a:endParaRPr lang="en-IN" dirty="0"/>
          </a:p>
        </p:txBody>
      </p:sp>
    </p:spTree>
    <p:extLst>
      <p:ext uri="{BB962C8B-B14F-4D97-AF65-F5344CB8AC3E}">
        <p14:creationId xmlns:p14="http://schemas.microsoft.com/office/powerpoint/2010/main" val="30619025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14F9A-E2C9-7B19-60D0-CF4EF52F2DA9}"/>
              </a:ext>
            </a:extLst>
          </p:cNvPr>
          <p:cNvSpPr>
            <a:spLocks noGrp="1"/>
          </p:cNvSpPr>
          <p:nvPr>
            <p:ph type="title"/>
          </p:nvPr>
        </p:nvSpPr>
        <p:spPr>
          <a:xfrm>
            <a:off x="2895600" y="326571"/>
            <a:ext cx="8610599" cy="881743"/>
          </a:xfrm>
        </p:spPr>
        <p:txBody>
          <a:bodyPr>
            <a:normAutofit fontScale="90000"/>
          </a:bodyPr>
          <a:lstStyle/>
          <a:p>
            <a:pPr algn="ctr"/>
            <a:r>
              <a:rPr lang="en-IN" u="sng" dirty="0"/>
              <a:t>Roles and Responsibilities of a Business </a:t>
            </a:r>
            <a:r>
              <a:rPr lang="en-IN" u="sng" dirty="0" err="1"/>
              <a:t>AnalysT</a:t>
            </a:r>
            <a:endParaRPr lang="en-IN" u="sng" dirty="0"/>
          </a:p>
        </p:txBody>
      </p:sp>
      <p:sp>
        <p:nvSpPr>
          <p:cNvPr id="3" name="Text Placeholder 2">
            <a:extLst>
              <a:ext uri="{FF2B5EF4-FFF2-40B4-BE49-F238E27FC236}">
                <a16:creationId xmlns:a16="http://schemas.microsoft.com/office/drawing/2014/main" id="{489C3212-DF85-51E5-1C17-55FD453E0360}"/>
              </a:ext>
            </a:extLst>
          </p:cNvPr>
          <p:cNvSpPr>
            <a:spLocks noGrp="1"/>
          </p:cNvSpPr>
          <p:nvPr>
            <p:ph type="body" idx="1"/>
          </p:nvPr>
        </p:nvSpPr>
        <p:spPr/>
        <p:txBody>
          <a:bodyPr/>
          <a:lstStyle/>
          <a:p>
            <a:r>
              <a:rPr lang="en-IN" b="1" u="sng" dirty="0"/>
              <a:t>1. Requirement Gathering</a:t>
            </a:r>
          </a:p>
          <a:p>
            <a:endParaRPr lang="en-IN" dirty="0"/>
          </a:p>
        </p:txBody>
      </p:sp>
      <p:sp>
        <p:nvSpPr>
          <p:cNvPr id="4" name="Text Placeholder 3">
            <a:extLst>
              <a:ext uri="{FF2B5EF4-FFF2-40B4-BE49-F238E27FC236}">
                <a16:creationId xmlns:a16="http://schemas.microsoft.com/office/drawing/2014/main" id="{ABB0F8EB-38E6-C30F-A485-5BF9B9D6B935}"/>
              </a:ext>
            </a:extLst>
          </p:cNvPr>
          <p:cNvSpPr>
            <a:spLocks noGrp="1"/>
          </p:cNvSpPr>
          <p:nvPr>
            <p:ph type="body" sz="half" idx="15"/>
          </p:nvPr>
        </p:nvSpPr>
        <p:spPr>
          <a:xfrm>
            <a:off x="685799" y="2492830"/>
            <a:ext cx="3456432" cy="4147456"/>
          </a:xfrm>
        </p:spPr>
        <p:txBody>
          <a:bodyPr>
            <a:normAutofit/>
          </a:bodyPr>
          <a:lstStyle/>
          <a:p>
            <a:pPr marL="285750" indent="-285750">
              <a:buFont typeface="Courier New" panose="02070309020205020404" pitchFamily="49" charset="0"/>
              <a:buChar char="o"/>
            </a:pPr>
            <a:r>
              <a:rPr lang="en-IN" dirty="0"/>
              <a:t>Meet with stakeholders to understand business needs. </a:t>
            </a:r>
          </a:p>
          <a:p>
            <a:pPr marL="285750" indent="-285750">
              <a:buFont typeface="Courier New" panose="02070309020205020404" pitchFamily="49" charset="0"/>
              <a:buChar char="o"/>
            </a:pPr>
            <a:r>
              <a:rPr lang="en-IN" dirty="0"/>
              <a:t>Conduct interviews, workshops, and surveys. </a:t>
            </a:r>
          </a:p>
          <a:p>
            <a:pPr marL="285750" indent="-285750">
              <a:buFont typeface="Courier New" panose="02070309020205020404" pitchFamily="49" charset="0"/>
              <a:buChar char="o"/>
            </a:pPr>
            <a:r>
              <a:rPr lang="en-IN" dirty="0"/>
              <a:t>Document business and functional requirements. </a:t>
            </a:r>
          </a:p>
          <a:p>
            <a:endParaRPr lang="en-IN" dirty="0"/>
          </a:p>
          <a:p>
            <a:r>
              <a:rPr lang="en-IN" sz="2400" b="1" u="sng" dirty="0"/>
              <a:t>2. Requirement Analysis</a:t>
            </a:r>
          </a:p>
          <a:p>
            <a:pPr marL="285750" indent="-285750">
              <a:buFont typeface="Courier New" panose="02070309020205020404" pitchFamily="49" charset="0"/>
              <a:buChar char="o"/>
            </a:pPr>
            <a:r>
              <a:rPr lang="en-IN" dirty="0" err="1"/>
              <a:t>Analyze</a:t>
            </a:r>
            <a:r>
              <a:rPr lang="en-IN" dirty="0"/>
              <a:t> collected requirements. </a:t>
            </a:r>
          </a:p>
          <a:p>
            <a:pPr marL="285750" indent="-285750">
              <a:buFont typeface="Courier New" panose="02070309020205020404" pitchFamily="49" charset="0"/>
              <a:buChar char="o"/>
            </a:pPr>
            <a:r>
              <a:rPr lang="en-IN" dirty="0"/>
              <a:t>Identify gaps and inconsistencies. </a:t>
            </a:r>
          </a:p>
          <a:p>
            <a:pPr marL="285750" indent="-285750">
              <a:buFont typeface="Courier New" panose="02070309020205020404" pitchFamily="49" charset="0"/>
              <a:buChar char="o"/>
            </a:pPr>
            <a:r>
              <a:rPr lang="en-IN" dirty="0"/>
              <a:t>Prioritize business needs.</a:t>
            </a:r>
          </a:p>
          <a:p>
            <a:endParaRPr lang="en-IN" dirty="0"/>
          </a:p>
          <a:p>
            <a:endParaRPr lang="en-IN" dirty="0"/>
          </a:p>
          <a:p>
            <a:endParaRPr lang="en-IN" dirty="0"/>
          </a:p>
        </p:txBody>
      </p:sp>
      <p:sp>
        <p:nvSpPr>
          <p:cNvPr id="5" name="Text Placeholder 4">
            <a:extLst>
              <a:ext uri="{FF2B5EF4-FFF2-40B4-BE49-F238E27FC236}">
                <a16:creationId xmlns:a16="http://schemas.microsoft.com/office/drawing/2014/main" id="{D8340858-B68C-7AC1-C686-D7D14D076FB9}"/>
              </a:ext>
            </a:extLst>
          </p:cNvPr>
          <p:cNvSpPr>
            <a:spLocks noGrp="1"/>
          </p:cNvSpPr>
          <p:nvPr>
            <p:ph type="body" sz="quarter" idx="3"/>
          </p:nvPr>
        </p:nvSpPr>
        <p:spPr>
          <a:xfrm>
            <a:off x="4368800" y="1719944"/>
            <a:ext cx="3456432" cy="772885"/>
          </a:xfrm>
        </p:spPr>
        <p:txBody>
          <a:bodyPr/>
          <a:lstStyle/>
          <a:p>
            <a:r>
              <a:rPr lang="en-IN" b="1" u="sng" dirty="0"/>
              <a:t>3. Process Analysis</a:t>
            </a:r>
          </a:p>
          <a:p>
            <a:endParaRPr lang="en-IN" dirty="0"/>
          </a:p>
        </p:txBody>
      </p:sp>
      <p:sp>
        <p:nvSpPr>
          <p:cNvPr id="6" name="Text Placeholder 5">
            <a:extLst>
              <a:ext uri="{FF2B5EF4-FFF2-40B4-BE49-F238E27FC236}">
                <a16:creationId xmlns:a16="http://schemas.microsoft.com/office/drawing/2014/main" id="{16B78DDC-81F8-790C-00F4-F2FFDA76303B}"/>
              </a:ext>
            </a:extLst>
          </p:cNvPr>
          <p:cNvSpPr>
            <a:spLocks noGrp="1"/>
          </p:cNvSpPr>
          <p:nvPr>
            <p:ph type="body" sz="half" idx="16"/>
          </p:nvPr>
        </p:nvSpPr>
        <p:spPr>
          <a:xfrm>
            <a:off x="4366858" y="2483450"/>
            <a:ext cx="3456432" cy="3895579"/>
          </a:xfrm>
        </p:spPr>
        <p:txBody>
          <a:bodyPr>
            <a:normAutofit fontScale="92500" lnSpcReduction="10000"/>
          </a:bodyPr>
          <a:lstStyle/>
          <a:p>
            <a:pPr marL="285750" indent="-285750">
              <a:buFont typeface="Courier New" panose="02070309020205020404" pitchFamily="49" charset="0"/>
              <a:buChar char="o"/>
            </a:pPr>
            <a:r>
              <a:rPr lang="en-IN" dirty="0"/>
              <a:t>Study existing business processes. </a:t>
            </a:r>
          </a:p>
          <a:p>
            <a:pPr marL="285750" indent="-285750">
              <a:buFont typeface="Courier New" panose="02070309020205020404" pitchFamily="49" charset="0"/>
              <a:buChar char="o"/>
            </a:pPr>
            <a:r>
              <a:rPr lang="en-IN" dirty="0"/>
              <a:t>Identify inefficiencies. </a:t>
            </a:r>
          </a:p>
          <a:p>
            <a:pPr marL="285750" indent="-285750">
              <a:buFont typeface="Courier New" panose="02070309020205020404" pitchFamily="49" charset="0"/>
              <a:buChar char="o"/>
            </a:pPr>
            <a:r>
              <a:rPr lang="en-IN" dirty="0"/>
              <a:t>Recommend process improvements. </a:t>
            </a:r>
          </a:p>
          <a:p>
            <a:endParaRPr lang="en-IN" dirty="0"/>
          </a:p>
          <a:p>
            <a:r>
              <a:rPr lang="en-IN" sz="2600" b="1" u="sng" dirty="0"/>
              <a:t>4. Documentation</a:t>
            </a:r>
          </a:p>
          <a:p>
            <a:pPr marL="285750" indent="-285750">
              <a:buFont typeface="Courier New" panose="02070309020205020404" pitchFamily="49" charset="0"/>
              <a:buChar char="o"/>
            </a:pPr>
            <a:r>
              <a:rPr lang="en-IN" dirty="0"/>
              <a:t>Prepare important documents such as:</a:t>
            </a:r>
          </a:p>
          <a:p>
            <a:pPr marL="285750" indent="-285750">
              <a:buFont typeface="Courier New" panose="02070309020205020404" pitchFamily="49" charset="0"/>
              <a:buChar char="o"/>
            </a:pPr>
            <a:r>
              <a:rPr lang="en-IN" dirty="0"/>
              <a:t>Business Requirement Document (BRD) </a:t>
            </a:r>
          </a:p>
          <a:p>
            <a:pPr marL="285750" indent="-285750">
              <a:buFont typeface="Courier New" panose="02070309020205020404" pitchFamily="49" charset="0"/>
              <a:buChar char="o"/>
            </a:pPr>
            <a:r>
              <a:rPr lang="en-IN" dirty="0"/>
              <a:t>Functional Requirement Specification (FRS) </a:t>
            </a:r>
          </a:p>
          <a:p>
            <a:pPr marL="285750" indent="-285750">
              <a:buFont typeface="Courier New" panose="02070309020205020404" pitchFamily="49" charset="0"/>
              <a:buChar char="o"/>
            </a:pPr>
            <a:r>
              <a:rPr lang="en-IN" dirty="0"/>
              <a:t>Use Cases </a:t>
            </a:r>
          </a:p>
          <a:p>
            <a:pPr marL="285750" indent="-285750">
              <a:buFont typeface="Courier New" panose="02070309020205020404" pitchFamily="49" charset="0"/>
              <a:buChar char="o"/>
            </a:pPr>
            <a:r>
              <a:rPr lang="en-IN" dirty="0"/>
              <a:t>User Stories </a:t>
            </a:r>
          </a:p>
          <a:p>
            <a:pPr marL="285750" indent="-285750">
              <a:buFont typeface="Courier New" panose="02070309020205020404" pitchFamily="49" charset="0"/>
              <a:buChar char="o"/>
            </a:pPr>
            <a:r>
              <a:rPr lang="en-IN" dirty="0"/>
              <a:t>Process Flow Diagrams</a:t>
            </a:r>
          </a:p>
          <a:p>
            <a:endParaRPr lang="en-IN" dirty="0"/>
          </a:p>
        </p:txBody>
      </p:sp>
      <p:sp>
        <p:nvSpPr>
          <p:cNvPr id="7" name="Text Placeholder 6">
            <a:extLst>
              <a:ext uri="{FF2B5EF4-FFF2-40B4-BE49-F238E27FC236}">
                <a16:creationId xmlns:a16="http://schemas.microsoft.com/office/drawing/2014/main" id="{597C52A7-C9B1-C715-5925-B6A0836BEB17}"/>
              </a:ext>
            </a:extLst>
          </p:cNvPr>
          <p:cNvSpPr>
            <a:spLocks noGrp="1"/>
          </p:cNvSpPr>
          <p:nvPr>
            <p:ph type="body" sz="quarter" idx="13"/>
          </p:nvPr>
        </p:nvSpPr>
        <p:spPr>
          <a:xfrm>
            <a:off x="8051800" y="1600200"/>
            <a:ext cx="3456432" cy="892629"/>
          </a:xfrm>
        </p:spPr>
        <p:txBody>
          <a:bodyPr/>
          <a:lstStyle/>
          <a:p>
            <a:r>
              <a:rPr lang="en-IN" b="1" u="sng" dirty="0"/>
              <a:t>5. Communication</a:t>
            </a:r>
          </a:p>
          <a:p>
            <a:endParaRPr lang="en-IN" dirty="0"/>
          </a:p>
        </p:txBody>
      </p:sp>
      <p:sp>
        <p:nvSpPr>
          <p:cNvPr id="8" name="Text Placeholder 7">
            <a:extLst>
              <a:ext uri="{FF2B5EF4-FFF2-40B4-BE49-F238E27FC236}">
                <a16:creationId xmlns:a16="http://schemas.microsoft.com/office/drawing/2014/main" id="{C8CB48AE-19B5-EB0B-5374-2CB97DD8EE84}"/>
              </a:ext>
            </a:extLst>
          </p:cNvPr>
          <p:cNvSpPr>
            <a:spLocks noGrp="1"/>
          </p:cNvSpPr>
          <p:nvPr>
            <p:ph type="body" sz="half" idx="17"/>
          </p:nvPr>
        </p:nvSpPr>
        <p:spPr>
          <a:xfrm>
            <a:off x="8051801" y="2482976"/>
            <a:ext cx="3456432" cy="3735721"/>
          </a:xfrm>
        </p:spPr>
        <p:txBody>
          <a:bodyPr>
            <a:normAutofit/>
          </a:bodyPr>
          <a:lstStyle/>
          <a:p>
            <a:pPr marL="285750" indent="-285750">
              <a:buFont typeface="Courier New" panose="02070309020205020404" pitchFamily="49" charset="0"/>
              <a:buChar char="o"/>
            </a:pPr>
            <a:r>
              <a:rPr lang="en-IN" dirty="0"/>
              <a:t>Communicate requirements clearly to developers and testers. </a:t>
            </a:r>
          </a:p>
          <a:p>
            <a:pPr marL="285750" indent="-285750">
              <a:buFont typeface="Courier New" panose="02070309020205020404" pitchFamily="49" charset="0"/>
              <a:buChar char="o"/>
            </a:pPr>
            <a:r>
              <a:rPr lang="en-IN" dirty="0"/>
              <a:t>Explain business objectives to technical teams. </a:t>
            </a:r>
          </a:p>
          <a:p>
            <a:pPr marL="285750" indent="-285750">
              <a:buFont typeface="Courier New" panose="02070309020205020404" pitchFamily="49" charset="0"/>
              <a:buChar char="o"/>
            </a:pPr>
            <a:r>
              <a:rPr lang="en-IN" dirty="0"/>
              <a:t>Provide project updates to stakeholders. </a:t>
            </a:r>
          </a:p>
          <a:p>
            <a:endParaRPr lang="en-IN" dirty="0"/>
          </a:p>
          <a:p>
            <a:r>
              <a:rPr lang="en-IN" sz="2400" b="1" u="sng" dirty="0"/>
              <a:t>6. Solution Evaluation</a:t>
            </a:r>
          </a:p>
          <a:p>
            <a:pPr marL="285750" indent="-285750">
              <a:buFont typeface="Courier New" panose="02070309020205020404" pitchFamily="49" charset="0"/>
              <a:buChar char="o"/>
            </a:pPr>
            <a:r>
              <a:rPr lang="en-IN" dirty="0"/>
              <a:t>Evaluate proposed solutions. </a:t>
            </a:r>
          </a:p>
          <a:p>
            <a:pPr marL="285750" indent="-285750">
              <a:buFont typeface="Courier New" panose="02070309020205020404" pitchFamily="49" charset="0"/>
              <a:buChar char="o"/>
            </a:pPr>
            <a:r>
              <a:rPr lang="en-IN" dirty="0"/>
              <a:t>Ensure they meet business objectives. </a:t>
            </a:r>
          </a:p>
          <a:p>
            <a:pPr marL="285750" indent="-285750">
              <a:buFont typeface="Courier New" panose="02070309020205020404" pitchFamily="49" charset="0"/>
              <a:buChar char="o"/>
            </a:pPr>
            <a:r>
              <a:rPr lang="en-IN" dirty="0"/>
              <a:t>Recommend improvements when necessary</a:t>
            </a:r>
          </a:p>
          <a:p>
            <a:endParaRPr lang="en-IN" dirty="0"/>
          </a:p>
        </p:txBody>
      </p:sp>
    </p:spTree>
    <p:extLst>
      <p:ext uri="{BB962C8B-B14F-4D97-AF65-F5344CB8AC3E}">
        <p14:creationId xmlns:p14="http://schemas.microsoft.com/office/powerpoint/2010/main" val="30442976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6322-2C40-BEBF-C829-8825BA5161B1}"/>
              </a:ext>
            </a:extLst>
          </p:cNvPr>
          <p:cNvSpPr>
            <a:spLocks noGrp="1"/>
          </p:cNvSpPr>
          <p:nvPr>
            <p:ph type="title"/>
          </p:nvPr>
        </p:nvSpPr>
        <p:spPr>
          <a:xfrm>
            <a:off x="2895600" y="762000"/>
            <a:ext cx="8610600" cy="446314"/>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71192C9E-2C20-D55E-38BC-AE9C58CD5801}"/>
              </a:ext>
            </a:extLst>
          </p:cNvPr>
          <p:cNvSpPr>
            <a:spLocks noGrp="1"/>
          </p:cNvSpPr>
          <p:nvPr>
            <p:ph type="body" idx="1"/>
          </p:nvPr>
        </p:nvSpPr>
        <p:spPr/>
        <p:txBody>
          <a:bodyPr>
            <a:normAutofit/>
          </a:bodyPr>
          <a:lstStyle/>
          <a:p>
            <a:r>
              <a:rPr lang="en-IN" b="1" dirty="0"/>
              <a:t>7. Testing Support</a:t>
            </a:r>
          </a:p>
          <a:p>
            <a:endParaRPr lang="en-IN" dirty="0"/>
          </a:p>
        </p:txBody>
      </p:sp>
      <p:sp>
        <p:nvSpPr>
          <p:cNvPr id="4" name="Content Placeholder 3">
            <a:extLst>
              <a:ext uri="{FF2B5EF4-FFF2-40B4-BE49-F238E27FC236}">
                <a16:creationId xmlns:a16="http://schemas.microsoft.com/office/drawing/2014/main" id="{E0600FFC-4C3F-626D-4A03-AB7333DD6B74}"/>
              </a:ext>
            </a:extLst>
          </p:cNvPr>
          <p:cNvSpPr>
            <a:spLocks noGrp="1"/>
          </p:cNvSpPr>
          <p:nvPr>
            <p:ph sz="half" idx="2"/>
          </p:nvPr>
        </p:nvSpPr>
        <p:spPr>
          <a:xfrm>
            <a:off x="685800" y="2754086"/>
            <a:ext cx="4985657" cy="3820885"/>
          </a:xfrm>
        </p:spPr>
        <p:txBody>
          <a:bodyPr>
            <a:normAutofit fontScale="77500" lnSpcReduction="20000"/>
          </a:bodyPr>
          <a:lstStyle/>
          <a:p>
            <a:r>
              <a:rPr lang="en-IN" dirty="0"/>
              <a:t>Assist in User Acceptance Testing (UAT). </a:t>
            </a:r>
          </a:p>
          <a:p>
            <a:r>
              <a:rPr lang="en-IN" dirty="0"/>
              <a:t>Verify that the solution meets business requirements. </a:t>
            </a:r>
          </a:p>
          <a:p>
            <a:r>
              <a:rPr lang="en-IN" dirty="0"/>
              <a:t>Report defects and suggest improvements. </a:t>
            </a:r>
          </a:p>
          <a:p>
            <a:endParaRPr lang="en-IN" dirty="0"/>
          </a:p>
          <a:p>
            <a:pPr marL="0" indent="0">
              <a:buNone/>
            </a:pPr>
            <a:r>
              <a:rPr lang="en-IN" sz="3100" b="1" dirty="0"/>
              <a:t> 8. Change Management</a:t>
            </a:r>
          </a:p>
          <a:p>
            <a:endParaRPr lang="en-IN" sz="2800" b="1" dirty="0"/>
          </a:p>
          <a:p>
            <a:r>
              <a:rPr lang="en-IN" dirty="0"/>
              <a:t>Help users adapt to new systems. </a:t>
            </a:r>
          </a:p>
          <a:p>
            <a:r>
              <a:rPr lang="en-IN" dirty="0"/>
              <a:t>Support training activities. </a:t>
            </a:r>
          </a:p>
          <a:p>
            <a:r>
              <a:rPr lang="en-IN" dirty="0"/>
              <a:t>Manage requirement changes during projects.</a:t>
            </a:r>
          </a:p>
          <a:p>
            <a:endParaRPr lang="en-IN" dirty="0"/>
          </a:p>
        </p:txBody>
      </p:sp>
      <p:sp>
        <p:nvSpPr>
          <p:cNvPr id="5" name="Text Placeholder 4">
            <a:extLst>
              <a:ext uri="{FF2B5EF4-FFF2-40B4-BE49-F238E27FC236}">
                <a16:creationId xmlns:a16="http://schemas.microsoft.com/office/drawing/2014/main" id="{D85C793F-AB9A-ECA5-8A25-62996E57805F}"/>
              </a:ext>
            </a:extLst>
          </p:cNvPr>
          <p:cNvSpPr>
            <a:spLocks noGrp="1"/>
          </p:cNvSpPr>
          <p:nvPr>
            <p:ph type="body" sz="quarter" idx="3"/>
          </p:nvPr>
        </p:nvSpPr>
        <p:spPr>
          <a:xfrm>
            <a:off x="6400800" y="2183802"/>
            <a:ext cx="5105400" cy="1081912"/>
          </a:xfrm>
        </p:spPr>
        <p:txBody>
          <a:bodyPr>
            <a:normAutofit/>
          </a:bodyPr>
          <a:lstStyle/>
          <a:p>
            <a:r>
              <a:rPr lang="en-IN" b="1" u="sng" dirty="0"/>
              <a:t>Importance of Business Analysts</a:t>
            </a:r>
          </a:p>
          <a:p>
            <a:endParaRPr lang="en-IN" dirty="0"/>
          </a:p>
        </p:txBody>
      </p:sp>
      <p:sp>
        <p:nvSpPr>
          <p:cNvPr id="6" name="Content Placeholder 5">
            <a:extLst>
              <a:ext uri="{FF2B5EF4-FFF2-40B4-BE49-F238E27FC236}">
                <a16:creationId xmlns:a16="http://schemas.microsoft.com/office/drawing/2014/main" id="{A5F8BDEC-6761-70B2-E4E9-7754A6FBFDA5}"/>
              </a:ext>
            </a:extLst>
          </p:cNvPr>
          <p:cNvSpPr>
            <a:spLocks noGrp="1"/>
          </p:cNvSpPr>
          <p:nvPr>
            <p:ph sz="quarter" idx="4"/>
          </p:nvPr>
        </p:nvSpPr>
        <p:spPr/>
        <p:txBody>
          <a:bodyPr>
            <a:normAutofit fontScale="77500" lnSpcReduction="20000"/>
          </a:bodyPr>
          <a:lstStyle/>
          <a:p>
            <a:r>
              <a:rPr lang="en-IN" dirty="0"/>
              <a:t>Improves communication between business and IT. </a:t>
            </a:r>
          </a:p>
          <a:p>
            <a:r>
              <a:rPr lang="en-IN" dirty="0"/>
              <a:t>Reduces project risks. </a:t>
            </a:r>
          </a:p>
          <a:p>
            <a:r>
              <a:rPr lang="en-IN" dirty="0"/>
              <a:t>Improves project quality. </a:t>
            </a:r>
          </a:p>
          <a:p>
            <a:r>
              <a:rPr lang="en-IN" dirty="0"/>
              <a:t>Ensures customer requirements are met. </a:t>
            </a:r>
          </a:p>
          <a:p>
            <a:r>
              <a:rPr lang="en-IN" dirty="0"/>
              <a:t>Increases business efficiency. </a:t>
            </a:r>
          </a:p>
          <a:p>
            <a:r>
              <a:rPr lang="en-IN" dirty="0"/>
              <a:t>Supports better decision-making.</a:t>
            </a:r>
          </a:p>
          <a:p>
            <a:endParaRPr lang="en-IN" dirty="0"/>
          </a:p>
        </p:txBody>
      </p:sp>
    </p:spTree>
    <p:extLst>
      <p:ext uri="{BB962C8B-B14F-4D97-AF65-F5344CB8AC3E}">
        <p14:creationId xmlns:p14="http://schemas.microsoft.com/office/powerpoint/2010/main" val="2405640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04923-0AE4-99F0-C036-F4C18E5F7405}"/>
              </a:ext>
            </a:extLst>
          </p:cNvPr>
          <p:cNvSpPr>
            <a:spLocks noGrp="1"/>
          </p:cNvSpPr>
          <p:nvPr>
            <p:ph type="title"/>
          </p:nvPr>
        </p:nvSpPr>
        <p:spPr>
          <a:xfrm>
            <a:off x="2895600" y="762000"/>
            <a:ext cx="8610599" cy="1088572"/>
          </a:xfrm>
        </p:spPr>
        <p:txBody>
          <a:bodyPr>
            <a:normAutofit fontScale="90000"/>
          </a:bodyPr>
          <a:lstStyle/>
          <a:p>
            <a:pPr algn="l"/>
            <a:r>
              <a:rPr lang="en-IN" b="1" u="sng" dirty="0"/>
              <a:t>B. Key Skills for Business Analysts</a:t>
            </a:r>
            <a:br>
              <a:rPr lang="en-IN" b="1" u="sng" dirty="0"/>
            </a:br>
            <a:br>
              <a:rPr lang="en-IN" b="1" dirty="0"/>
            </a:br>
            <a:r>
              <a:rPr lang="en-IN" sz="2000" dirty="0"/>
              <a:t>A successful Business Analyst requires a combination of technical, analytical, communication, and interpersonal skills.</a:t>
            </a:r>
            <a:br>
              <a:rPr lang="en-IN" sz="2000" dirty="0"/>
            </a:br>
            <a:endParaRPr lang="en-IN" sz="2000" dirty="0"/>
          </a:p>
        </p:txBody>
      </p:sp>
      <p:sp>
        <p:nvSpPr>
          <p:cNvPr id="3" name="Text Placeholder 2">
            <a:extLst>
              <a:ext uri="{FF2B5EF4-FFF2-40B4-BE49-F238E27FC236}">
                <a16:creationId xmlns:a16="http://schemas.microsoft.com/office/drawing/2014/main" id="{EBDE4AB5-1B9C-3E13-8F8C-3AB566D4E6AC}"/>
              </a:ext>
            </a:extLst>
          </p:cNvPr>
          <p:cNvSpPr>
            <a:spLocks noGrp="1"/>
          </p:cNvSpPr>
          <p:nvPr>
            <p:ph type="body" idx="1"/>
          </p:nvPr>
        </p:nvSpPr>
        <p:spPr>
          <a:xfrm>
            <a:off x="685800" y="2202080"/>
            <a:ext cx="3456432" cy="1226920"/>
          </a:xfrm>
        </p:spPr>
        <p:txBody>
          <a:bodyPr/>
          <a:lstStyle/>
          <a:p>
            <a:r>
              <a:rPr lang="en-IN" b="1" dirty="0"/>
              <a:t>1. Communication Skills</a:t>
            </a:r>
          </a:p>
          <a:p>
            <a:endParaRPr lang="en-IN" dirty="0"/>
          </a:p>
        </p:txBody>
      </p:sp>
      <p:sp>
        <p:nvSpPr>
          <p:cNvPr id="4" name="Text Placeholder 3">
            <a:extLst>
              <a:ext uri="{FF2B5EF4-FFF2-40B4-BE49-F238E27FC236}">
                <a16:creationId xmlns:a16="http://schemas.microsoft.com/office/drawing/2014/main" id="{2A03EA25-864D-F009-6611-148BCA293F9C}"/>
              </a:ext>
            </a:extLst>
          </p:cNvPr>
          <p:cNvSpPr>
            <a:spLocks noGrp="1"/>
          </p:cNvSpPr>
          <p:nvPr>
            <p:ph type="body" sz="half" idx="15"/>
          </p:nvPr>
        </p:nvSpPr>
        <p:spPr>
          <a:xfrm>
            <a:off x="681915" y="3188767"/>
            <a:ext cx="3456432" cy="2677663"/>
          </a:xfrm>
        </p:spPr>
        <p:txBody>
          <a:bodyPr>
            <a:normAutofit/>
          </a:bodyPr>
          <a:lstStyle/>
          <a:p>
            <a:r>
              <a:rPr lang="en-IN" dirty="0"/>
              <a:t>Communication is one of the most important skills for a Business Analyst.</a:t>
            </a:r>
          </a:p>
          <a:p>
            <a:endParaRPr lang="en-IN" dirty="0"/>
          </a:p>
        </p:txBody>
      </p:sp>
      <p:sp>
        <p:nvSpPr>
          <p:cNvPr id="5" name="Text Placeholder 4">
            <a:extLst>
              <a:ext uri="{FF2B5EF4-FFF2-40B4-BE49-F238E27FC236}">
                <a16:creationId xmlns:a16="http://schemas.microsoft.com/office/drawing/2014/main" id="{704A2630-8605-9D71-AA0F-7559E4D22054}"/>
              </a:ext>
            </a:extLst>
          </p:cNvPr>
          <p:cNvSpPr>
            <a:spLocks noGrp="1"/>
          </p:cNvSpPr>
          <p:nvPr>
            <p:ph type="body" sz="quarter" idx="3"/>
          </p:nvPr>
        </p:nvSpPr>
        <p:spPr>
          <a:xfrm>
            <a:off x="4368800" y="2383971"/>
            <a:ext cx="3456432" cy="987434"/>
          </a:xfrm>
        </p:spPr>
        <p:txBody>
          <a:bodyPr/>
          <a:lstStyle/>
          <a:p>
            <a:r>
              <a:rPr lang="en-IN" sz="1600" b="1" u="sng" dirty="0"/>
              <a:t>Types of Communication</a:t>
            </a:r>
          </a:p>
          <a:p>
            <a:endParaRPr lang="en-IN" dirty="0"/>
          </a:p>
        </p:txBody>
      </p:sp>
      <p:sp>
        <p:nvSpPr>
          <p:cNvPr id="6" name="Text Placeholder 5">
            <a:extLst>
              <a:ext uri="{FF2B5EF4-FFF2-40B4-BE49-F238E27FC236}">
                <a16:creationId xmlns:a16="http://schemas.microsoft.com/office/drawing/2014/main" id="{98C41725-ACC4-7BFB-AB76-26F65CD9BE2F}"/>
              </a:ext>
            </a:extLst>
          </p:cNvPr>
          <p:cNvSpPr>
            <a:spLocks noGrp="1"/>
          </p:cNvSpPr>
          <p:nvPr>
            <p:ph type="body" sz="half" idx="16"/>
          </p:nvPr>
        </p:nvSpPr>
        <p:spPr>
          <a:xfrm>
            <a:off x="4366858" y="3352799"/>
            <a:ext cx="3456432" cy="3396344"/>
          </a:xfrm>
        </p:spPr>
        <p:txBody>
          <a:bodyPr>
            <a:normAutofit lnSpcReduction="10000"/>
          </a:bodyPr>
          <a:lstStyle/>
          <a:p>
            <a:pPr marL="285750" indent="-285750">
              <a:buFont typeface="Arial" panose="020B0604020202020204" pitchFamily="34" charset="0"/>
              <a:buChar char="•"/>
            </a:pPr>
            <a:r>
              <a:rPr lang="en-IN" dirty="0"/>
              <a:t>Verbal communication </a:t>
            </a:r>
          </a:p>
          <a:p>
            <a:pPr marL="285750" indent="-285750">
              <a:buFont typeface="Arial" panose="020B0604020202020204" pitchFamily="34" charset="0"/>
              <a:buChar char="•"/>
            </a:pPr>
            <a:r>
              <a:rPr lang="en-IN" dirty="0"/>
              <a:t>Written communication </a:t>
            </a:r>
          </a:p>
          <a:p>
            <a:pPr marL="285750" indent="-285750">
              <a:buFont typeface="Arial" panose="020B0604020202020204" pitchFamily="34" charset="0"/>
              <a:buChar char="•"/>
            </a:pPr>
            <a:r>
              <a:rPr lang="en-IN" dirty="0"/>
              <a:t>Presentation skills </a:t>
            </a:r>
          </a:p>
          <a:p>
            <a:pPr marL="285750" indent="-285750">
              <a:buFont typeface="Arial" panose="020B0604020202020204" pitchFamily="34" charset="0"/>
              <a:buChar char="•"/>
            </a:pPr>
            <a:r>
              <a:rPr lang="en-IN" dirty="0"/>
              <a:t>Active listening </a:t>
            </a:r>
          </a:p>
          <a:p>
            <a:pPr marL="285750" indent="-285750">
              <a:buFont typeface="Arial" panose="020B0604020202020204" pitchFamily="34" charset="0"/>
              <a:buChar char="•"/>
            </a:pPr>
            <a:r>
              <a:rPr lang="en-IN" dirty="0"/>
              <a:t>Non-verbal communication </a:t>
            </a:r>
          </a:p>
          <a:p>
            <a:endParaRPr lang="en-IN" dirty="0"/>
          </a:p>
          <a:p>
            <a:r>
              <a:rPr lang="en-IN" sz="1800" b="1" u="sng" dirty="0"/>
              <a:t>Benefits</a:t>
            </a:r>
          </a:p>
          <a:p>
            <a:pPr marL="285750" indent="-285750">
              <a:buFont typeface="Arial" panose="020B0604020202020204" pitchFamily="34" charset="0"/>
              <a:buChar char="•"/>
            </a:pPr>
            <a:r>
              <a:rPr lang="en-IN" dirty="0"/>
              <a:t>Better understanding of requirements </a:t>
            </a:r>
          </a:p>
          <a:p>
            <a:pPr marL="285750" indent="-285750">
              <a:buFont typeface="Arial" panose="020B0604020202020204" pitchFamily="34" charset="0"/>
              <a:buChar char="•"/>
            </a:pPr>
            <a:r>
              <a:rPr lang="en-IN" dirty="0"/>
              <a:t>Reduced misunderstandings </a:t>
            </a:r>
          </a:p>
          <a:p>
            <a:pPr marL="285750" indent="-285750">
              <a:buFont typeface="Arial" panose="020B0604020202020204" pitchFamily="34" charset="0"/>
              <a:buChar char="•"/>
            </a:pPr>
            <a:r>
              <a:rPr lang="en-IN" dirty="0"/>
              <a:t>Strong stakeholder relationships</a:t>
            </a:r>
          </a:p>
          <a:p>
            <a:endParaRPr lang="en-IN" dirty="0"/>
          </a:p>
        </p:txBody>
      </p:sp>
      <p:sp>
        <p:nvSpPr>
          <p:cNvPr id="7" name="Text Placeholder 6">
            <a:extLst>
              <a:ext uri="{FF2B5EF4-FFF2-40B4-BE49-F238E27FC236}">
                <a16:creationId xmlns:a16="http://schemas.microsoft.com/office/drawing/2014/main" id="{9C8E3A8B-91E4-96DD-54D5-BE9016A0CFCC}"/>
              </a:ext>
            </a:extLst>
          </p:cNvPr>
          <p:cNvSpPr>
            <a:spLocks noGrp="1"/>
          </p:cNvSpPr>
          <p:nvPr>
            <p:ph type="body" sz="quarter" idx="13"/>
          </p:nvPr>
        </p:nvSpPr>
        <p:spPr>
          <a:xfrm>
            <a:off x="8051800" y="2192866"/>
            <a:ext cx="3846286" cy="702734"/>
          </a:xfrm>
        </p:spPr>
        <p:txBody>
          <a:bodyPr/>
          <a:lstStyle/>
          <a:p>
            <a:r>
              <a:rPr lang="en-IN" sz="1600" b="1" u="sng" dirty="0"/>
              <a:t>Responsibilities include:</a:t>
            </a:r>
            <a:endParaRPr lang="en-IN" sz="1600" u="sng" dirty="0"/>
          </a:p>
        </p:txBody>
      </p:sp>
      <p:sp>
        <p:nvSpPr>
          <p:cNvPr id="8" name="Text Placeholder 7">
            <a:extLst>
              <a:ext uri="{FF2B5EF4-FFF2-40B4-BE49-F238E27FC236}">
                <a16:creationId xmlns:a16="http://schemas.microsoft.com/office/drawing/2014/main" id="{C89B4D8D-906D-E91F-EBDA-29DC70DA9301}"/>
              </a:ext>
            </a:extLst>
          </p:cNvPr>
          <p:cNvSpPr>
            <a:spLocks noGrp="1"/>
          </p:cNvSpPr>
          <p:nvPr>
            <p:ph type="body" sz="half" idx="17"/>
          </p:nvPr>
        </p:nvSpPr>
        <p:spPr>
          <a:xfrm>
            <a:off x="8051801" y="3188767"/>
            <a:ext cx="3456432" cy="3029930"/>
          </a:xfrm>
        </p:spPr>
        <p:txBody>
          <a:bodyPr/>
          <a:lstStyle/>
          <a:p>
            <a:endParaRPr lang="en-IN" b="1" dirty="0"/>
          </a:p>
          <a:p>
            <a:pPr marL="285750" indent="-285750">
              <a:buFont typeface="Arial" panose="020B0604020202020204" pitchFamily="34" charset="0"/>
              <a:buChar char="•"/>
            </a:pPr>
            <a:r>
              <a:rPr lang="en-IN" dirty="0"/>
              <a:t>Conducting meetings </a:t>
            </a:r>
          </a:p>
          <a:p>
            <a:pPr marL="285750" indent="-285750">
              <a:buFont typeface="Arial" panose="020B0604020202020204" pitchFamily="34" charset="0"/>
              <a:buChar char="•"/>
            </a:pPr>
            <a:r>
              <a:rPr lang="en-IN" dirty="0"/>
              <a:t>Interviewing stakeholders </a:t>
            </a:r>
          </a:p>
          <a:p>
            <a:pPr marL="285750" indent="-285750">
              <a:buFont typeface="Arial" panose="020B0604020202020204" pitchFamily="34" charset="0"/>
              <a:buChar char="•"/>
            </a:pPr>
            <a:r>
              <a:rPr lang="en-IN" dirty="0"/>
              <a:t>Writing reports </a:t>
            </a:r>
          </a:p>
          <a:p>
            <a:pPr marL="285750" indent="-285750">
              <a:buFont typeface="Arial" panose="020B0604020202020204" pitchFamily="34" charset="0"/>
              <a:buChar char="•"/>
            </a:pPr>
            <a:r>
              <a:rPr lang="en-IN" dirty="0"/>
              <a:t>Presenting findings </a:t>
            </a:r>
          </a:p>
          <a:p>
            <a:pPr marL="285750" indent="-285750">
              <a:buFont typeface="Arial" panose="020B0604020202020204" pitchFamily="34" charset="0"/>
              <a:buChar char="•"/>
            </a:pPr>
            <a:r>
              <a:rPr lang="en-IN" dirty="0"/>
              <a:t>Negotiating requirements </a:t>
            </a:r>
          </a:p>
          <a:p>
            <a:endParaRPr lang="en-IN" dirty="0"/>
          </a:p>
        </p:txBody>
      </p:sp>
    </p:spTree>
    <p:extLst>
      <p:ext uri="{BB962C8B-B14F-4D97-AF65-F5344CB8AC3E}">
        <p14:creationId xmlns:p14="http://schemas.microsoft.com/office/powerpoint/2010/main" val="24280329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861C34-D468-24FB-8B23-D1C50757CFC1}"/>
              </a:ext>
            </a:extLst>
          </p:cNvPr>
          <p:cNvSpPr>
            <a:spLocks noGrp="1"/>
          </p:cNvSpPr>
          <p:nvPr>
            <p:ph type="title"/>
          </p:nvPr>
        </p:nvSpPr>
        <p:spPr/>
        <p:txBody>
          <a:bodyPr>
            <a:normAutofit fontScale="90000"/>
          </a:bodyPr>
          <a:lstStyle/>
          <a:p>
            <a:r>
              <a:rPr lang="en-IN" b="1" dirty="0"/>
              <a:t>2</a:t>
            </a:r>
            <a:r>
              <a:rPr lang="en-IN" b="1" u="sng" dirty="0"/>
              <a:t>. Analytical Thinking</a:t>
            </a:r>
            <a:br>
              <a:rPr lang="en-IN" b="1" u="sng" dirty="0"/>
            </a:br>
            <a:br>
              <a:rPr lang="en-IN" b="1" dirty="0"/>
            </a:br>
            <a:r>
              <a:rPr lang="en-IN" sz="2000" dirty="0"/>
              <a:t>Analytical thinking helps Business Analysts understand complex business problems and identify practical solutions.</a:t>
            </a:r>
            <a:br>
              <a:rPr lang="en-IN" sz="2000" dirty="0"/>
            </a:br>
            <a:endParaRPr lang="en-IN" sz="2000" dirty="0"/>
          </a:p>
        </p:txBody>
      </p:sp>
      <p:sp>
        <p:nvSpPr>
          <p:cNvPr id="5" name="Text Placeholder 4">
            <a:extLst>
              <a:ext uri="{FF2B5EF4-FFF2-40B4-BE49-F238E27FC236}">
                <a16:creationId xmlns:a16="http://schemas.microsoft.com/office/drawing/2014/main" id="{9964BD3A-E7EB-57EE-76E0-8751797E3795}"/>
              </a:ext>
            </a:extLst>
          </p:cNvPr>
          <p:cNvSpPr>
            <a:spLocks noGrp="1"/>
          </p:cNvSpPr>
          <p:nvPr>
            <p:ph type="body" idx="1"/>
          </p:nvPr>
        </p:nvSpPr>
        <p:spPr/>
        <p:txBody>
          <a:bodyPr/>
          <a:lstStyle/>
          <a:p>
            <a:r>
              <a:rPr lang="en-IN" dirty="0">
                <a:solidFill>
                  <a:schemeClr val="bg1"/>
                </a:solidFill>
              </a:rPr>
              <a:t>.</a:t>
            </a:r>
          </a:p>
        </p:txBody>
      </p:sp>
      <p:sp>
        <p:nvSpPr>
          <p:cNvPr id="6" name="Content Placeholder 5">
            <a:extLst>
              <a:ext uri="{FF2B5EF4-FFF2-40B4-BE49-F238E27FC236}">
                <a16:creationId xmlns:a16="http://schemas.microsoft.com/office/drawing/2014/main" id="{11FA4BC5-18E8-AAE5-056E-FFD9F177BF34}"/>
              </a:ext>
            </a:extLst>
          </p:cNvPr>
          <p:cNvSpPr>
            <a:spLocks noGrp="1"/>
          </p:cNvSpPr>
          <p:nvPr>
            <p:ph sz="half" idx="2"/>
          </p:nvPr>
        </p:nvSpPr>
        <p:spPr>
          <a:xfrm>
            <a:off x="685800" y="2536371"/>
            <a:ext cx="5311775" cy="3842657"/>
          </a:xfrm>
        </p:spPr>
        <p:txBody>
          <a:bodyPr>
            <a:normAutofit fontScale="85000" lnSpcReduction="20000"/>
          </a:bodyPr>
          <a:lstStyle/>
          <a:p>
            <a:pPr marL="0" indent="0">
              <a:buNone/>
            </a:pPr>
            <a:r>
              <a:rPr lang="en-IN" b="1" dirty="0"/>
              <a:t>Activities</a:t>
            </a:r>
          </a:p>
          <a:p>
            <a:r>
              <a:rPr lang="en-IN" dirty="0"/>
              <a:t>Data analysis </a:t>
            </a:r>
          </a:p>
          <a:p>
            <a:r>
              <a:rPr lang="en-IN" dirty="0"/>
              <a:t>Root cause analysis </a:t>
            </a:r>
          </a:p>
          <a:p>
            <a:r>
              <a:rPr lang="en-IN" dirty="0"/>
              <a:t>Identifying trends </a:t>
            </a:r>
          </a:p>
          <a:p>
            <a:r>
              <a:rPr lang="en-IN" dirty="0"/>
              <a:t>Process analysis </a:t>
            </a:r>
          </a:p>
          <a:p>
            <a:r>
              <a:rPr lang="en-IN" dirty="0"/>
              <a:t>Risk assessment </a:t>
            </a:r>
          </a:p>
          <a:p>
            <a:endParaRPr lang="en-IN" dirty="0"/>
          </a:p>
          <a:p>
            <a:pPr marL="0" indent="0">
              <a:buNone/>
            </a:pPr>
            <a:r>
              <a:rPr lang="en-IN" b="1" dirty="0"/>
              <a:t>Benefits</a:t>
            </a:r>
          </a:p>
          <a:p>
            <a:r>
              <a:rPr lang="en-IN" dirty="0"/>
              <a:t>Better problem understanding </a:t>
            </a:r>
          </a:p>
          <a:p>
            <a:r>
              <a:rPr lang="en-IN" dirty="0"/>
              <a:t>Improved decision-making </a:t>
            </a:r>
          </a:p>
          <a:p>
            <a:r>
              <a:rPr lang="en-IN" dirty="0"/>
              <a:t>Accurate requirement analysis</a:t>
            </a:r>
          </a:p>
          <a:p>
            <a:endParaRPr lang="en-IN" dirty="0"/>
          </a:p>
        </p:txBody>
      </p:sp>
      <p:sp>
        <p:nvSpPr>
          <p:cNvPr id="7" name="Text Placeholder 6">
            <a:extLst>
              <a:ext uri="{FF2B5EF4-FFF2-40B4-BE49-F238E27FC236}">
                <a16:creationId xmlns:a16="http://schemas.microsoft.com/office/drawing/2014/main" id="{F1827D9B-3BFB-7392-488E-42BB2150CE96}"/>
              </a:ext>
            </a:extLst>
          </p:cNvPr>
          <p:cNvSpPr>
            <a:spLocks noGrp="1"/>
          </p:cNvSpPr>
          <p:nvPr>
            <p:ph type="body" sz="quarter" idx="3"/>
          </p:nvPr>
        </p:nvSpPr>
        <p:spPr/>
        <p:txBody>
          <a:bodyPr/>
          <a:lstStyle/>
          <a:p>
            <a:r>
              <a:rPr lang="en-IN" dirty="0">
                <a:solidFill>
                  <a:schemeClr val="bg1"/>
                </a:solidFill>
              </a:rPr>
              <a:t>.</a:t>
            </a:r>
          </a:p>
        </p:txBody>
      </p:sp>
      <p:sp>
        <p:nvSpPr>
          <p:cNvPr id="8" name="Content Placeholder 7">
            <a:extLst>
              <a:ext uri="{FF2B5EF4-FFF2-40B4-BE49-F238E27FC236}">
                <a16:creationId xmlns:a16="http://schemas.microsoft.com/office/drawing/2014/main" id="{A78C8309-7F30-5049-92BC-D582A27D9052}"/>
              </a:ext>
            </a:extLst>
          </p:cNvPr>
          <p:cNvSpPr>
            <a:spLocks noGrp="1"/>
          </p:cNvSpPr>
          <p:nvPr>
            <p:ph sz="quarter" idx="4"/>
          </p:nvPr>
        </p:nvSpPr>
        <p:spPr>
          <a:xfrm>
            <a:off x="6705600" y="2536372"/>
            <a:ext cx="4800600" cy="3682314"/>
          </a:xfrm>
        </p:spPr>
        <p:txBody>
          <a:bodyPr>
            <a:normAutofit fontScale="85000" lnSpcReduction="20000"/>
          </a:bodyPr>
          <a:lstStyle/>
          <a:p>
            <a:pPr marL="0" indent="0">
              <a:buNone/>
            </a:pPr>
            <a:r>
              <a:rPr lang="en-IN" b="1" dirty="0"/>
              <a:t>Tools</a:t>
            </a:r>
          </a:p>
          <a:p>
            <a:r>
              <a:rPr lang="en-IN" dirty="0"/>
              <a:t>SWOT Analysis </a:t>
            </a:r>
          </a:p>
          <a:p>
            <a:r>
              <a:rPr lang="en-IN" dirty="0"/>
              <a:t>Gap Analysis </a:t>
            </a:r>
          </a:p>
          <a:p>
            <a:r>
              <a:rPr lang="en-IN" dirty="0"/>
              <a:t>Fishbone Diagram </a:t>
            </a:r>
          </a:p>
          <a:p>
            <a:r>
              <a:rPr lang="en-IN" dirty="0"/>
              <a:t>Pareto Analysis </a:t>
            </a:r>
          </a:p>
          <a:p>
            <a:r>
              <a:rPr lang="en-IN" dirty="0"/>
              <a:t>Decision Trees </a:t>
            </a:r>
          </a:p>
          <a:p>
            <a:endParaRPr lang="en-IN" dirty="0"/>
          </a:p>
        </p:txBody>
      </p:sp>
    </p:spTree>
    <p:extLst>
      <p:ext uri="{BB962C8B-B14F-4D97-AF65-F5344CB8AC3E}">
        <p14:creationId xmlns:p14="http://schemas.microsoft.com/office/powerpoint/2010/main" val="331905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EF49C35-01EF-A5BF-2A1B-550EF6F0606E}"/>
              </a:ext>
            </a:extLst>
          </p:cNvPr>
          <p:cNvSpPr>
            <a:spLocks noGrp="1"/>
          </p:cNvSpPr>
          <p:nvPr>
            <p:ph type="title"/>
          </p:nvPr>
        </p:nvSpPr>
        <p:spPr>
          <a:xfrm>
            <a:off x="2623457" y="359229"/>
            <a:ext cx="9209313" cy="1583941"/>
          </a:xfrm>
        </p:spPr>
        <p:txBody>
          <a:bodyPr>
            <a:normAutofit fontScale="90000"/>
          </a:bodyPr>
          <a:lstStyle/>
          <a:p>
            <a:r>
              <a:rPr lang="en-IN" sz="4900" b="1" u="sng" dirty="0"/>
              <a:t>3.Problem-Solving Skills</a:t>
            </a:r>
            <a:br>
              <a:rPr lang="en-IN" sz="4900" b="1" u="sng" dirty="0"/>
            </a:br>
            <a:br>
              <a:rPr lang="en-IN" sz="6000" b="1" u="sng" dirty="0"/>
            </a:br>
            <a:r>
              <a:rPr lang="en-IN" sz="2200" dirty="0"/>
              <a:t>Business Analysts solve business challenges by identifying causes and recommending effective solutions</a:t>
            </a:r>
          </a:p>
        </p:txBody>
      </p:sp>
      <p:sp>
        <p:nvSpPr>
          <p:cNvPr id="8" name="Text Placeholder 7">
            <a:extLst>
              <a:ext uri="{FF2B5EF4-FFF2-40B4-BE49-F238E27FC236}">
                <a16:creationId xmlns:a16="http://schemas.microsoft.com/office/drawing/2014/main" id="{851346F5-8530-D687-39FA-CDA033593B43}"/>
              </a:ext>
            </a:extLst>
          </p:cNvPr>
          <p:cNvSpPr>
            <a:spLocks noGrp="1"/>
          </p:cNvSpPr>
          <p:nvPr>
            <p:ph type="body" idx="1"/>
          </p:nvPr>
        </p:nvSpPr>
        <p:spPr>
          <a:xfrm>
            <a:off x="685800" y="2035629"/>
            <a:ext cx="3456432" cy="402771"/>
          </a:xfrm>
        </p:spPr>
        <p:txBody>
          <a:bodyPr/>
          <a:lstStyle/>
          <a:p>
            <a:r>
              <a:rPr lang="en-IN" dirty="0">
                <a:solidFill>
                  <a:schemeClr val="bg1"/>
                </a:solidFill>
              </a:rPr>
              <a:t>.</a:t>
            </a:r>
          </a:p>
        </p:txBody>
      </p:sp>
      <p:sp>
        <p:nvSpPr>
          <p:cNvPr id="6" name="Content Placeholder 5">
            <a:extLst>
              <a:ext uri="{FF2B5EF4-FFF2-40B4-BE49-F238E27FC236}">
                <a16:creationId xmlns:a16="http://schemas.microsoft.com/office/drawing/2014/main" id="{6406D533-D8E4-FEF0-8529-04326DDCCF7E}"/>
              </a:ext>
            </a:extLst>
          </p:cNvPr>
          <p:cNvSpPr>
            <a:spLocks noGrp="1"/>
          </p:cNvSpPr>
          <p:nvPr>
            <p:ph type="body" sz="half" idx="15"/>
          </p:nvPr>
        </p:nvSpPr>
        <p:spPr>
          <a:xfrm>
            <a:off x="685799" y="2242457"/>
            <a:ext cx="3456432" cy="3976240"/>
          </a:xfrm>
        </p:spPr>
        <p:txBody>
          <a:bodyPr>
            <a:normAutofit/>
          </a:bodyPr>
          <a:lstStyle/>
          <a:p>
            <a:r>
              <a:rPr lang="en-IN" sz="2400" b="1" u="sng" dirty="0"/>
              <a:t>Benefits</a:t>
            </a:r>
          </a:p>
          <a:p>
            <a:pPr marL="285750" indent="-285750">
              <a:buFont typeface="Arial" panose="020B0604020202020204" pitchFamily="34" charset="0"/>
              <a:buChar char="•"/>
            </a:pPr>
            <a:r>
              <a:rPr lang="en-IN" sz="1600" dirty="0"/>
              <a:t>Increased efficiency </a:t>
            </a:r>
          </a:p>
          <a:p>
            <a:pPr marL="285750" indent="-285750">
              <a:buFont typeface="Arial" panose="020B0604020202020204" pitchFamily="34" charset="0"/>
              <a:buChar char="•"/>
            </a:pPr>
            <a:r>
              <a:rPr lang="en-IN" sz="1600" dirty="0"/>
              <a:t>Reduced costs </a:t>
            </a:r>
          </a:p>
          <a:p>
            <a:pPr marL="285750" indent="-285750">
              <a:buFont typeface="Arial" panose="020B0604020202020204" pitchFamily="34" charset="0"/>
              <a:buChar char="•"/>
            </a:pPr>
            <a:r>
              <a:rPr lang="en-IN" sz="1600" dirty="0"/>
              <a:t>Better customer satisfaction </a:t>
            </a:r>
          </a:p>
          <a:p>
            <a:pPr marL="285750" indent="-285750">
              <a:buFont typeface="Arial" panose="020B0604020202020204" pitchFamily="34" charset="0"/>
              <a:buChar char="•"/>
            </a:pPr>
            <a:r>
              <a:rPr lang="en-IN" sz="1600" dirty="0"/>
              <a:t>Improved business performance </a:t>
            </a:r>
          </a:p>
          <a:p>
            <a:br>
              <a:rPr lang="en-IN" dirty="0"/>
            </a:br>
            <a:endParaRPr lang="en-IN" dirty="0"/>
          </a:p>
          <a:p>
            <a:endParaRPr lang="en-IN" dirty="0"/>
          </a:p>
        </p:txBody>
      </p:sp>
      <p:sp>
        <p:nvSpPr>
          <p:cNvPr id="9" name="Text Placeholder 8">
            <a:extLst>
              <a:ext uri="{FF2B5EF4-FFF2-40B4-BE49-F238E27FC236}">
                <a16:creationId xmlns:a16="http://schemas.microsoft.com/office/drawing/2014/main" id="{EBE0A80E-D55C-FDA9-D14F-4B090BB3949D}"/>
              </a:ext>
            </a:extLst>
          </p:cNvPr>
          <p:cNvSpPr>
            <a:spLocks noGrp="1"/>
          </p:cNvSpPr>
          <p:nvPr>
            <p:ph type="body" sz="quarter" idx="3"/>
          </p:nvPr>
        </p:nvSpPr>
        <p:spPr>
          <a:xfrm>
            <a:off x="4368800" y="2035629"/>
            <a:ext cx="3456432" cy="296333"/>
          </a:xfrm>
        </p:spPr>
        <p:txBody>
          <a:bodyPr/>
          <a:lstStyle/>
          <a:p>
            <a:r>
              <a:rPr lang="en-IN" dirty="0">
                <a:solidFill>
                  <a:schemeClr val="bg1"/>
                </a:solidFill>
              </a:rPr>
              <a:t>.</a:t>
            </a:r>
          </a:p>
        </p:txBody>
      </p:sp>
      <p:sp>
        <p:nvSpPr>
          <p:cNvPr id="10" name="Text Placeholder 9">
            <a:extLst>
              <a:ext uri="{FF2B5EF4-FFF2-40B4-BE49-F238E27FC236}">
                <a16:creationId xmlns:a16="http://schemas.microsoft.com/office/drawing/2014/main" id="{0A93E86B-E7C5-754D-B350-E6301DDDFB97}"/>
              </a:ext>
            </a:extLst>
          </p:cNvPr>
          <p:cNvSpPr>
            <a:spLocks noGrp="1"/>
          </p:cNvSpPr>
          <p:nvPr>
            <p:ph type="body" sz="half" idx="16"/>
          </p:nvPr>
        </p:nvSpPr>
        <p:spPr>
          <a:xfrm>
            <a:off x="4366858" y="2424421"/>
            <a:ext cx="3456432" cy="3794264"/>
          </a:xfrm>
        </p:spPr>
        <p:txBody>
          <a:bodyPr>
            <a:normAutofit/>
          </a:bodyPr>
          <a:lstStyle/>
          <a:p>
            <a:r>
              <a:rPr lang="en-IN" sz="2200" b="1" u="sng" dirty="0"/>
              <a:t>Problem-Solving Process</a:t>
            </a:r>
          </a:p>
          <a:p>
            <a:pPr marL="285750" indent="-285750">
              <a:buFont typeface="Arial" panose="020B0604020202020204" pitchFamily="34" charset="0"/>
              <a:buChar char="•"/>
            </a:pPr>
            <a:r>
              <a:rPr lang="en-IN" dirty="0"/>
              <a:t>Identify the problem. </a:t>
            </a:r>
          </a:p>
          <a:p>
            <a:pPr marL="285750" indent="-285750">
              <a:buFont typeface="Arial" panose="020B0604020202020204" pitchFamily="34" charset="0"/>
              <a:buChar char="•"/>
            </a:pPr>
            <a:r>
              <a:rPr lang="en-IN" dirty="0"/>
              <a:t>Gather information. </a:t>
            </a:r>
          </a:p>
          <a:p>
            <a:pPr marL="285750" indent="-285750">
              <a:buFont typeface="Arial" panose="020B0604020202020204" pitchFamily="34" charset="0"/>
              <a:buChar char="•"/>
            </a:pPr>
            <a:r>
              <a:rPr lang="en-IN" dirty="0" err="1"/>
              <a:t>Analyze</a:t>
            </a:r>
            <a:r>
              <a:rPr lang="en-IN" dirty="0"/>
              <a:t> the root cause. </a:t>
            </a:r>
          </a:p>
          <a:p>
            <a:pPr marL="285750" indent="-285750">
              <a:buFont typeface="Arial" panose="020B0604020202020204" pitchFamily="34" charset="0"/>
              <a:buChar char="•"/>
            </a:pPr>
            <a:r>
              <a:rPr lang="en-IN" dirty="0"/>
              <a:t>Generate possible solutions. </a:t>
            </a:r>
          </a:p>
          <a:p>
            <a:pPr marL="285750" indent="-285750">
              <a:buFont typeface="Arial" panose="020B0604020202020204" pitchFamily="34" charset="0"/>
              <a:buChar char="•"/>
            </a:pPr>
            <a:r>
              <a:rPr lang="en-IN" dirty="0"/>
              <a:t>Evaluate alternatives. </a:t>
            </a:r>
          </a:p>
          <a:p>
            <a:pPr marL="285750" indent="-285750">
              <a:buFont typeface="Arial" panose="020B0604020202020204" pitchFamily="34" charset="0"/>
              <a:buChar char="•"/>
            </a:pPr>
            <a:r>
              <a:rPr lang="en-IN" dirty="0"/>
              <a:t>Recommend the best solution. </a:t>
            </a:r>
          </a:p>
          <a:p>
            <a:pPr marL="285750" indent="-285750">
              <a:buFont typeface="Arial" panose="020B0604020202020204" pitchFamily="34" charset="0"/>
              <a:buChar char="•"/>
            </a:pPr>
            <a:r>
              <a:rPr lang="en-IN" dirty="0"/>
              <a:t>Monitor implementation. </a:t>
            </a:r>
          </a:p>
          <a:p>
            <a:endParaRPr lang="en-IN" dirty="0"/>
          </a:p>
        </p:txBody>
      </p:sp>
      <p:sp>
        <p:nvSpPr>
          <p:cNvPr id="4" name="Content Placeholder 3">
            <a:extLst>
              <a:ext uri="{FF2B5EF4-FFF2-40B4-BE49-F238E27FC236}">
                <a16:creationId xmlns:a16="http://schemas.microsoft.com/office/drawing/2014/main" id="{724F3F39-8B7B-3AD9-32C0-112999F35F7E}"/>
              </a:ext>
            </a:extLst>
          </p:cNvPr>
          <p:cNvSpPr>
            <a:spLocks noGrp="1"/>
          </p:cNvSpPr>
          <p:nvPr>
            <p:ph type="body" sz="quarter" idx="13"/>
          </p:nvPr>
        </p:nvSpPr>
        <p:spPr>
          <a:xfrm>
            <a:off x="8051801" y="2852057"/>
            <a:ext cx="3456432" cy="576943"/>
          </a:xfrm>
        </p:spPr>
        <p:txBody>
          <a:bodyPr>
            <a:normAutofit/>
          </a:bodyPr>
          <a:lstStyle/>
          <a:p>
            <a:r>
              <a:rPr lang="en-IN" b="1" u="sng" dirty="0"/>
              <a:t>Other Important Skills</a:t>
            </a:r>
          </a:p>
          <a:p>
            <a:endParaRPr lang="en-IN" dirty="0"/>
          </a:p>
        </p:txBody>
      </p:sp>
      <p:sp>
        <p:nvSpPr>
          <p:cNvPr id="11" name="Text Placeholder 10">
            <a:extLst>
              <a:ext uri="{FF2B5EF4-FFF2-40B4-BE49-F238E27FC236}">
                <a16:creationId xmlns:a16="http://schemas.microsoft.com/office/drawing/2014/main" id="{A84AAB76-5FCE-C4CE-4982-CDFE3D4378A0}"/>
              </a:ext>
            </a:extLst>
          </p:cNvPr>
          <p:cNvSpPr>
            <a:spLocks noGrp="1"/>
          </p:cNvSpPr>
          <p:nvPr>
            <p:ph type="body" sz="half" idx="17"/>
          </p:nvPr>
        </p:nvSpPr>
        <p:spPr>
          <a:xfrm>
            <a:off x="8051801" y="3211285"/>
            <a:ext cx="3456432" cy="3007411"/>
          </a:xfrm>
        </p:spPr>
        <p:txBody>
          <a:bodyPr>
            <a:normAutofit lnSpcReduction="10000"/>
          </a:bodyPr>
          <a:lstStyle/>
          <a:p>
            <a:pPr marL="285750" indent="-285750">
              <a:buFont typeface="Arial" panose="020B0604020202020204" pitchFamily="34" charset="0"/>
              <a:buChar char="•"/>
            </a:pPr>
            <a:r>
              <a:rPr lang="en-IN" dirty="0"/>
              <a:t>Critical thinking </a:t>
            </a:r>
          </a:p>
          <a:p>
            <a:pPr marL="285750" indent="-285750">
              <a:buFont typeface="Arial" panose="020B0604020202020204" pitchFamily="34" charset="0"/>
              <a:buChar char="•"/>
            </a:pPr>
            <a:r>
              <a:rPr lang="en-IN" dirty="0"/>
              <a:t>Time management </a:t>
            </a:r>
          </a:p>
          <a:p>
            <a:pPr marL="285750" indent="-285750">
              <a:buFont typeface="Arial" panose="020B0604020202020204" pitchFamily="34" charset="0"/>
              <a:buChar char="•"/>
            </a:pPr>
            <a:r>
              <a:rPr lang="en-IN" dirty="0"/>
              <a:t>Negotiation skills </a:t>
            </a:r>
          </a:p>
          <a:p>
            <a:pPr marL="285750" indent="-285750">
              <a:buFont typeface="Arial" panose="020B0604020202020204" pitchFamily="34" charset="0"/>
              <a:buChar char="•"/>
            </a:pPr>
            <a:r>
              <a:rPr lang="en-IN" dirty="0"/>
              <a:t>Documentation skills </a:t>
            </a:r>
          </a:p>
          <a:p>
            <a:pPr marL="285750" indent="-285750">
              <a:buFont typeface="Arial" panose="020B0604020202020204" pitchFamily="34" charset="0"/>
              <a:buChar char="•"/>
            </a:pPr>
            <a:r>
              <a:rPr lang="en-IN" dirty="0"/>
              <a:t>Leadership </a:t>
            </a:r>
          </a:p>
          <a:p>
            <a:pPr marL="285750" indent="-285750">
              <a:buFont typeface="Arial" panose="020B0604020202020204" pitchFamily="34" charset="0"/>
              <a:buChar char="•"/>
            </a:pPr>
            <a:r>
              <a:rPr lang="en-IN" dirty="0"/>
              <a:t>Adaptability </a:t>
            </a:r>
          </a:p>
          <a:p>
            <a:pPr marL="285750" indent="-285750">
              <a:buFont typeface="Arial" panose="020B0604020202020204" pitchFamily="34" charset="0"/>
              <a:buChar char="•"/>
            </a:pPr>
            <a:r>
              <a:rPr lang="en-IN" dirty="0"/>
              <a:t>Technical knowledge </a:t>
            </a:r>
          </a:p>
          <a:p>
            <a:pPr marL="285750" indent="-285750">
              <a:buFont typeface="Arial" panose="020B0604020202020204" pitchFamily="34" charset="0"/>
              <a:buChar char="•"/>
            </a:pPr>
            <a:r>
              <a:rPr lang="en-IN" dirty="0"/>
              <a:t>Data analysis </a:t>
            </a:r>
          </a:p>
          <a:p>
            <a:pPr marL="285750" indent="-285750">
              <a:buFont typeface="Arial" panose="020B0604020202020204" pitchFamily="34" charset="0"/>
              <a:buChar char="•"/>
            </a:pPr>
            <a:r>
              <a:rPr lang="en-IN" dirty="0"/>
              <a:t>Teamwork </a:t>
            </a:r>
          </a:p>
          <a:p>
            <a:pPr marL="285750" indent="-285750">
              <a:buFont typeface="Arial" panose="020B0604020202020204" pitchFamily="34" charset="0"/>
              <a:buChar char="•"/>
            </a:pPr>
            <a:r>
              <a:rPr lang="en-IN" dirty="0"/>
              <a:t>Attention to detail</a:t>
            </a:r>
          </a:p>
          <a:p>
            <a:endParaRPr lang="en-IN" dirty="0"/>
          </a:p>
        </p:txBody>
      </p:sp>
    </p:spTree>
    <p:extLst>
      <p:ext uri="{BB962C8B-B14F-4D97-AF65-F5344CB8AC3E}">
        <p14:creationId xmlns:p14="http://schemas.microsoft.com/office/powerpoint/2010/main" val="29233881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323B9-EA48-6158-87C1-A2EEDDBEA324}"/>
              </a:ext>
            </a:extLst>
          </p:cNvPr>
          <p:cNvSpPr>
            <a:spLocks noGrp="1"/>
          </p:cNvSpPr>
          <p:nvPr>
            <p:ph type="ctrTitle"/>
          </p:nvPr>
        </p:nvSpPr>
        <p:spPr/>
        <p:txBody>
          <a:bodyPr>
            <a:normAutofit fontScale="90000"/>
          </a:bodyPr>
          <a:lstStyle/>
          <a:p>
            <a:r>
              <a:rPr lang="en-IN" sz="3600" b="1" u="sng" dirty="0"/>
              <a:t>C. Business Analysis Methodologies (e.g., Agile, Waterfall)</a:t>
            </a:r>
            <a:br>
              <a:rPr lang="en-IN" b="1" dirty="0"/>
            </a:br>
            <a:endParaRPr lang="en-IN" dirty="0"/>
          </a:p>
        </p:txBody>
      </p:sp>
      <p:sp>
        <p:nvSpPr>
          <p:cNvPr id="3" name="Subtitle 2">
            <a:extLst>
              <a:ext uri="{FF2B5EF4-FFF2-40B4-BE49-F238E27FC236}">
                <a16:creationId xmlns:a16="http://schemas.microsoft.com/office/drawing/2014/main" id="{AEE48DDD-C16D-D92C-AE63-47E0D773324F}"/>
              </a:ext>
            </a:extLst>
          </p:cNvPr>
          <p:cNvSpPr>
            <a:spLocks noGrp="1"/>
          </p:cNvSpPr>
          <p:nvPr>
            <p:ph type="subTitle" idx="1"/>
          </p:nvPr>
        </p:nvSpPr>
        <p:spPr/>
        <p:txBody>
          <a:bodyPr>
            <a:normAutofit/>
          </a:bodyPr>
          <a:lstStyle/>
          <a:p>
            <a:r>
              <a:rPr lang="en-IN" dirty="0"/>
              <a:t>Business Analysis methodologies provide structured approaches for planning, developing, and delivering projects.</a:t>
            </a:r>
          </a:p>
          <a:p>
            <a:endParaRPr lang="en-IN" dirty="0"/>
          </a:p>
        </p:txBody>
      </p:sp>
    </p:spTree>
    <p:extLst>
      <p:ext uri="{BB962C8B-B14F-4D97-AF65-F5344CB8AC3E}">
        <p14:creationId xmlns:p14="http://schemas.microsoft.com/office/powerpoint/2010/main" val="13472297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F81F4-65DD-4B6C-BA6B-AB2033835CB4}"/>
              </a:ext>
            </a:extLst>
          </p:cNvPr>
          <p:cNvSpPr>
            <a:spLocks noGrp="1"/>
          </p:cNvSpPr>
          <p:nvPr>
            <p:ph type="title"/>
          </p:nvPr>
        </p:nvSpPr>
        <p:spPr>
          <a:xfrm>
            <a:off x="2895600" y="762000"/>
            <a:ext cx="8610599" cy="617320"/>
          </a:xfrm>
        </p:spPr>
        <p:txBody>
          <a:bodyPr>
            <a:normAutofit fontScale="90000"/>
          </a:bodyPr>
          <a:lstStyle/>
          <a:p>
            <a:r>
              <a:rPr lang="en-IN" b="1" dirty="0"/>
              <a:t>1</a:t>
            </a:r>
            <a:r>
              <a:rPr lang="en-IN" b="1" u="sng" dirty="0"/>
              <a:t>. Waterfall Methodology</a:t>
            </a:r>
            <a:br>
              <a:rPr lang="en-IN" b="1" dirty="0"/>
            </a:br>
            <a:endParaRPr lang="en-IN" dirty="0"/>
          </a:p>
        </p:txBody>
      </p:sp>
      <p:sp>
        <p:nvSpPr>
          <p:cNvPr id="3" name="Text Placeholder 2">
            <a:extLst>
              <a:ext uri="{FF2B5EF4-FFF2-40B4-BE49-F238E27FC236}">
                <a16:creationId xmlns:a16="http://schemas.microsoft.com/office/drawing/2014/main" id="{AA77B940-E599-5C22-F32D-029A1D29333F}"/>
              </a:ext>
            </a:extLst>
          </p:cNvPr>
          <p:cNvSpPr>
            <a:spLocks noGrp="1"/>
          </p:cNvSpPr>
          <p:nvPr>
            <p:ph type="body" idx="1"/>
          </p:nvPr>
        </p:nvSpPr>
        <p:spPr/>
        <p:txBody>
          <a:bodyPr/>
          <a:lstStyle/>
          <a:p>
            <a:r>
              <a:rPr lang="en-IN" b="1" u="sng" dirty="0"/>
              <a:t>Definition</a:t>
            </a:r>
          </a:p>
          <a:p>
            <a:endParaRPr lang="en-IN" dirty="0"/>
          </a:p>
        </p:txBody>
      </p:sp>
      <p:sp>
        <p:nvSpPr>
          <p:cNvPr id="4" name="Text Placeholder 3">
            <a:extLst>
              <a:ext uri="{FF2B5EF4-FFF2-40B4-BE49-F238E27FC236}">
                <a16:creationId xmlns:a16="http://schemas.microsoft.com/office/drawing/2014/main" id="{1089546F-EA33-D760-675F-1499C4CCCA6F}"/>
              </a:ext>
            </a:extLst>
          </p:cNvPr>
          <p:cNvSpPr>
            <a:spLocks noGrp="1"/>
          </p:cNvSpPr>
          <p:nvPr>
            <p:ph type="body" sz="half" idx="15"/>
          </p:nvPr>
        </p:nvSpPr>
        <p:spPr>
          <a:xfrm>
            <a:off x="544286" y="2525486"/>
            <a:ext cx="3597945" cy="4049485"/>
          </a:xfrm>
        </p:spPr>
        <p:txBody>
          <a:bodyPr>
            <a:normAutofit/>
          </a:bodyPr>
          <a:lstStyle/>
          <a:p>
            <a:r>
              <a:rPr lang="en-IN" dirty="0"/>
              <a:t>The </a:t>
            </a:r>
            <a:r>
              <a:rPr lang="en-IN" b="1" dirty="0"/>
              <a:t>Waterfall Model</a:t>
            </a:r>
            <a:r>
              <a:rPr lang="en-IN" dirty="0"/>
              <a:t> is a traditional project management approach where work progresses through sequential phases. Each phase must be completed before the next one begins.</a:t>
            </a:r>
          </a:p>
          <a:p>
            <a:endParaRPr lang="en-IN" dirty="0"/>
          </a:p>
          <a:p>
            <a:r>
              <a:rPr lang="en-IN" sz="2400" b="1" u="sng" dirty="0"/>
              <a:t>Characteristics</a:t>
            </a:r>
          </a:p>
          <a:p>
            <a:pPr marL="285750" indent="-285750">
              <a:buFont typeface="Arial" panose="020B0604020202020204" pitchFamily="34" charset="0"/>
              <a:buChar char="•"/>
            </a:pPr>
            <a:r>
              <a:rPr lang="en-IN" dirty="0"/>
              <a:t>Linear process </a:t>
            </a:r>
          </a:p>
          <a:p>
            <a:pPr marL="285750" indent="-285750">
              <a:buFont typeface="Arial" panose="020B0604020202020204" pitchFamily="34" charset="0"/>
              <a:buChar char="•"/>
            </a:pPr>
            <a:r>
              <a:rPr lang="en-IN" dirty="0"/>
              <a:t>Detailed documentation </a:t>
            </a:r>
          </a:p>
          <a:p>
            <a:pPr marL="285750" indent="-285750">
              <a:buFont typeface="Arial" panose="020B0604020202020204" pitchFamily="34" charset="0"/>
              <a:buChar char="•"/>
            </a:pPr>
            <a:r>
              <a:rPr lang="en-IN" dirty="0"/>
              <a:t>Fixed scope </a:t>
            </a:r>
          </a:p>
          <a:p>
            <a:pPr marL="285750" indent="-285750">
              <a:buFont typeface="Arial" panose="020B0604020202020204" pitchFamily="34" charset="0"/>
              <a:buChar char="•"/>
            </a:pPr>
            <a:r>
              <a:rPr lang="en-IN" dirty="0"/>
              <a:t>Minimal changes after planning</a:t>
            </a:r>
          </a:p>
          <a:p>
            <a:endParaRPr lang="en-IN" dirty="0"/>
          </a:p>
        </p:txBody>
      </p:sp>
      <p:sp>
        <p:nvSpPr>
          <p:cNvPr id="5" name="Text Placeholder 4">
            <a:extLst>
              <a:ext uri="{FF2B5EF4-FFF2-40B4-BE49-F238E27FC236}">
                <a16:creationId xmlns:a16="http://schemas.microsoft.com/office/drawing/2014/main" id="{D3E2DCE6-9E84-DCDF-A3C5-B4814A523D47}"/>
              </a:ext>
            </a:extLst>
          </p:cNvPr>
          <p:cNvSpPr>
            <a:spLocks noGrp="1"/>
          </p:cNvSpPr>
          <p:nvPr>
            <p:ph type="body" sz="quarter" idx="3"/>
          </p:nvPr>
        </p:nvSpPr>
        <p:spPr/>
        <p:txBody>
          <a:bodyPr/>
          <a:lstStyle/>
          <a:p>
            <a:r>
              <a:rPr lang="en-IN" b="1" u="sng" dirty="0"/>
              <a:t>Phases</a:t>
            </a:r>
          </a:p>
          <a:p>
            <a:endParaRPr lang="en-IN" dirty="0"/>
          </a:p>
        </p:txBody>
      </p:sp>
      <p:sp>
        <p:nvSpPr>
          <p:cNvPr id="6" name="Text Placeholder 5">
            <a:extLst>
              <a:ext uri="{FF2B5EF4-FFF2-40B4-BE49-F238E27FC236}">
                <a16:creationId xmlns:a16="http://schemas.microsoft.com/office/drawing/2014/main" id="{42113E1B-9618-3C43-A607-EA9BDC03EF8B}"/>
              </a:ext>
            </a:extLst>
          </p:cNvPr>
          <p:cNvSpPr>
            <a:spLocks noGrp="1"/>
          </p:cNvSpPr>
          <p:nvPr>
            <p:ph type="body" sz="half" idx="16"/>
          </p:nvPr>
        </p:nvSpPr>
        <p:spPr>
          <a:xfrm>
            <a:off x="4366858" y="2525486"/>
            <a:ext cx="3456432" cy="4180114"/>
          </a:xfrm>
        </p:spPr>
        <p:txBody>
          <a:bodyPr>
            <a:normAutofit/>
          </a:bodyPr>
          <a:lstStyle/>
          <a:p>
            <a:pPr marL="285750" indent="-285750">
              <a:buFont typeface="Arial" panose="020B0604020202020204" pitchFamily="34" charset="0"/>
              <a:buChar char="•"/>
            </a:pPr>
            <a:r>
              <a:rPr lang="en-IN" dirty="0"/>
              <a:t>Requirement Gathering </a:t>
            </a:r>
          </a:p>
          <a:p>
            <a:pPr marL="285750" indent="-285750">
              <a:buFont typeface="Arial" panose="020B0604020202020204" pitchFamily="34" charset="0"/>
              <a:buChar char="•"/>
            </a:pPr>
            <a:r>
              <a:rPr lang="en-IN" dirty="0"/>
              <a:t>System Design </a:t>
            </a:r>
          </a:p>
          <a:p>
            <a:pPr marL="285750" indent="-285750">
              <a:buFont typeface="Arial" panose="020B0604020202020204" pitchFamily="34" charset="0"/>
              <a:buChar char="•"/>
            </a:pPr>
            <a:r>
              <a:rPr lang="en-IN" dirty="0"/>
              <a:t>Development </a:t>
            </a:r>
          </a:p>
          <a:p>
            <a:pPr marL="285750" indent="-285750">
              <a:buFont typeface="Arial" panose="020B0604020202020204" pitchFamily="34" charset="0"/>
              <a:buChar char="•"/>
            </a:pPr>
            <a:r>
              <a:rPr lang="en-IN" dirty="0"/>
              <a:t>Testing </a:t>
            </a:r>
          </a:p>
          <a:p>
            <a:pPr marL="285750" indent="-285750">
              <a:buFont typeface="Arial" panose="020B0604020202020204" pitchFamily="34" charset="0"/>
              <a:buChar char="•"/>
            </a:pPr>
            <a:r>
              <a:rPr lang="en-IN" dirty="0"/>
              <a:t>Deployment </a:t>
            </a:r>
          </a:p>
          <a:p>
            <a:pPr marL="285750" indent="-285750">
              <a:buFont typeface="Arial" panose="020B0604020202020204" pitchFamily="34" charset="0"/>
              <a:buChar char="•"/>
            </a:pPr>
            <a:r>
              <a:rPr lang="en-IN" dirty="0"/>
              <a:t>Maintenance </a:t>
            </a:r>
          </a:p>
          <a:p>
            <a:endParaRPr lang="en-IN" sz="2400" dirty="0"/>
          </a:p>
          <a:p>
            <a:r>
              <a:rPr lang="en-IN" sz="2400" b="1" u="sng" dirty="0"/>
              <a:t>Suitable For</a:t>
            </a:r>
          </a:p>
          <a:p>
            <a:pPr marL="285750" indent="-285750">
              <a:buFont typeface="Arial" panose="020B0604020202020204" pitchFamily="34" charset="0"/>
              <a:buChar char="•"/>
            </a:pPr>
            <a:r>
              <a:rPr lang="en-IN" dirty="0"/>
              <a:t>Government projects </a:t>
            </a:r>
          </a:p>
          <a:p>
            <a:pPr marL="285750" indent="-285750">
              <a:buFont typeface="Arial" panose="020B0604020202020204" pitchFamily="34" charset="0"/>
              <a:buChar char="•"/>
            </a:pPr>
            <a:r>
              <a:rPr lang="en-IN" dirty="0"/>
              <a:t>Construction </a:t>
            </a:r>
          </a:p>
          <a:p>
            <a:pPr marL="285750" indent="-285750">
              <a:buFont typeface="Arial" panose="020B0604020202020204" pitchFamily="34" charset="0"/>
              <a:buChar char="•"/>
            </a:pPr>
            <a:r>
              <a:rPr lang="en-IN" dirty="0"/>
              <a:t>Manufacturing </a:t>
            </a:r>
          </a:p>
          <a:p>
            <a:pPr marL="285750" indent="-285750">
              <a:buFont typeface="Arial" panose="020B0604020202020204" pitchFamily="34" charset="0"/>
              <a:buChar char="•"/>
            </a:pPr>
            <a:r>
              <a:rPr lang="en-IN" dirty="0"/>
              <a:t>Projects with fixed requirements</a:t>
            </a:r>
          </a:p>
          <a:p>
            <a:endParaRPr lang="en-IN" dirty="0"/>
          </a:p>
        </p:txBody>
      </p:sp>
      <p:sp>
        <p:nvSpPr>
          <p:cNvPr id="7" name="Text Placeholder 6">
            <a:extLst>
              <a:ext uri="{FF2B5EF4-FFF2-40B4-BE49-F238E27FC236}">
                <a16:creationId xmlns:a16="http://schemas.microsoft.com/office/drawing/2014/main" id="{91927B12-F0F9-235F-ACF0-A5BE416C2A72}"/>
              </a:ext>
            </a:extLst>
          </p:cNvPr>
          <p:cNvSpPr>
            <a:spLocks noGrp="1"/>
          </p:cNvSpPr>
          <p:nvPr>
            <p:ph type="body" sz="quarter" idx="13"/>
          </p:nvPr>
        </p:nvSpPr>
        <p:spPr/>
        <p:txBody>
          <a:bodyPr/>
          <a:lstStyle/>
          <a:p>
            <a:r>
              <a:rPr lang="en-IN" b="1" u="sng" dirty="0"/>
              <a:t>Advantages</a:t>
            </a:r>
          </a:p>
          <a:p>
            <a:endParaRPr lang="en-IN" dirty="0"/>
          </a:p>
        </p:txBody>
      </p:sp>
      <p:sp>
        <p:nvSpPr>
          <p:cNvPr id="8" name="Text Placeholder 7">
            <a:extLst>
              <a:ext uri="{FF2B5EF4-FFF2-40B4-BE49-F238E27FC236}">
                <a16:creationId xmlns:a16="http://schemas.microsoft.com/office/drawing/2014/main" id="{8119BCC0-C74D-E883-4214-20FB4F330B49}"/>
              </a:ext>
            </a:extLst>
          </p:cNvPr>
          <p:cNvSpPr>
            <a:spLocks noGrp="1"/>
          </p:cNvSpPr>
          <p:nvPr>
            <p:ph type="body" sz="half" idx="17"/>
          </p:nvPr>
        </p:nvSpPr>
        <p:spPr>
          <a:xfrm>
            <a:off x="8051800" y="2525486"/>
            <a:ext cx="3595913" cy="4180114"/>
          </a:xfrm>
        </p:spPr>
        <p:txBody>
          <a:bodyPr>
            <a:normAutofit/>
          </a:bodyPr>
          <a:lstStyle/>
          <a:p>
            <a:pPr marL="285750" indent="-285750">
              <a:buFont typeface="Arial" panose="020B0604020202020204" pitchFamily="34" charset="0"/>
              <a:buChar char="•"/>
            </a:pPr>
            <a:r>
              <a:rPr lang="en-IN" dirty="0"/>
              <a:t>Easy to manage </a:t>
            </a:r>
          </a:p>
          <a:p>
            <a:pPr marL="285750" indent="-285750">
              <a:buFont typeface="Arial" panose="020B0604020202020204" pitchFamily="34" charset="0"/>
              <a:buChar char="•"/>
            </a:pPr>
            <a:r>
              <a:rPr lang="en-IN" dirty="0"/>
              <a:t>Clear milestones </a:t>
            </a:r>
          </a:p>
          <a:p>
            <a:pPr marL="285750" indent="-285750">
              <a:buFont typeface="Arial" panose="020B0604020202020204" pitchFamily="34" charset="0"/>
              <a:buChar char="•"/>
            </a:pPr>
            <a:r>
              <a:rPr lang="en-IN" dirty="0"/>
              <a:t>Well-documented </a:t>
            </a:r>
          </a:p>
          <a:p>
            <a:pPr marL="285750" indent="-285750">
              <a:buFont typeface="Arial" panose="020B0604020202020204" pitchFamily="34" charset="0"/>
              <a:buChar char="•"/>
            </a:pPr>
            <a:r>
              <a:rPr lang="en-IN" dirty="0"/>
              <a:t>Suitable for stable requirements</a:t>
            </a:r>
          </a:p>
          <a:p>
            <a:r>
              <a:rPr lang="en-IN" dirty="0"/>
              <a:t> </a:t>
            </a:r>
            <a:endParaRPr lang="en-IN" sz="2400" dirty="0"/>
          </a:p>
          <a:p>
            <a:r>
              <a:rPr lang="en-IN" sz="2400" b="1" u="sng" dirty="0"/>
              <a:t>Disadvantages</a:t>
            </a:r>
          </a:p>
          <a:p>
            <a:pPr marL="285750" indent="-285750">
              <a:buFont typeface="Arial" panose="020B0604020202020204" pitchFamily="34" charset="0"/>
              <a:buChar char="•"/>
            </a:pPr>
            <a:r>
              <a:rPr lang="en-IN" dirty="0"/>
              <a:t>Difficult to accommodate changes </a:t>
            </a:r>
          </a:p>
          <a:p>
            <a:pPr marL="285750" indent="-285750">
              <a:buFont typeface="Arial" panose="020B0604020202020204" pitchFamily="34" charset="0"/>
              <a:buChar char="•"/>
            </a:pPr>
            <a:r>
              <a:rPr lang="en-IN" dirty="0"/>
              <a:t>Late customer feedback </a:t>
            </a:r>
          </a:p>
          <a:p>
            <a:pPr marL="285750" indent="-285750">
              <a:buFont typeface="Arial" panose="020B0604020202020204" pitchFamily="34" charset="0"/>
              <a:buChar char="•"/>
            </a:pPr>
            <a:r>
              <a:rPr lang="en-IN" dirty="0"/>
              <a:t>Higher risk if requirements change </a:t>
            </a:r>
          </a:p>
          <a:p>
            <a:endParaRPr lang="en-IN" dirty="0"/>
          </a:p>
        </p:txBody>
      </p:sp>
    </p:spTree>
    <p:extLst>
      <p:ext uri="{BB962C8B-B14F-4D97-AF65-F5344CB8AC3E}">
        <p14:creationId xmlns:p14="http://schemas.microsoft.com/office/powerpoint/2010/main" val="35545717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B45D-59A2-B527-A4D4-F9A07CB9B8D6}"/>
              </a:ext>
            </a:extLst>
          </p:cNvPr>
          <p:cNvSpPr>
            <a:spLocks noGrp="1"/>
          </p:cNvSpPr>
          <p:nvPr>
            <p:ph type="title"/>
          </p:nvPr>
        </p:nvSpPr>
        <p:spPr/>
        <p:txBody>
          <a:bodyPr/>
          <a:lstStyle/>
          <a:p>
            <a:r>
              <a:rPr lang="en-IN" b="1" dirty="0"/>
              <a:t>2. Agile Methodology</a:t>
            </a:r>
            <a:br>
              <a:rPr lang="en-IN" b="1" dirty="0"/>
            </a:br>
            <a:endParaRPr lang="en-IN" dirty="0"/>
          </a:p>
        </p:txBody>
      </p:sp>
      <p:sp>
        <p:nvSpPr>
          <p:cNvPr id="3" name="Text Placeholder 2">
            <a:extLst>
              <a:ext uri="{FF2B5EF4-FFF2-40B4-BE49-F238E27FC236}">
                <a16:creationId xmlns:a16="http://schemas.microsoft.com/office/drawing/2014/main" id="{E2276026-A3A2-1B1D-6E59-B40713DB854E}"/>
              </a:ext>
            </a:extLst>
          </p:cNvPr>
          <p:cNvSpPr>
            <a:spLocks noGrp="1"/>
          </p:cNvSpPr>
          <p:nvPr>
            <p:ph type="body" idx="1"/>
          </p:nvPr>
        </p:nvSpPr>
        <p:spPr/>
        <p:txBody>
          <a:bodyPr/>
          <a:lstStyle/>
          <a:p>
            <a:endParaRPr lang="en-IN" b="1" dirty="0"/>
          </a:p>
          <a:p>
            <a:r>
              <a:rPr lang="en-IN" b="1" u="sng" dirty="0"/>
              <a:t>Definition</a:t>
            </a:r>
          </a:p>
          <a:p>
            <a:endParaRPr lang="en-IN" dirty="0"/>
          </a:p>
        </p:txBody>
      </p:sp>
      <p:sp>
        <p:nvSpPr>
          <p:cNvPr id="4" name="Text Placeholder 3">
            <a:extLst>
              <a:ext uri="{FF2B5EF4-FFF2-40B4-BE49-F238E27FC236}">
                <a16:creationId xmlns:a16="http://schemas.microsoft.com/office/drawing/2014/main" id="{DB6662B9-A3A7-A2E8-D17B-4E9E2338FFA2}"/>
              </a:ext>
            </a:extLst>
          </p:cNvPr>
          <p:cNvSpPr>
            <a:spLocks noGrp="1"/>
          </p:cNvSpPr>
          <p:nvPr>
            <p:ph type="body" sz="half" idx="15"/>
          </p:nvPr>
        </p:nvSpPr>
        <p:spPr>
          <a:xfrm>
            <a:off x="685799" y="2612571"/>
            <a:ext cx="3456432" cy="3606126"/>
          </a:xfrm>
        </p:spPr>
        <p:txBody>
          <a:bodyPr>
            <a:normAutofit/>
          </a:bodyPr>
          <a:lstStyle/>
          <a:p>
            <a:r>
              <a:rPr lang="en-IN" b="1" dirty="0"/>
              <a:t>Agile</a:t>
            </a:r>
            <a:r>
              <a:rPr lang="en-IN" dirty="0"/>
              <a:t> is an iterative and flexible methodology where projects are divided into small increments called </a:t>
            </a:r>
            <a:r>
              <a:rPr lang="en-IN" b="1" dirty="0"/>
              <a:t>Sprints</a:t>
            </a:r>
            <a:r>
              <a:rPr lang="en-IN" dirty="0"/>
              <a:t>. Teams deliver working software frequently and adapt to changing requirements.</a:t>
            </a:r>
          </a:p>
          <a:p>
            <a:endParaRPr lang="en-IN" dirty="0"/>
          </a:p>
          <a:p>
            <a:r>
              <a:rPr lang="en-IN" sz="2400" b="1" u="sng" dirty="0"/>
              <a:t>Suitable For</a:t>
            </a:r>
          </a:p>
          <a:p>
            <a:pPr marL="285750" indent="-285750">
              <a:buFont typeface="Arial" panose="020B0604020202020204" pitchFamily="34" charset="0"/>
              <a:buChar char="•"/>
            </a:pPr>
            <a:r>
              <a:rPr lang="en-IN" dirty="0"/>
              <a:t>Software development </a:t>
            </a:r>
          </a:p>
          <a:p>
            <a:pPr marL="285750" indent="-285750">
              <a:buFont typeface="Arial" panose="020B0604020202020204" pitchFamily="34" charset="0"/>
              <a:buChar char="•"/>
            </a:pPr>
            <a:r>
              <a:rPr lang="en-IN" dirty="0"/>
              <a:t>Startups </a:t>
            </a:r>
          </a:p>
          <a:p>
            <a:pPr marL="285750" indent="-285750">
              <a:buFont typeface="Arial" panose="020B0604020202020204" pitchFamily="34" charset="0"/>
              <a:buChar char="•"/>
            </a:pPr>
            <a:r>
              <a:rPr lang="en-IN" dirty="0"/>
              <a:t>Mobile applications </a:t>
            </a:r>
          </a:p>
          <a:p>
            <a:pPr marL="285750" indent="-285750">
              <a:buFont typeface="Arial" panose="020B0604020202020204" pitchFamily="34" charset="0"/>
              <a:buChar char="•"/>
            </a:pPr>
            <a:r>
              <a:rPr lang="en-IN" dirty="0"/>
              <a:t>Digital products</a:t>
            </a:r>
          </a:p>
          <a:p>
            <a:endParaRPr lang="en-IN" dirty="0"/>
          </a:p>
        </p:txBody>
      </p:sp>
      <p:sp>
        <p:nvSpPr>
          <p:cNvPr id="5" name="Text Placeholder 4">
            <a:extLst>
              <a:ext uri="{FF2B5EF4-FFF2-40B4-BE49-F238E27FC236}">
                <a16:creationId xmlns:a16="http://schemas.microsoft.com/office/drawing/2014/main" id="{E808555F-0700-7646-655D-30993D0C0066}"/>
              </a:ext>
            </a:extLst>
          </p:cNvPr>
          <p:cNvSpPr>
            <a:spLocks noGrp="1"/>
          </p:cNvSpPr>
          <p:nvPr>
            <p:ph type="body" sz="quarter" idx="3"/>
          </p:nvPr>
        </p:nvSpPr>
        <p:spPr/>
        <p:txBody>
          <a:bodyPr/>
          <a:lstStyle/>
          <a:p>
            <a:r>
              <a:rPr lang="en-IN" b="1" u="sng" dirty="0"/>
              <a:t>Agile Principles</a:t>
            </a:r>
          </a:p>
          <a:p>
            <a:endParaRPr lang="en-IN" dirty="0"/>
          </a:p>
        </p:txBody>
      </p:sp>
      <p:sp>
        <p:nvSpPr>
          <p:cNvPr id="6" name="Text Placeholder 5">
            <a:extLst>
              <a:ext uri="{FF2B5EF4-FFF2-40B4-BE49-F238E27FC236}">
                <a16:creationId xmlns:a16="http://schemas.microsoft.com/office/drawing/2014/main" id="{6661DB22-A7A4-0E49-98AA-FE33783B79D1}"/>
              </a:ext>
            </a:extLst>
          </p:cNvPr>
          <p:cNvSpPr>
            <a:spLocks noGrp="1"/>
          </p:cNvSpPr>
          <p:nvPr>
            <p:ph type="body" sz="half" idx="16"/>
          </p:nvPr>
        </p:nvSpPr>
        <p:spPr>
          <a:xfrm>
            <a:off x="4366858" y="2612570"/>
            <a:ext cx="3456432" cy="4245429"/>
          </a:xfrm>
        </p:spPr>
        <p:txBody>
          <a:bodyPr>
            <a:normAutofit lnSpcReduction="10000"/>
          </a:bodyPr>
          <a:lstStyle/>
          <a:p>
            <a:pPr marL="285750" indent="-285750">
              <a:buFont typeface="Arial" panose="020B0604020202020204" pitchFamily="34" charset="0"/>
              <a:buChar char="•"/>
            </a:pPr>
            <a:r>
              <a:rPr lang="en-IN" dirty="0"/>
              <a:t>Customer collaboration </a:t>
            </a:r>
          </a:p>
          <a:p>
            <a:pPr marL="285750" indent="-285750">
              <a:buFont typeface="Arial" panose="020B0604020202020204" pitchFamily="34" charset="0"/>
              <a:buChar char="•"/>
            </a:pPr>
            <a:r>
              <a:rPr lang="en-IN" dirty="0"/>
              <a:t>Continuous improvement </a:t>
            </a:r>
          </a:p>
          <a:p>
            <a:pPr marL="285750" indent="-285750">
              <a:buFont typeface="Arial" panose="020B0604020202020204" pitchFamily="34" charset="0"/>
              <a:buChar char="•"/>
            </a:pPr>
            <a:r>
              <a:rPr lang="en-IN" dirty="0"/>
              <a:t>Frequent delivery </a:t>
            </a:r>
          </a:p>
          <a:p>
            <a:pPr marL="285750" indent="-285750">
              <a:buFont typeface="Arial" panose="020B0604020202020204" pitchFamily="34" charset="0"/>
              <a:buChar char="•"/>
            </a:pPr>
            <a:r>
              <a:rPr lang="en-IN" dirty="0"/>
              <a:t>Team collaboration </a:t>
            </a:r>
          </a:p>
          <a:p>
            <a:pPr marL="285750" indent="-285750">
              <a:buFont typeface="Arial" panose="020B0604020202020204" pitchFamily="34" charset="0"/>
              <a:buChar char="•"/>
            </a:pPr>
            <a:r>
              <a:rPr lang="en-IN" dirty="0"/>
              <a:t>Flexibility </a:t>
            </a:r>
          </a:p>
          <a:p>
            <a:pPr marL="285750" indent="-285750">
              <a:buFont typeface="Arial" panose="020B0604020202020204" pitchFamily="34" charset="0"/>
              <a:buChar char="•"/>
            </a:pPr>
            <a:r>
              <a:rPr lang="en-IN" dirty="0"/>
              <a:t>Rapid feedback </a:t>
            </a:r>
          </a:p>
          <a:p>
            <a:endParaRPr lang="en-IN" dirty="0"/>
          </a:p>
          <a:p>
            <a:r>
              <a:rPr lang="en-IN" sz="2600" b="1" u="sng" dirty="0"/>
              <a:t>Agile Frameworks</a:t>
            </a:r>
          </a:p>
          <a:p>
            <a:endParaRPr lang="en-IN" sz="2600" b="1" dirty="0"/>
          </a:p>
          <a:p>
            <a:pPr marL="285750" indent="-285750">
              <a:buFont typeface="Arial" panose="020B0604020202020204" pitchFamily="34" charset="0"/>
              <a:buChar char="•"/>
            </a:pPr>
            <a:r>
              <a:rPr lang="en-IN" dirty="0"/>
              <a:t>Scrum </a:t>
            </a:r>
          </a:p>
          <a:p>
            <a:pPr marL="285750" indent="-285750">
              <a:buFont typeface="Arial" panose="020B0604020202020204" pitchFamily="34" charset="0"/>
              <a:buChar char="•"/>
            </a:pPr>
            <a:r>
              <a:rPr lang="en-IN" dirty="0"/>
              <a:t>Kanban </a:t>
            </a:r>
          </a:p>
          <a:p>
            <a:pPr marL="285750" indent="-285750">
              <a:buFont typeface="Arial" panose="020B0604020202020204" pitchFamily="34" charset="0"/>
              <a:buChar char="•"/>
            </a:pPr>
            <a:r>
              <a:rPr lang="en-IN" dirty="0"/>
              <a:t>Extreme Programming (XP) </a:t>
            </a:r>
          </a:p>
          <a:p>
            <a:pPr marL="285750" indent="-285750">
              <a:buFont typeface="Arial" panose="020B0604020202020204" pitchFamily="34" charset="0"/>
              <a:buChar char="•"/>
            </a:pPr>
            <a:r>
              <a:rPr lang="en-IN" dirty="0"/>
              <a:t>Lean </a:t>
            </a:r>
          </a:p>
          <a:p>
            <a:endParaRPr lang="en-IN" dirty="0"/>
          </a:p>
        </p:txBody>
      </p:sp>
      <p:sp>
        <p:nvSpPr>
          <p:cNvPr id="7" name="Text Placeholder 6">
            <a:extLst>
              <a:ext uri="{FF2B5EF4-FFF2-40B4-BE49-F238E27FC236}">
                <a16:creationId xmlns:a16="http://schemas.microsoft.com/office/drawing/2014/main" id="{7AD3E196-B004-B5CF-CBE3-4EF459E881A1}"/>
              </a:ext>
            </a:extLst>
          </p:cNvPr>
          <p:cNvSpPr>
            <a:spLocks noGrp="1"/>
          </p:cNvSpPr>
          <p:nvPr>
            <p:ph type="body" sz="quarter" idx="13"/>
          </p:nvPr>
        </p:nvSpPr>
        <p:spPr/>
        <p:txBody>
          <a:bodyPr/>
          <a:lstStyle/>
          <a:p>
            <a:r>
              <a:rPr lang="en-IN" b="1" u="sng" dirty="0"/>
              <a:t>Advantages</a:t>
            </a:r>
          </a:p>
          <a:p>
            <a:endParaRPr lang="en-IN" dirty="0"/>
          </a:p>
        </p:txBody>
      </p:sp>
      <p:sp>
        <p:nvSpPr>
          <p:cNvPr id="8" name="Text Placeholder 7">
            <a:extLst>
              <a:ext uri="{FF2B5EF4-FFF2-40B4-BE49-F238E27FC236}">
                <a16:creationId xmlns:a16="http://schemas.microsoft.com/office/drawing/2014/main" id="{3E8071D8-89C0-089C-6CE5-91BAC0AAE625}"/>
              </a:ext>
            </a:extLst>
          </p:cNvPr>
          <p:cNvSpPr>
            <a:spLocks noGrp="1"/>
          </p:cNvSpPr>
          <p:nvPr>
            <p:ph type="body" sz="half" idx="17"/>
          </p:nvPr>
        </p:nvSpPr>
        <p:spPr>
          <a:xfrm>
            <a:off x="8051801" y="2612570"/>
            <a:ext cx="3456432" cy="4245429"/>
          </a:xfrm>
        </p:spPr>
        <p:txBody>
          <a:bodyPr>
            <a:normAutofit/>
          </a:bodyPr>
          <a:lstStyle/>
          <a:p>
            <a:pPr marL="285750" indent="-285750">
              <a:buFont typeface="Arial" panose="020B0604020202020204" pitchFamily="34" charset="0"/>
              <a:buChar char="•"/>
            </a:pPr>
            <a:r>
              <a:rPr lang="en-IN" dirty="0"/>
              <a:t>Quick delivery </a:t>
            </a:r>
          </a:p>
          <a:p>
            <a:pPr marL="285750" indent="-285750">
              <a:buFont typeface="Arial" panose="020B0604020202020204" pitchFamily="34" charset="0"/>
              <a:buChar char="•"/>
            </a:pPr>
            <a:r>
              <a:rPr lang="en-IN" dirty="0"/>
              <a:t>Flexible requirements </a:t>
            </a:r>
          </a:p>
          <a:p>
            <a:pPr marL="285750" indent="-285750">
              <a:buFont typeface="Arial" panose="020B0604020202020204" pitchFamily="34" charset="0"/>
              <a:buChar char="•"/>
            </a:pPr>
            <a:r>
              <a:rPr lang="en-IN" dirty="0"/>
              <a:t>Frequent customer feedback </a:t>
            </a:r>
          </a:p>
          <a:p>
            <a:pPr marL="285750" indent="-285750">
              <a:buFont typeface="Arial" panose="020B0604020202020204" pitchFamily="34" charset="0"/>
              <a:buChar char="•"/>
            </a:pPr>
            <a:r>
              <a:rPr lang="en-IN" dirty="0"/>
              <a:t>Better quality </a:t>
            </a:r>
          </a:p>
          <a:p>
            <a:pPr marL="285750" indent="-285750">
              <a:buFont typeface="Arial" panose="020B0604020202020204" pitchFamily="34" charset="0"/>
              <a:buChar char="•"/>
            </a:pPr>
            <a:r>
              <a:rPr lang="en-IN" dirty="0"/>
              <a:t>Lower project risk </a:t>
            </a:r>
          </a:p>
          <a:p>
            <a:endParaRPr lang="en-IN" dirty="0"/>
          </a:p>
          <a:p>
            <a:r>
              <a:rPr lang="en-IN" sz="2400" b="1" u="sng" dirty="0"/>
              <a:t>Disadvantages</a:t>
            </a:r>
          </a:p>
          <a:p>
            <a:pPr marL="285750" indent="-285750">
              <a:buFont typeface="Arial" panose="020B0604020202020204" pitchFamily="34" charset="0"/>
              <a:buChar char="•"/>
            </a:pPr>
            <a:r>
              <a:rPr lang="en-IN" dirty="0"/>
              <a:t>Less predictable timelines </a:t>
            </a:r>
          </a:p>
          <a:p>
            <a:pPr marL="285750" indent="-285750">
              <a:buFont typeface="Arial" panose="020B0604020202020204" pitchFamily="34" charset="0"/>
              <a:buChar char="•"/>
            </a:pPr>
            <a:r>
              <a:rPr lang="en-IN" dirty="0"/>
              <a:t>Requires active stakeholder involvement </a:t>
            </a:r>
          </a:p>
          <a:p>
            <a:pPr marL="285750" indent="-285750">
              <a:buFont typeface="Arial" panose="020B0604020202020204" pitchFamily="34" charset="0"/>
              <a:buChar char="•"/>
            </a:pPr>
            <a:r>
              <a:rPr lang="en-IN" dirty="0"/>
              <a:t>Documentation may be lighter </a:t>
            </a:r>
          </a:p>
          <a:p>
            <a:endParaRPr lang="en-IN" dirty="0"/>
          </a:p>
        </p:txBody>
      </p:sp>
    </p:spTree>
    <p:extLst>
      <p:ext uri="{BB962C8B-B14F-4D97-AF65-F5344CB8AC3E}">
        <p14:creationId xmlns:p14="http://schemas.microsoft.com/office/powerpoint/2010/main" val="20884340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A2E1-7506-11C7-4D34-754BD3D47FDD}"/>
              </a:ext>
            </a:extLst>
          </p:cNvPr>
          <p:cNvSpPr>
            <a:spLocks noGrp="1"/>
          </p:cNvSpPr>
          <p:nvPr>
            <p:ph type="title"/>
          </p:nvPr>
        </p:nvSpPr>
        <p:spPr/>
        <p:txBody>
          <a:bodyPr>
            <a:normAutofit/>
          </a:bodyPr>
          <a:lstStyle/>
          <a:p>
            <a:pPr algn="ctr"/>
            <a:r>
              <a:rPr lang="en-IN" b="1" u="sng" dirty="0"/>
              <a:t>D. Stakeholder Management</a:t>
            </a:r>
            <a:br>
              <a:rPr lang="en-IN" b="1" u="sng" dirty="0"/>
            </a:br>
            <a:r>
              <a:rPr lang="en-IN" b="1" u="sng" dirty="0"/>
              <a:t>Definition</a:t>
            </a:r>
            <a:br>
              <a:rPr lang="en-IN" b="1" u="sng" dirty="0"/>
            </a:br>
            <a:br>
              <a:rPr lang="en-IN" u="sng" dirty="0"/>
            </a:br>
            <a:endParaRPr lang="en-IN" u="sng" dirty="0"/>
          </a:p>
        </p:txBody>
      </p:sp>
      <p:sp>
        <p:nvSpPr>
          <p:cNvPr id="3" name="Text Placeholder 2">
            <a:extLst>
              <a:ext uri="{FF2B5EF4-FFF2-40B4-BE49-F238E27FC236}">
                <a16:creationId xmlns:a16="http://schemas.microsoft.com/office/drawing/2014/main" id="{0EECA993-072E-43C9-206C-F4E3A7BEA470}"/>
              </a:ext>
            </a:extLst>
          </p:cNvPr>
          <p:cNvSpPr>
            <a:spLocks noGrp="1"/>
          </p:cNvSpPr>
          <p:nvPr>
            <p:ph type="body" idx="1"/>
          </p:nvPr>
        </p:nvSpPr>
        <p:spPr>
          <a:xfrm>
            <a:off x="1024467" y="2841171"/>
            <a:ext cx="10490200" cy="1756229"/>
          </a:xfrm>
        </p:spPr>
        <p:txBody>
          <a:bodyPr>
            <a:normAutofit fontScale="92500" lnSpcReduction="10000"/>
          </a:bodyPr>
          <a:lstStyle/>
          <a:p>
            <a:pPr algn="l"/>
            <a:r>
              <a:rPr lang="en-IN" b="1" dirty="0"/>
              <a:t>Stakeholder Management</a:t>
            </a:r>
            <a:r>
              <a:rPr lang="en-IN" dirty="0"/>
              <a:t> is the process of identifying, communicating with, engaging, and managing individuals or groups who have an interest in a project or business initiative.</a:t>
            </a:r>
          </a:p>
          <a:p>
            <a:pPr algn="l"/>
            <a:br>
              <a:rPr lang="en-IN" dirty="0"/>
            </a:br>
            <a:r>
              <a:rPr lang="en-IN" dirty="0"/>
              <a:t>Effective stakeholder management ensures that expectations are understood, concerns are addressed, and support is maintained throughout the project.</a:t>
            </a:r>
          </a:p>
        </p:txBody>
      </p:sp>
    </p:spTree>
    <p:extLst>
      <p:ext uri="{BB962C8B-B14F-4D97-AF65-F5344CB8AC3E}">
        <p14:creationId xmlns:p14="http://schemas.microsoft.com/office/powerpoint/2010/main" val="21606673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4560-3C66-1DA9-5A9A-8BDAC895589B}"/>
              </a:ext>
            </a:extLst>
          </p:cNvPr>
          <p:cNvSpPr>
            <a:spLocks noGrp="1"/>
          </p:cNvSpPr>
          <p:nvPr>
            <p:ph type="title"/>
          </p:nvPr>
        </p:nvSpPr>
        <p:spPr>
          <a:xfrm>
            <a:off x="3918856" y="762000"/>
            <a:ext cx="7587343" cy="1088571"/>
          </a:xfrm>
        </p:spPr>
        <p:txBody>
          <a:bodyPr>
            <a:normAutofit fontScale="90000"/>
          </a:bodyPr>
          <a:lstStyle/>
          <a:p>
            <a:pPr algn="l"/>
            <a:r>
              <a:rPr lang="en-IN" b="1" dirty="0"/>
              <a:t>Who Are Stakeholders?</a:t>
            </a:r>
            <a:br>
              <a:rPr lang="en-IN" b="1" dirty="0"/>
            </a:br>
            <a:br>
              <a:rPr lang="en-IN" b="1" dirty="0"/>
            </a:br>
            <a:r>
              <a:rPr lang="en-IN" sz="2000" dirty="0"/>
              <a:t>Stakeholders are individuals or organizations affected by or involved in a project.</a:t>
            </a:r>
            <a:br>
              <a:rPr lang="en-IN" dirty="0"/>
            </a:br>
            <a:endParaRPr lang="en-IN" dirty="0"/>
          </a:p>
        </p:txBody>
      </p:sp>
      <p:sp>
        <p:nvSpPr>
          <p:cNvPr id="3" name="Text Placeholder 2">
            <a:extLst>
              <a:ext uri="{FF2B5EF4-FFF2-40B4-BE49-F238E27FC236}">
                <a16:creationId xmlns:a16="http://schemas.microsoft.com/office/drawing/2014/main" id="{CD858CF9-828F-341E-275D-633F27419204}"/>
              </a:ext>
            </a:extLst>
          </p:cNvPr>
          <p:cNvSpPr>
            <a:spLocks noGrp="1"/>
          </p:cNvSpPr>
          <p:nvPr>
            <p:ph type="body" idx="1"/>
          </p:nvPr>
        </p:nvSpPr>
        <p:spPr>
          <a:xfrm>
            <a:off x="711210" y="2183802"/>
            <a:ext cx="5079991" cy="823912"/>
          </a:xfrm>
        </p:spPr>
        <p:txBody>
          <a:bodyPr/>
          <a:lstStyle/>
          <a:p>
            <a:r>
              <a:rPr lang="en-IN" b="1" u="sng" dirty="0"/>
              <a:t>Internal Stakeholders</a:t>
            </a:r>
          </a:p>
          <a:p>
            <a:endParaRPr lang="en-IN" dirty="0"/>
          </a:p>
        </p:txBody>
      </p:sp>
      <p:sp>
        <p:nvSpPr>
          <p:cNvPr id="4" name="Content Placeholder 3">
            <a:extLst>
              <a:ext uri="{FF2B5EF4-FFF2-40B4-BE49-F238E27FC236}">
                <a16:creationId xmlns:a16="http://schemas.microsoft.com/office/drawing/2014/main" id="{6656FAAC-223C-2600-D2AC-B773697818D2}"/>
              </a:ext>
            </a:extLst>
          </p:cNvPr>
          <p:cNvSpPr>
            <a:spLocks noGrp="1"/>
          </p:cNvSpPr>
          <p:nvPr>
            <p:ph sz="half" idx="2"/>
          </p:nvPr>
        </p:nvSpPr>
        <p:spPr>
          <a:xfrm>
            <a:off x="663575" y="2656114"/>
            <a:ext cx="5311775" cy="3562571"/>
          </a:xfrm>
        </p:spPr>
        <p:txBody>
          <a:bodyPr>
            <a:normAutofit/>
          </a:bodyPr>
          <a:lstStyle/>
          <a:p>
            <a:pPr marL="0" indent="0">
              <a:buNone/>
            </a:pPr>
            <a:endParaRPr lang="en-IN" b="1" dirty="0"/>
          </a:p>
          <a:p>
            <a:r>
              <a:rPr lang="en-IN" dirty="0"/>
              <a:t>Project Manager </a:t>
            </a:r>
          </a:p>
          <a:p>
            <a:r>
              <a:rPr lang="en-IN" dirty="0"/>
              <a:t>Business Analyst </a:t>
            </a:r>
          </a:p>
          <a:p>
            <a:r>
              <a:rPr lang="en-IN" dirty="0"/>
              <a:t>Developers </a:t>
            </a:r>
          </a:p>
          <a:p>
            <a:r>
              <a:rPr lang="en-IN" dirty="0"/>
              <a:t>Testers </a:t>
            </a:r>
          </a:p>
          <a:p>
            <a:r>
              <a:rPr lang="en-IN" dirty="0"/>
              <a:t>Senior Management </a:t>
            </a:r>
          </a:p>
          <a:p>
            <a:r>
              <a:rPr lang="en-IN" dirty="0"/>
              <a:t>Employees </a:t>
            </a:r>
          </a:p>
          <a:p>
            <a:endParaRPr lang="en-IN" dirty="0"/>
          </a:p>
        </p:txBody>
      </p:sp>
      <p:sp>
        <p:nvSpPr>
          <p:cNvPr id="5" name="Text Placeholder 4">
            <a:extLst>
              <a:ext uri="{FF2B5EF4-FFF2-40B4-BE49-F238E27FC236}">
                <a16:creationId xmlns:a16="http://schemas.microsoft.com/office/drawing/2014/main" id="{4535EA0F-BC43-F1DC-94E9-86E07BE8090D}"/>
              </a:ext>
            </a:extLst>
          </p:cNvPr>
          <p:cNvSpPr>
            <a:spLocks noGrp="1"/>
          </p:cNvSpPr>
          <p:nvPr>
            <p:ph type="body" sz="quarter" idx="3"/>
          </p:nvPr>
        </p:nvSpPr>
        <p:spPr/>
        <p:txBody>
          <a:bodyPr/>
          <a:lstStyle/>
          <a:p>
            <a:r>
              <a:rPr lang="en-IN" b="1" u="sng" dirty="0"/>
              <a:t>External Stakeholders</a:t>
            </a:r>
          </a:p>
          <a:p>
            <a:endParaRPr lang="en-IN" dirty="0"/>
          </a:p>
        </p:txBody>
      </p:sp>
      <p:sp>
        <p:nvSpPr>
          <p:cNvPr id="6" name="Content Placeholder 5">
            <a:extLst>
              <a:ext uri="{FF2B5EF4-FFF2-40B4-BE49-F238E27FC236}">
                <a16:creationId xmlns:a16="http://schemas.microsoft.com/office/drawing/2014/main" id="{8801CCD3-031A-F13E-66EA-4814C8647C59}"/>
              </a:ext>
            </a:extLst>
          </p:cNvPr>
          <p:cNvSpPr>
            <a:spLocks noGrp="1"/>
          </p:cNvSpPr>
          <p:nvPr>
            <p:ph sz="quarter" idx="4"/>
          </p:nvPr>
        </p:nvSpPr>
        <p:spPr>
          <a:xfrm>
            <a:off x="6172200" y="2656114"/>
            <a:ext cx="5334000" cy="3562571"/>
          </a:xfrm>
        </p:spPr>
        <p:txBody>
          <a:bodyPr>
            <a:normAutofit/>
          </a:bodyPr>
          <a:lstStyle/>
          <a:p>
            <a:endParaRPr lang="en-IN" dirty="0"/>
          </a:p>
          <a:p>
            <a:r>
              <a:rPr lang="en-IN" dirty="0"/>
              <a:t>Customers </a:t>
            </a:r>
          </a:p>
          <a:p>
            <a:r>
              <a:rPr lang="en-IN" dirty="0"/>
              <a:t>Suppliers </a:t>
            </a:r>
          </a:p>
          <a:p>
            <a:r>
              <a:rPr lang="en-IN" dirty="0"/>
              <a:t>Vendors </a:t>
            </a:r>
          </a:p>
          <a:p>
            <a:r>
              <a:rPr lang="en-IN" dirty="0"/>
              <a:t>Government agencies </a:t>
            </a:r>
          </a:p>
          <a:p>
            <a:r>
              <a:rPr lang="en-IN" dirty="0"/>
              <a:t>Investors </a:t>
            </a:r>
          </a:p>
          <a:p>
            <a:r>
              <a:rPr lang="en-IN" dirty="0"/>
              <a:t>Business partners</a:t>
            </a:r>
          </a:p>
          <a:p>
            <a:endParaRPr lang="en-IN" dirty="0"/>
          </a:p>
        </p:txBody>
      </p:sp>
    </p:spTree>
    <p:extLst>
      <p:ext uri="{BB962C8B-B14F-4D97-AF65-F5344CB8AC3E}">
        <p14:creationId xmlns:p14="http://schemas.microsoft.com/office/powerpoint/2010/main" val="42335722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C9A5B-FAEA-0226-6158-18F7687152C3}"/>
              </a:ext>
            </a:extLst>
          </p:cNvPr>
          <p:cNvSpPr>
            <a:spLocks noGrp="1"/>
          </p:cNvSpPr>
          <p:nvPr>
            <p:ph type="title"/>
          </p:nvPr>
        </p:nvSpPr>
        <p:spPr>
          <a:xfrm>
            <a:off x="2895600" y="761999"/>
            <a:ext cx="8969829" cy="1303867"/>
          </a:xfrm>
        </p:spPr>
        <p:txBody>
          <a:bodyPr>
            <a:normAutofit fontScale="90000"/>
          </a:bodyPr>
          <a:lstStyle/>
          <a:p>
            <a:r>
              <a:rPr lang="en-IN" b="1" u="sng" dirty="0"/>
              <a:t>Stakeholder Management Process</a:t>
            </a:r>
            <a:br>
              <a:rPr lang="en-IN" b="1" dirty="0"/>
            </a:br>
            <a:endParaRPr lang="en-IN" dirty="0"/>
          </a:p>
        </p:txBody>
      </p:sp>
      <p:sp>
        <p:nvSpPr>
          <p:cNvPr id="3" name="Text Placeholder 2">
            <a:extLst>
              <a:ext uri="{FF2B5EF4-FFF2-40B4-BE49-F238E27FC236}">
                <a16:creationId xmlns:a16="http://schemas.microsoft.com/office/drawing/2014/main" id="{3DCDA9E5-533E-8073-EDE0-884B2AAE7F75}"/>
              </a:ext>
            </a:extLst>
          </p:cNvPr>
          <p:cNvSpPr>
            <a:spLocks noGrp="1"/>
          </p:cNvSpPr>
          <p:nvPr>
            <p:ph type="body" idx="1"/>
          </p:nvPr>
        </p:nvSpPr>
        <p:spPr/>
        <p:txBody>
          <a:bodyPr/>
          <a:lstStyle/>
          <a:p>
            <a:r>
              <a:rPr lang="en-IN" b="1" dirty="0"/>
              <a:t>1. Identify Stakeholders</a:t>
            </a:r>
          </a:p>
          <a:p>
            <a:endParaRPr lang="en-IN" dirty="0"/>
          </a:p>
        </p:txBody>
      </p:sp>
      <p:sp>
        <p:nvSpPr>
          <p:cNvPr id="4" name="Text Placeholder 3">
            <a:extLst>
              <a:ext uri="{FF2B5EF4-FFF2-40B4-BE49-F238E27FC236}">
                <a16:creationId xmlns:a16="http://schemas.microsoft.com/office/drawing/2014/main" id="{B82A6999-1877-520F-CDE5-063601A964D1}"/>
              </a:ext>
            </a:extLst>
          </p:cNvPr>
          <p:cNvSpPr>
            <a:spLocks noGrp="1"/>
          </p:cNvSpPr>
          <p:nvPr>
            <p:ph type="body" sz="half" idx="15"/>
          </p:nvPr>
        </p:nvSpPr>
        <p:spPr>
          <a:xfrm>
            <a:off x="685799" y="2503714"/>
            <a:ext cx="3456432" cy="4887686"/>
          </a:xfrm>
        </p:spPr>
        <p:txBody>
          <a:bodyPr>
            <a:normAutofit/>
          </a:bodyPr>
          <a:lstStyle/>
          <a:p>
            <a:r>
              <a:rPr lang="en-IN" dirty="0"/>
              <a:t>List everyone who may influence or be affected by the project.</a:t>
            </a:r>
          </a:p>
          <a:p>
            <a:endParaRPr lang="en-IN" dirty="0"/>
          </a:p>
          <a:p>
            <a:r>
              <a:rPr lang="en-IN" sz="2400" b="1" dirty="0"/>
              <a:t>2. </a:t>
            </a:r>
            <a:r>
              <a:rPr lang="en-IN" sz="2400" b="1" dirty="0" err="1"/>
              <a:t>Analyze</a:t>
            </a:r>
            <a:r>
              <a:rPr lang="en-IN" sz="2400" b="1" dirty="0"/>
              <a:t> Stakeholders</a:t>
            </a:r>
          </a:p>
          <a:p>
            <a:pPr marL="285750" indent="-285750">
              <a:buFont typeface="Arial" panose="020B0604020202020204" pitchFamily="34" charset="0"/>
              <a:buChar char="•"/>
            </a:pPr>
            <a:r>
              <a:rPr lang="en-IN" dirty="0"/>
              <a:t>Understand:</a:t>
            </a:r>
          </a:p>
          <a:p>
            <a:pPr marL="285750" indent="-285750">
              <a:buFont typeface="Arial" panose="020B0604020202020204" pitchFamily="34" charset="0"/>
              <a:buChar char="•"/>
            </a:pPr>
            <a:r>
              <a:rPr lang="en-IN" dirty="0"/>
              <a:t>Interests </a:t>
            </a:r>
          </a:p>
          <a:p>
            <a:pPr marL="285750" indent="-285750">
              <a:buFont typeface="Arial" panose="020B0604020202020204" pitchFamily="34" charset="0"/>
              <a:buChar char="•"/>
            </a:pPr>
            <a:r>
              <a:rPr lang="en-IN" dirty="0"/>
              <a:t>Expectations </a:t>
            </a:r>
          </a:p>
          <a:p>
            <a:pPr marL="285750" indent="-285750">
              <a:buFont typeface="Arial" panose="020B0604020202020204" pitchFamily="34" charset="0"/>
              <a:buChar char="•"/>
            </a:pPr>
            <a:r>
              <a:rPr lang="en-IN" dirty="0"/>
              <a:t>Influence </a:t>
            </a:r>
          </a:p>
          <a:p>
            <a:pPr marL="285750" indent="-285750">
              <a:buFont typeface="Arial" panose="020B0604020202020204" pitchFamily="34" charset="0"/>
              <a:buChar char="•"/>
            </a:pPr>
            <a:r>
              <a:rPr lang="en-IN" dirty="0"/>
              <a:t>Level of impact </a:t>
            </a:r>
          </a:p>
          <a:p>
            <a:pPr marL="285750" indent="-285750">
              <a:buFont typeface="Arial" panose="020B0604020202020204" pitchFamily="34" charset="0"/>
              <a:buChar char="•"/>
            </a:pPr>
            <a:r>
              <a:rPr lang="en-IN" dirty="0"/>
              <a:t>Communication needs </a:t>
            </a:r>
          </a:p>
          <a:p>
            <a:endParaRPr lang="en-IN" dirty="0"/>
          </a:p>
        </p:txBody>
      </p:sp>
      <p:sp>
        <p:nvSpPr>
          <p:cNvPr id="5" name="Text Placeholder 4">
            <a:extLst>
              <a:ext uri="{FF2B5EF4-FFF2-40B4-BE49-F238E27FC236}">
                <a16:creationId xmlns:a16="http://schemas.microsoft.com/office/drawing/2014/main" id="{D78636B1-B0D5-86E2-0AF9-5EA986265FD7}"/>
              </a:ext>
            </a:extLst>
          </p:cNvPr>
          <p:cNvSpPr>
            <a:spLocks noGrp="1"/>
          </p:cNvSpPr>
          <p:nvPr>
            <p:ph type="body" sz="quarter" idx="3"/>
          </p:nvPr>
        </p:nvSpPr>
        <p:spPr/>
        <p:txBody>
          <a:bodyPr/>
          <a:lstStyle/>
          <a:p>
            <a:r>
              <a:rPr lang="en-IN" b="1" dirty="0"/>
              <a:t>3. Plan Stakeholder Engagement</a:t>
            </a:r>
          </a:p>
          <a:p>
            <a:endParaRPr lang="en-IN" dirty="0"/>
          </a:p>
        </p:txBody>
      </p:sp>
      <p:sp>
        <p:nvSpPr>
          <p:cNvPr id="6" name="Text Placeholder 5">
            <a:extLst>
              <a:ext uri="{FF2B5EF4-FFF2-40B4-BE49-F238E27FC236}">
                <a16:creationId xmlns:a16="http://schemas.microsoft.com/office/drawing/2014/main" id="{DE6A16CF-03CF-C6C5-5FCA-CF36B1A0C22F}"/>
              </a:ext>
            </a:extLst>
          </p:cNvPr>
          <p:cNvSpPr>
            <a:spLocks noGrp="1"/>
          </p:cNvSpPr>
          <p:nvPr>
            <p:ph type="body" sz="half" idx="16"/>
          </p:nvPr>
        </p:nvSpPr>
        <p:spPr>
          <a:xfrm>
            <a:off x="4366858" y="2503714"/>
            <a:ext cx="3456432" cy="3714971"/>
          </a:xfrm>
        </p:spPr>
        <p:txBody>
          <a:bodyPr>
            <a:normAutofit/>
          </a:bodyPr>
          <a:lstStyle/>
          <a:p>
            <a:pPr marL="285750" indent="-285750">
              <a:buFont typeface="Arial" panose="020B0604020202020204" pitchFamily="34" charset="0"/>
              <a:buChar char="•"/>
            </a:pPr>
            <a:r>
              <a:rPr lang="en-IN" sz="1800" dirty="0"/>
              <a:t>Develop strategies for:</a:t>
            </a:r>
          </a:p>
          <a:p>
            <a:pPr marL="285750" indent="-285750">
              <a:buFont typeface="Arial" panose="020B0604020202020204" pitchFamily="34" charset="0"/>
              <a:buChar char="•"/>
            </a:pPr>
            <a:r>
              <a:rPr lang="en-IN" sz="1800" dirty="0"/>
              <a:t>Communication </a:t>
            </a:r>
          </a:p>
          <a:p>
            <a:pPr marL="285750" indent="-285750">
              <a:buFont typeface="Arial" panose="020B0604020202020204" pitchFamily="34" charset="0"/>
              <a:buChar char="•"/>
            </a:pPr>
            <a:r>
              <a:rPr lang="en-IN" sz="1800" dirty="0"/>
              <a:t>Meetings </a:t>
            </a:r>
          </a:p>
          <a:p>
            <a:pPr marL="285750" indent="-285750">
              <a:buFont typeface="Arial" panose="020B0604020202020204" pitchFamily="34" charset="0"/>
              <a:buChar char="•"/>
            </a:pPr>
            <a:r>
              <a:rPr lang="en-IN" sz="1800" dirty="0"/>
              <a:t>Feedback </a:t>
            </a:r>
          </a:p>
          <a:p>
            <a:pPr marL="285750" indent="-285750">
              <a:buFont typeface="Arial" panose="020B0604020202020204" pitchFamily="34" charset="0"/>
              <a:buChar char="•"/>
            </a:pPr>
            <a:r>
              <a:rPr lang="en-IN" sz="1800" dirty="0"/>
              <a:t>Reporting </a:t>
            </a:r>
          </a:p>
          <a:p>
            <a:endParaRPr lang="en-IN" dirty="0"/>
          </a:p>
        </p:txBody>
      </p:sp>
      <p:sp>
        <p:nvSpPr>
          <p:cNvPr id="7" name="Text Placeholder 6">
            <a:extLst>
              <a:ext uri="{FF2B5EF4-FFF2-40B4-BE49-F238E27FC236}">
                <a16:creationId xmlns:a16="http://schemas.microsoft.com/office/drawing/2014/main" id="{31ED1EE7-AE24-4AED-9F47-33F63C716C91}"/>
              </a:ext>
            </a:extLst>
          </p:cNvPr>
          <p:cNvSpPr>
            <a:spLocks noGrp="1"/>
          </p:cNvSpPr>
          <p:nvPr>
            <p:ph type="body" sz="quarter" idx="13"/>
          </p:nvPr>
        </p:nvSpPr>
        <p:spPr/>
        <p:txBody>
          <a:bodyPr/>
          <a:lstStyle/>
          <a:p>
            <a:r>
              <a:rPr lang="en-IN" b="1" dirty="0"/>
              <a:t>4. Communicate Regularly</a:t>
            </a:r>
          </a:p>
          <a:p>
            <a:endParaRPr lang="en-IN" dirty="0"/>
          </a:p>
        </p:txBody>
      </p:sp>
      <p:sp>
        <p:nvSpPr>
          <p:cNvPr id="8" name="Text Placeholder 7">
            <a:extLst>
              <a:ext uri="{FF2B5EF4-FFF2-40B4-BE49-F238E27FC236}">
                <a16:creationId xmlns:a16="http://schemas.microsoft.com/office/drawing/2014/main" id="{223285CA-3B57-2F9B-ADBC-D904C90A19B1}"/>
              </a:ext>
            </a:extLst>
          </p:cNvPr>
          <p:cNvSpPr>
            <a:spLocks noGrp="1"/>
          </p:cNvSpPr>
          <p:nvPr>
            <p:ph type="body" sz="half" idx="17"/>
          </p:nvPr>
        </p:nvSpPr>
        <p:spPr>
          <a:xfrm>
            <a:off x="8051801" y="2503714"/>
            <a:ext cx="3456432" cy="4441371"/>
          </a:xfrm>
        </p:spPr>
        <p:txBody>
          <a:bodyPr>
            <a:normAutofit lnSpcReduction="10000"/>
          </a:bodyPr>
          <a:lstStyle/>
          <a:p>
            <a:r>
              <a:rPr lang="en-IN" dirty="0"/>
              <a:t>Provide:</a:t>
            </a:r>
          </a:p>
          <a:p>
            <a:pPr marL="285750" indent="-285750">
              <a:buFont typeface="Arial" panose="020B0604020202020204" pitchFamily="34" charset="0"/>
              <a:buChar char="•"/>
            </a:pPr>
            <a:r>
              <a:rPr lang="en-IN" dirty="0"/>
              <a:t>Project updates </a:t>
            </a:r>
          </a:p>
          <a:p>
            <a:pPr marL="285750" indent="-285750">
              <a:buFont typeface="Arial" panose="020B0604020202020204" pitchFamily="34" charset="0"/>
              <a:buChar char="•"/>
            </a:pPr>
            <a:r>
              <a:rPr lang="en-IN" dirty="0"/>
              <a:t>Progress reports </a:t>
            </a:r>
          </a:p>
          <a:p>
            <a:pPr marL="285750" indent="-285750">
              <a:buFont typeface="Arial" panose="020B0604020202020204" pitchFamily="34" charset="0"/>
              <a:buChar char="•"/>
            </a:pPr>
            <a:r>
              <a:rPr lang="en-IN" dirty="0"/>
              <a:t>Risk information </a:t>
            </a:r>
          </a:p>
          <a:p>
            <a:pPr marL="285750" indent="-285750">
              <a:buFont typeface="Arial" panose="020B0604020202020204" pitchFamily="34" charset="0"/>
              <a:buChar char="•"/>
            </a:pPr>
            <a:r>
              <a:rPr lang="en-IN" dirty="0"/>
              <a:t>Change notifications </a:t>
            </a:r>
          </a:p>
          <a:p>
            <a:endParaRPr lang="en-IN" dirty="0"/>
          </a:p>
          <a:p>
            <a:r>
              <a:rPr lang="en-IN" sz="2400" b="1" dirty="0"/>
              <a:t>5. Monitor and Manage Expectations</a:t>
            </a:r>
          </a:p>
          <a:p>
            <a:endParaRPr lang="en-IN" sz="2400" b="1" dirty="0"/>
          </a:p>
          <a:p>
            <a:pPr marL="285750" indent="-285750">
              <a:buFont typeface="Arial" panose="020B0604020202020204" pitchFamily="34" charset="0"/>
              <a:buChar char="•"/>
            </a:pPr>
            <a:r>
              <a:rPr lang="en-IN" dirty="0"/>
              <a:t>Address concerns promptly. </a:t>
            </a:r>
          </a:p>
          <a:p>
            <a:pPr marL="285750" indent="-285750">
              <a:buFont typeface="Arial" panose="020B0604020202020204" pitchFamily="34" charset="0"/>
              <a:buChar char="•"/>
            </a:pPr>
            <a:r>
              <a:rPr lang="en-IN" dirty="0"/>
              <a:t>Resolve conflicts. </a:t>
            </a:r>
          </a:p>
          <a:p>
            <a:pPr marL="285750" indent="-285750">
              <a:buFont typeface="Arial" panose="020B0604020202020204" pitchFamily="34" charset="0"/>
              <a:buChar char="•"/>
            </a:pPr>
            <a:r>
              <a:rPr lang="en-IN" dirty="0"/>
              <a:t>Gather continuous feedback. </a:t>
            </a:r>
          </a:p>
          <a:p>
            <a:pPr marL="285750" indent="-285750">
              <a:buFont typeface="Arial" panose="020B0604020202020204" pitchFamily="34" charset="0"/>
              <a:buChar char="•"/>
            </a:pPr>
            <a:r>
              <a:rPr lang="en-IN" dirty="0"/>
              <a:t>Update communication plans as needed.</a:t>
            </a:r>
          </a:p>
          <a:p>
            <a:endParaRPr lang="en-IN" dirty="0"/>
          </a:p>
        </p:txBody>
      </p:sp>
    </p:spTree>
    <p:extLst>
      <p:ext uri="{BB962C8B-B14F-4D97-AF65-F5344CB8AC3E}">
        <p14:creationId xmlns:p14="http://schemas.microsoft.com/office/powerpoint/2010/main" val="23985616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D14F2-5C76-3694-C3DB-C1E896FDBA41}"/>
              </a:ext>
            </a:extLst>
          </p:cNvPr>
          <p:cNvSpPr>
            <a:spLocks noGrp="1"/>
          </p:cNvSpPr>
          <p:nvPr>
            <p:ph type="title"/>
          </p:nvPr>
        </p:nvSpPr>
        <p:spPr>
          <a:xfrm>
            <a:off x="2895600" y="762000"/>
            <a:ext cx="8088086" cy="141514"/>
          </a:xfrm>
        </p:spPr>
        <p:txBody>
          <a:bodyPr>
            <a:normAutofit fontScale="90000"/>
          </a:bodyPr>
          <a:lstStyle/>
          <a:p>
            <a:r>
              <a:rPr lang="en-IN" dirty="0">
                <a:solidFill>
                  <a:schemeClr val="bg1"/>
                </a:solidFill>
              </a:rPr>
              <a:t>.</a:t>
            </a:r>
          </a:p>
        </p:txBody>
      </p:sp>
      <p:sp>
        <p:nvSpPr>
          <p:cNvPr id="3" name="Text Placeholder 2">
            <a:extLst>
              <a:ext uri="{FF2B5EF4-FFF2-40B4-BE49-F238E27FC236}">
                <a16:creationId xmlns:a16="http://schemas.microsoft.com/office/drawing/2014/main" id="{09228C98-C850-048A-6C06-7A5A921A343B}"/>
              </a:ext>
            </a:extLst>
          </p:cNvPr>
          <p:cNvSpPr>
            <a:spLocks noGrp="1"/>
          </p:cNvSpPr>
          <p:nvPr>
            <p:ph type="body" idx="1"/>
          </p:nvPr>
        </p:nvSpPr>
        <p:spPr>
          <a:xfrm>
            <a:off x="914409" y="1807029"/>
            <a:ext cx="5079991" cy="1059171"/>
          </a:xfrm>
        </p:spPr>
        <p:txBody>
          <a:bodyPr>
            <a:normAutofit lnSpcReduction="10000"/>
          </a:bodyPr>
          <a:lstStyle/>
          <a:p>
            <a:r>
              <a:rPr lang="en-IN" b="1" u="sng" dirty="0"/>
              <a:t>Stakeholder Communication Techniques</a:t>
            </a:r>
          </a:p>
          <a:p>
            <a:endParaRPr lang="en-IN" dirty="0"/>
          </a:p>
        </p:txBody>
      </p:sp>
      <p:sp>
        <p:nvSpPr>
          <p:cNvPr id="4" name="Content Placeholder 3">
            <a:extLst>
              <a:ext uri="{FF2B5EF4-FFF2-40B4-BE49-F238E27FC236}">
                <a16:creationId xmlns:a16="http://schemas.microsoft.com/office/drawing/2014/main" id="{EE91C346-009D-2033-5EF8-983B239236B4}"/>
              </a:ext>
            </a:extLst>
          </p:cNvPr>
          <p:cNvSpPr>
            <a:spLocks noGrp="1"/>
          </p:cNvSpPr>
          <p:nvPr>
            <p:ph sz="half" idx="2"/>
          </p:nvPr>
        </p:nvSpPr>
        <p:spPr>
          <a:xfrm>
            <a:off x="685800" y="2866200"/>
            <a:ext cx="5311775" cy="3352485"/>
          </a:xfrm>
        </p:spPr>
        <p:txBody>
          <a:bodyPr>
            <a:normAutofit fontScale="85000" lnSpcReduction="20000"/>
          </a:bodyPr>
          <a:lstStyle/>
          <a:p>
            <a:r>
              <a:rPr lang="en-IN" dirty="0"/>
              <a:t>Face-to-face meetings </a:t>
            </a:r>
          </a:p>
          <a:p>
            <a:r>
              <a:rPr lang="en-IN" dirty="0"/>
              <a:t>Emails </a:t>
            </a:r>
          </a:p>
          <a:p>
            <a:r>
              <a:rPr lang="en-IN" dirty="0"/>
              <a:t>Video conferences </a:t>
            </a:r>
          </a:p>
          <a:p>
            <a:r>
              <a:rPr lang="en-IN" dirty="0"/>
              <a:t>Workshops </a:t>
            </a:r>
          </a:p>
          <a:p>
            <a:r>
              <a:rPr lang="en-IN" dirty="0"/>
              <a:t>Surveys </a:t>
            </a:r>
          </a:p>
          <a:p>
            <a:r>
              <a:rPr lang="en-IN" dirty="0"/>
              <a:t>Presentations </a:t>
            </a:r>
          </a:p>
          <a:p>
            <a:r>
              <a:rPr lang="en-IN" dirty="0"/>
              <a:t>Dashboards </a:t>
            </a:r>
          </a:p>
          <a:p>
            <a:r>
              <a:rPr lang="en-IN" dirty="0"/>
              <a:t>Status reports </a:t>
            </a:r>
          </a:p>
          <a:p>
            <a:pPr marL="0" indent="0">
              <a:buNone/>
            </a:pPr>
            <a:br>
              <a:rPr lang="en-IN" dirty="0"/>
            </a:br>
            <a:endParaRPr lang="en-IN" dirty="0"/>
          </a:p>
          <a:p>
            <a:endParaRPr lang="en-IN" dirty="0"/>
          </a:p>
        </p:txBody>
      </p:sp>
      <p:sp>
        <p:nvSpPr>
          <p:cNvPr id="5" name="Text Placeholder 4">
            <a:extLst>
              <a:ext uri="{FF2B5EF4-FFF2-40B4-BE49-F238E27FC236}">
                <a16:creationId xmlns:a16="http://schemas.microsoft.com/office/drawing/2014/main" id="{D04028EB-8563-4CD1-2BEF-8BEF13BD4B4D}"/>
              </a:ext>
            </a:extLst>
          </p:cNvPr>
          <p:cNvSpPr>
            <a:spLocks noGrp="1"/>
          </p:cNvSpPr>
          <p:nvPr>
            <p:ph type="body" sz="quarter" idx="3"/>
          </p:nvPr>
        </p:nvSpPr>
        <p:spPr/>
        <p:txBody>
          <a:bodyPr>
            <a:normAutofit lnSpcReduction="10000"/>
          </a:bodyPr>
          <a:lstStyle/>
          <a:p>
            <a:r>
              <a:rPr lang="en-IN" b="1" u="sng" dirty="0"/>
              <a:t>Benefits of Effective Stakeholder Management</a:t>
            </a:r>
          </a:p>
          <a:p>
            <a:endParaRPr lang="en-IN" dirty="0"/>
          </a:p>
        </p:txBody>
      </p:sp>
      <p:sp>
        <p:nvSpPr>
          <p:cNvPr id="6" name="Content Placeholder 5">
            <a:extLst>
              <a:ext uri="{FF2B5EF4-FFF2-40B4-BE49-F238E27FC236}">
                <a16:creationId xmlns:a16="http://schemas.microsoft.com/office/drawing/2014/main" id="{D0A3F2B2-7BF3-BE79-9506-9E1AEA3D3A2D}"/>
              </a:ext>
            </a:extLst>
          </p:cNvPr>
          <p:cNvSpPr>
            <a:spLocks noGrp="1"/>
          </p:cNvSpPr>
          <p:nvPr>
            <p:ph sz="quarter" idx="4"/>
          </p:nvPr>
        </p:nvSpPr>
        <p:spPr>
          <a:xfrm>
            <a:off x="6172200" y="2866200"/>
            <a:ext cx="5334000" cy="3352485"/>
          </a:xfrm>
        </p:spPr>
        <p:txBody>
          <a:bodyPr>
            <a:normAutofit fontScale="85000" lnSpcReduction="20000"/>
          </a:bodyPr>
          <a:lstStyle/>
          <a:p>
            <a:r>
              <a:rPr lang="en-IN" dirty="0"/>
              <a:t>Better communication </a:t>
            </a:r>
          </a:p>
          <a:p>
            <a:r>
              <a:rPr lang="en-IN" dirty="0"/>
              <a:t>Higher stakeholder satisfaction </a:t>
            </a:r>
          </a:p>
          <a:p>
            <a:r>
              <a:rPr lang="en-IN" dirty="0"/>
              <a:t>Reduced project risks </a:t>
            </a:r>
          </a:p>
          <a:p>
            <a:r>
              <a:rPr lang="en-IN" dirty="0"/>
              <a:t>Faster decision-making </a:t>
            </a:r>
          </a:p>
          <a:p>
            <a:r>
              <a:rPr lang="en-IN" dirty="0"/>
              <a:t>Improved collaboration </a:t>
            </a:r>
          </a:p>
          <a:p>
            <a:r>
              <a:rPr lang="en-IN" dirty="0"/>
              <a:t>Successful project delivery </a:t>
            </a:r>
          </a:p>
          <a:p>
            <a:r>
              <a:rPr lang="en-IN" dirty="0"/>
              <a:t>Increased trust and transparency</a:t>
            </a:r>
          </a:p>
          <a:p>
            <a:endParaRPr lang="en-IN" dirty="0"/>
          </a:p>
        </p:txBody>
      </p:sp>
    </p:spTree>
    <p:extLst>
      <p:ext uri="{BB962C8B-B14F-4D97-AF65-F5344CB8AC3E}">
        <p14:creationId xmlns:p14="http://schemas.microsoft.com/office/powerpoint/2010/main" val="1224316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CD57-8914-7128-3795-5659026BE675}"/>
              </a:ext>
            </a:extLst>
          </p:cNvPr>
          <p:cNvSpPr>
            <a:spLocks noGrp="1"/>
          </p:cNvSpPr>
          <p:nvPr>
            <p:ph type="ctrTitle"/>
          </p:nvPr>
        </p:nvSpPr>
        <p:spPr>
          <a:xfrm>
            <a:off x="3635828" y="424543"/>
            <a:ext cx="7652657" cy="718457"/>
          </a:xfrm>
        </p:spPr>
        <p:txBody>
          <a:bodyPr>
            <a:normAutofit/>
          </a:bodyPr>
          <a:lstStyle/>
          <a:p>
            <a:r>
              <a:rPr lang="en-IN" sz="3200" b="1" u="sng" dirty="0"/>
              <a:t>Data vs. Information</a:t>
            </a:r>
            <a:endParaRPr lang="en-IN" sz="3200" u="sng" dirty="0"/>
          </a:p>
        </p:txBody>
      </p:sp>
      <p:sp>
        <p:nvSpPr>
          <p:cNvPr id="3" name="Subtitle 2">
            <a:extLst>
              <a:ext uri="{FF2B5EF4-FFF2-40B4-BE49-F238E27FC236}">
                <a16:creationId xmlns:a16="http://schemas.microsoft.com/office/drawing/2014/main" id="{2ABD1F79-4683-B677-114C-E23502639ACF}"/>
              </a:ext>
            </a:extLst>
          </p:cNvPr>
          <p:cNvSpPr>
            <a:spLocks noGrp="1"/>
          </p:cNvSpPr>
          <p:nvPr>
            <p:ph type="subTitle" idx="1"/>
          </p:nvPr>
        </p:nvSpPr>
        <p:spPr>
          <a:xfrm>
            <a:off x="1371600" y="1346206"/>
            <a:ext cx="9078686" cy="3770080"/>
          </a:xfrm>
        </p:spPr>
        <p:txBody>
          <a:bodyPr>
            <a:normAutofit fontScale="85000" lnSpcReduction="20000"/>
          </a:bodyPr>
          <a:lstStyle/>
          <a:p>
            <a:r>
              <a:rPr lang="en-IN" b="1" u="sng" dirty="0"/>
              <a:t>Introduction to Data and Information</a:t>
            </a:r>
          </a:p>
          <a:p>
            <a:endParaRPr lang="en-IN" b="1" dirty="0"/>
          </a:p>
          <a:p>
            <a:r>
              <a:rPr lang="en-IN" b="1" dirty="0"/>
              <a:t>Introduction</a:t>
            </a:r>
          </a:p>
          <a:p>
            <a:r>
              <a:rPr lang="en-IN" dirty="0"/>
              <a:t>In today's digital era, data is considered one of the most valuable resources for organizations. Every day, businesses, governments, educational institutions, and individuals generate enormous amounts of data through transactions, online activities, mobile devices, sensors, and social media. However, raw data alone has little value unless it is processed into meaningful information.</a:t>
            </a:r>
          </a:p>
          <a:p>
            <a:r>
              <a:rPr lang="en-IN" b="1" dirty="0"/>
              <a:t>Data</a:t>
            </a:r>
            <a:r>
              <a:rPr lang="en-IN" dirty="0"/>
              <a:t> and </a:t>
            </a:r>
            <a:r>
              <a:rPr lang="en-IN" b="1" dirty="0"/>
              <a:t>information</a:t>
            </a:r>
            <a:r>
              <a:rPr lang="en-IN" dirty="0"/>
              <a:t> are closely related but have distinct meanings. Data consists of raw facts and figures, whereas information is data that has been processed and organized to provide meaning. Information helps managers, businesses, and governments make informed decisions, improve efficiency, and solve problems.</a:t>
            </a:r>
          </a:p>
          <a:p>
            <a:r>
              <a:rPr lang="en-IN" dirty="0"/>
              <a:t>The process of converting raw data into useful information and eventually into knowledge is fundamental to information systems, business intelligence, and data analytics.</a:t>
            </a:r>
          </a:p>
          <a:p>
            <a:endParaRPr lang="en-IN" dirty="0"/>
          </a:p>
        </p:txBody>
      </p:sp>
    </p:spTree>
    <p:extLst>
      <p:ext uri="{BB962C8B-B14F-4D97-AF65-F5344CB8AC3E}">
        <p14:creationId xmlns:p14="http://schemas.microsoft.com/office/powerpoint/2010/main" val="25134639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4980-DDC4-A26D-70C3-D0334B5DD16D}"/>
              </a:ext>
            </a:extLst>
          </p:cNvPr>
          <p:cNvSpPr>
            <a:spLocks noGrp="1"/>
          </p:cNvSpPr>
          <p:nvPr>
            <p:ph type="title"/>
          </p:nvPr>
        </p:nvSpPr>
        <p:spPr/>
        <p:txBody>
          <a:bodyPr>
            <a:normAutofit fontScale="90000"/>
          </a:bodyPr>
          <a:lstStyle/>
          <a:p>
            <a:r>
              <a:rPr lang="en-IN" sz="3100" b="1" u="sng" dirty="0"/>
              <a:t>A. Distinguishing Raw Data from Processed Information</a:t>
            </a:r>
            <a:br>
              <a:rPr lang="en-IN" b="1" u="sng" dirty="0"/>
            </a:br>
            <a:endParaRPr lang="en-IN" u="sng" dirty="0"/>
          </a:p>
        </p:txBody>
      </p:sp>
      <p:sp>
        <p:nvSpPr>
          <p:cNvPr id="3" name="Subtitle 2">
            <a:extLst>
              <a:ext uri="{FF2B5EF4-FFF2-40B4-BE49-F238E27FC236}">
                <a16:creationId xmlns:a16="http://schemas.microsoft.com/office/drawing/2014/main" id="{D44E9FEC-9055-894F-E2CD-2470CC886676}"/>
              </a:ext>
            </a:extLst>
          </p:cNvPr>
          <p:cNvSpPr>
            <a:spLocks noGrp="1"/>
          </p:cNvSpPr>
          <p:nvPr>
            <p:ph type="body" idx="1"/>
          </p:nvPr>
        </p:nvSpPr>
        <p:spPr/>
        <p:txBody>
          <a:bodyPr>
            <a:normAutofit/>
          </a:bodyPr>
          <a:lstStyle/>
          <a:p>
            <a:r>
              <a:rPr lang="en-IN" b="1" dirty="0"/>
              <a:t>What is Data?</a:t>
            </a:r>
          </a:p>
          <a:p>
            <a:endParaRPr lang="en-IN" dirty="0"/>
          </a:p>
        </p:txBody>
      </p:sp>
      <p:sp>
        <p:nvSpPr>
          <p:cNvPr id="6" name="Text Placeholder 5">
            <a:extLst>
              <a:ext uri="{FF2B5EF4-FFF2-40B4-BE49-F238E27FC236}">
                <a16:creationId xmlns:a16="http://schemas.microsoft.com/office/drawing/2014/main" id="{29DB51A6-48F5-D8D0-5D1F-F295C04C0CFF}"/>
              </a:ext>
            </a:extLst>
          </p:cNvPr>
          <p:cNvSpPr>
            <a:spLocks noGrp="1"/>
          </p:cNvSpPr>
          <p:nvPr>
            <p:ph type="body" sz="half" idx="15"/>
          </p:nvPr>
        </p:nvSpPr>
        <p:spPr>
          <a:xfrm>
            <a:off x="685799" y="2904565"/>
            <a:ext cx="3225890" cy="3314132"/>
          </a:xfrm>
        </p:spPr>
        <p:txBody>
          <a:bodyPr>
            <a:normAutofit/>
          </a:bodyPr>
          <a:lstStyle/>
          <a:p>
            <a:r>
              <a:rPr lang="en-IN" sz="1800" b="1" dirty="0"/>
              <a:t>Data</a:t>
            </a:r>
            <a:r>
              <a:rPr lang="en-IN" sz="1800" dirty="0"/>
              <a:t> refers to raw, unorganized facts, figures, symbols, observations, or measurements collected from various sources. Data does not provide any meaningful insight on its own because it lacks context.</a:t>
            </a:r>
          </a:p>
          <a:p>
            <a:endParaRPr lang="en-IN" dirty="0"/>
          </a:p>
        </p:txBody>
      </p:sp>
      <p:sp>
        <p:nvSpPr>
          <p:cNvPr id="4" name="Text Placeholder 3">
            <a:extLst>
              <a:ext uri="{FF2B5EF4-FFF2-40B4-BE49-F238E27FC236}">
                <a16:creationId xmlns:a16="http://schemas.microsoft.com/office/drawing/2014/main" id="{6A483929-CF47-1278-05F0-B0650E408B4C}"/>
              </a:ext>
            </a:extLst>
          </p:cNvPr>
          <p:cNvSpPr>
            <a:spLocks noGrp="1"/>
          </p:cNvSpPr>
          <p:nvPr>
            <p:ph type="body" sz="quarter" idx="3"/>
          </p:nvPr>
        </p:nvSpPr>
        <p:spPr>
          <a:xfrm>
            <a:off x="4368800" y="2201333"/>
            <a:ext cx="3456432" cy="944638"/>
          </a:xfrm>
        </p:spPr>
        <p:txBody>
          <a:bodyPr/>
          <a:lstStyle/>
          <a:p>
            <a:r>
              <a:rPr lang="en-IN" b="1" dirty="0"/>
              <a:t>Characteristics of Data</a:t>
            </a:r>
          </a:p>
          <a:p>
            <a:endParaRPr lang="en-IN" dirty="0"/>
          </a:p>
        </p:txBody>
      </p:sp>
      <p:sp>
        <p:nvSpPr>
          <p:cNvPr id="7" name="Text Placeholder 6">
            <a:extLst>
              <a:ext uri="{FF2B5EF4-FFF2-40B4-BE49-F238E27FC236}">
                <a16:creationId xmlns:a16="http://schemas.microsoft.com/office/drawing/2014/main" id="{C96B1D8E-B5FE-5F0B-42AB-1D88A356D85E}"/>
              </a:ext>
            </a:extLst>
          </p:cNvPr>
          <p:cNvSpPr>
            <a:spLocks noGrp="1"/>
          </p:cNvSpPr>
          <p:nvPr>
            <p:ph type="body" sz="half" idx="16"/>
          </p:nvPr>
        </p:nvSpPr>
        <p:spPr>
          <a:xfrm>
            <a:off x="4140200" y="2904067"/>
            <a:ext cx="3683090" cy="3314618"/>
          </a:xfrm>
        </p:spPr>
        <p:txBody>
          <a:bodyPr>
            <a:normAutofit/>
          </a:bodyPr>
          <a:lstStyle/>
          <a:p>
            <a:pPr marL="285750" indent="-285750">
              <a:buFont typeface="Arial" panose="020B0604020202020204" pitchFamily="34" charset="0"/>
              <a:buChar char="•"/>
            </a:pPr>
            <a:r>
              <a:rPr lang="en-IN" dirty="0"/>
              <a:t>Raw and unprocessed </a:t>
            </a:r>
          </a:p>
          <a:p>
            <a:pPr marL="285750" indent="-285750">
              <a:buFont typeface="Arial" panose="020B0604020202020204" pitchFamily="34" charset="0"/>
              <a:buChar char="•"/>
            </a:pPr>
            <a:r>
              <a:rPr lang="en-IN" dirty="0"/>
              <a:t>Unorganized </a:t>
            </a:r>
          </a:p>
          <a:p>
            <a:pPr marL="285750" indent="-285750">
              <a:buFont typeface="Arial" panose="020B0604020202020204" pitchFamily="34" charset="0"/>
              <a:buChar char="•"/>
            </a:pPr>
            <a:r>
              <a:rPr lang="en-IN" dirty="0"/>
              <a:t>May be numerical, textual, images, audio, or video </a:t>
            </a:r>
          </a:p>
          <a:p>
            <a:pPr marL="285750" indent="-285750">
              <a:buFont typeface="Arial" panose="020B0604020202020204" pitchFamily="34" charset="0"/>
              <a:buChar char="•"/>
            </a:pPr>
            <a:r>
              <a:rPr lang="en-IN" dirty="0"/>
              <a:t>Lacks context </a:t>
            </a:r>
          </a:p>
          <a:p>
            <a:pPr marL="285750" indent="-285750">
              <a:buFont typeface="Arial" panose="020B0604020202020204" pitchFamily="34" charset="0"/>
              <a:buChar char="•"/>
            </a:pPr>
            <a:r>
              <a:rPr lang="en-IN" dirty="0"/>
              <a:t>Serves as the input for information processing </a:t>
            </a:r>
          </a:p>
          <a:p>
            <a:pPr marL="285750" indent="-285750">
              <a:buFont typeface="Arial" panose="020B0604020202020204" pitchFamily="34" charset="0"/>
              <a:buChar char="•"/>
            </a:pPr>
            <a:r>
              <a:rPr lang="en-IN" dirty="0"/>
              <a:t>Collected from different sources </a:t>
            </a:r>
          </a:p>
          <a:p>
            <a:endParaRPr lang="en-IN" dirty="0"/>
          </a:p>
        </p:txBody>
      </p:sp>
      <p:sp>
        <p:nvSpPr>
          <p:cNvPr id="5" name="Text Placeholder 4">
            <a:extLst>
              <a:ext uri="{FF2B5EF4-FFF2-40B4-BE49-F238E27FC236}">
                <a16:creationId xmlns:a16="http://schemas.microsoft.com/office/drawing/2014/main" id="{C74AC7FE-E12D-0E15-FE1C-F8EE59D0F453}"/>
              </a:ext>
            </a:extLst>
          </p:cNvPr>
          <p:cNvSpPr>
            <a:spLocks noGrp="1"/>
          </p:cNvSpPr>
          <p:nvPr>
            <p:ph type="body" sz="quarter" idx="13"/>
          </p:nvPr>
        </p:nvSpPr>
        <p:spPr/>
        <p:txBody>
          <a:bodyPr/>
          <a:lstStyle/>
          <a:p>
            <a:r>
              <a:rPr lang="en-IN" b="1" dirty="0"/>
              <a:t>Examples of Data</a:t>
            </a:r>
          </a:p>
          <a:p>
            <a:endParaRPr lang="en-IN" dirty="0"/>
          </a:p>
        </p:txBody>
      </p:sp>
      <p:sp>
        <p:nvSpPr>
          <p:cNvPr id="8" name="Text Placeholder 7">
            <a:extLst>
              <a:ext uri="{FF2B5EF4-FFF2-40B4-BE49-F238E27FC236}">
                <a16:creationId xmlns:a16="http://schemas.microsoft.com/office/drawing/2014/main" id="{FD5708E4-FFF9-E40C-5E4C-A0E7B956FF1E}"/>
              </a:ext>
            </a:extLst>
          </p:cNvPr>
          <p:cNvSpPr>
            <a:spLocks noGrp="1"/>
          </p:cNvSpPr>
          <p:nvPr>
            <p:ph type="body" sz="half" idx="17"/>
          </p:nvPr>
        </p:nvSpPr>
        <p:spPr/>
        <p:txBody>
          <a:bodyPr/>
          <a:lstStyle/>
          <a:p>
            <a:pPr marL="285750" indent="-285750">
              <a:buFont typeface="Arial" panose="020B0604020202020204" pitchFamily="34" charset="0"/>
              <a:buChar char="•"/>
            </a:pPr>
            <a:r>
              <a:rPr lang="en-IN" dirty="0"/>
              <a:t>Student marks: 65, 72, 88, 95 </a:t>
            </a:r>
          </a:p>
          <a:p>
            <a:pPr marL="285750" indent="-285750">
              <a:buFont typeface="Arial" panose="020B0604020202020204" pitchFamily="34" charset="0"/>
              <a:buChar char="•"/>
            </a:pPr>
            <a:r>
              <a:rPr lang="en-IN" dirty="0"/>
              <a:t>Temperature readings: 30°C, 32°C, 31°C </a:t>
            </a:r>
          </a:p>
          <a:p>
            <a:pPr marL="285750" indent="-285750">
              <a:buFont typeface="Arial" panose="020B0604020202020204" pitchFamily="34" charset="0"/>
              <a:buChar char="•"/>
            </a:pPr>
            <a:r>
              <a:rPr lang="en-IN" dirty="0"/>
              <a:t>Customer IDs </a:t>
            </a:r>
          </a:p>
          <a:p>
            <a:pPr marL="285750" indent="-285750">
              <a:buFont typeface="Arial" panose="020B0604020202020204" pitchFamily="34" charset="0"/>
              <a:buChar char="•"/>
            </a:pPr>
            <a:r>
              <a:rPr lang="en-IN" dirty="0"/>
              <a:t>Employee attendance records </a:t>
            </a:r>
          </a:p>
          <a:p>
            <a:pPr marL="285750" indent="-285750">
              <a:buFont typeface="Arial" panose="020B0604020202020204" pitchFamily="34" charset="0"/>
              <a:buChar char="•"/>
            </a:pPr>
            <a:r>
              <a:rPr lang="en-IN" dirty="0"/>
              <a:t>Daily sales transactions </a:t>
            </a:r>
          </a:p>
          <a:p>
            <a:pPr marL="285750" indent="-285750">
              <a:buFont typeface="Arial" panose="020B0604020202020204" pitchFamily="34" charset="0"/>
              <a:buChar char="•"/>
            </a:pPr>
            <a:r>
              <a:rPr lang="en-IN" dirty="0"/>
              <a:t>GPS coordinates</a:t>
            </a:r>
          </a:p>
          <a:p>
            <a:endParaRPr lang="en-IN" dirty="0"/>
          </a:p>
        </p:txBody>
      </p:sp>
    </p:spTree>
    <p:extLst>
      <p:ext uri="{BB962C8B-B14F-4D97-AF65-F5344CB8AC3E}">
        <p14:creationId xmlns:p14="http://schemas.microsoft.com/office/powerpoint/2010/main" val="21304684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D2B78-BE8B-E674-C45E-32D179D972BB}"/>
              </a:ext>
            </a:extLst>
          </p:cNvPr>
          <p:cNvSpPr>
            <a:spLocks noGrp="1"/>
          </p:cNvSpPr>
          <p:nvPr>
            <p:ph type="title"/>
          </p:nvPr>
        </p:nvSpPr>
        <p:spPr>
          <a:xfrm>
            <a:off x="2895600" y="762000"/>
            <a:ext cx="8610599" cy="816430"/>
          </a:xfrm>
        </p:spPr>
        <p:txBody>
          <a:bodyPr>
            <a:normAutofit fontScale="90000"/>
          </a:bodyPr>
          <a:lstStyle/>
          <a:p>
            <a:r>
              <a:rPr lang="en-IN" b="1" dirty="0"/>
              <a:t>What is Information?</a:t>
            </a:r>
            <a:br>
              <a:rPr lang="en-IN" b="1" dirty="0"/>
            </a:br>
            <a:br>
              <a:rPr lang="en-IN" b="1" dirty="0"/>
            </a:br>
            <a:r>
              <a:rPr lang="en-IN" sz="2000" b="1" dirty="0"/>
              <a:t>Information</a:t>
            </a:r>
            <a:r>
              <a:rPr lang="en-IN" sz="2000" dirty="0"/>
              <a:t> is processed, organized, structured, and interpreted data that provides meaning and supports decision-making.</a:t>
            </a:r>
            <a:br>
              <a:rPr lang="en-IN" sz="2000" dirty="0"/>
            </a:br>
            <a:endParaRPr lang="en-IN" sz="2000" dirty="0"/>
          </a:p>
        </p:txBody>
      </p:sp>
      <p:sp>
        <p:nvSpPr>
          <p:cNvPr id="3" name="Text Placeholder 2">
            <a:extLst>
              <a:ext uri="{FF2B5EF4-FFF2-40B4-BE49-F238E27FC236}">
                <a16:creationId xmlns:a16="http://schemas.microsoft.com/office/drawing/2014/main" id="{CDAAD9B5-5C2B-0041-7468-2CA5082C7DCB}"/>
              </a:ext>
            </a:extLst>
          </p:cNvPr>
          <p:cNvSpPr>
            <a:spLocks noGrp="1"/>
          </p:cNvSpPr>
          <p:nvPr>
            <p:ph type="body" idx="1"/>
          </p:nvPr>
        </p:nvSpPr>
        <p:spPr>
          <a:xfrm>
            <a:off x="685800" y="1970314"/>
            <a:ext cx="3456432" cy="1197429"/>
          </a:xfrm>
        </p:spPr>
        <p:txBody>
          <a:bodyPr/>
          <a:lstStyle/>
          <a:p>
            <a:r>
              <a:rPr lang="en-IN" sz="1800" b="1" dirty="0"/>
              <a:t>Information answers questions such as:</a:t>
            </a:r>
          </a:p>
          <a:p>
            <a:endParaRPr lang="en-IN" dirty="0"/>
          </a:p>
        </p:txBody>
      </p:sp>
      <p:sp>
        <p:nvSpPr>
          <p:cNvPr id="4" name="Text Placeholder 3">
            <a:extLst>
              <a:ext uri="{FF2B5EF4-FFF2-40B4-BE49-F238E27FC236}">
                <a16:creationId xmlns:a16="http://schemas.microsoft.com/office/drawing/2014/main" id="{FF254549-984F-DBFD-684E-2F7FC45F17BD}"/>
              </a:ext>
            </a:extLst>
          </p:cNvPr>
          <p:cNvSpPr>
            <a:spLocks noGrp="1"/>
          </p:cNvSpPr>
          <p:nvPr>
            <p:ph type="body" sz="half" idx="15"/>
          </p:nvPr>
        </p:nvSpPr>
        <p:spPr/>
        <p: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What happened? </a:t>
            </a:r>
          </a:p>
          <a:p>
            <a:pPr marL="285750" indent="-285750">
              <a:buFont typeface="Arial" panose="020B0604020202020204" pitchFamily="34" charset="0"/>
              <a:buChar char="•"/>
            </a:pPr>
            <a:r>
              <a:rPr lang="en-IN" dirty="0"/>
              <a:t>Why did it happen? </a:t>
            </a:r>
          </a:p>
          <a:p>
            <a:pPr marL="285750" indent="-285750">
              <a:buFont typeface="Arial" panose="020B0604020202020204" pitchFamily="34" charset="0"/>
              <a:buChar char="•"/>
            </a:pPr>
            <a:r>
              <a:rPr lang="en-IN" dirty="0"/>
              <a:t>What does the data indicate? </a:t>
            </a:r>
          </a:p>
          <a:p>
            <a:pPr marL="285750" indent="-285750">
              <a:buFont typeface="Arial" panose="020B0604020202020204" pitchFamily="34" charset="0"/>
              <a:buChar char="•"/>
            </a:pPr>
            <a:r>
              <a:rPr lang="en-IN" dirty="0"/>
              <a:t>What action should be taken?</a:t>
            </a:r>
          </a:p>
          <a:p>
            <a:endParaRPr lang="en-IN" i="1" dirty="0"/>
          </a:p>
        </p:txBody>
      </p:sp>
      <p:sp>
        <p:nvSpPr>
          <p:cNvPr id="5" name="Text Placeholder 4">
            <a:extLst>
              <a:ext uri="{FF2B5EF4-FFF2-40B4-BE49-F238E27FC236}">
                <a16:creationId xmlns:a16="http://schemas.microsoft.com/office/drawing/2014/main" id="{22F4E563-742E-8DA9-089B-EB3902AF6CA4}"/>
              </a:ext>
            </a:extLst>
          </p:cNvPr>
          <p:cNvSpPr>
            <a:spLocks noGrp="1"/>
          </p:cNvSpPr>
          <p:nvPr>
            <p:ph type="body" sz="quarter" idx="3"/>
          </p:nvPr>
        </p:nvSpPr>
        <p:spPr>
          <a:xfrm>
            <a:off x="4368800" y="2065866"/>
            <a:ext cx="3456432" cy="949477"/>
          </a:xfrm>
        </p:spPr>
        <p:txBody>
          <a:bodyPr/>
          <a:lstStyle/>
          <a:p>
            <a:r>
              <a:rPr lang="en-IN" sz="1800" b="1" dirty="0"/>
              <a:t>What is Information?</a:t>
            </a:r>
          </a:p>
          <a:p>
            <a:endParaRPr lang="en-IN" dirty="0"/>
          </a:p>
        </p:txBody>
      </p:sp>
      <p:sp>
        <p:nvSpPr>
          <p:cNvPr id="6" name="Text Placeholder 5">
            <a:extLst>
              <a:ext uri="{FF2B5EF4-FFF2-40B4-BE49-F238E27FC236}">
                <a16:creationId xmlns:a16="http://schemas.microsoft.com/office/drawing/2014/main" id="{D0D5D40D-C639-D252-78F6-85DD26ACA45F}"/>
              </a:ext>
            </a:extLst>
          </p:cNvPr>
          <p:cNvSpPr>
            <a:spLocks noGrp="1"/>
          </p:cNvSpPr>
          <p:nvPr>
            <p:ph type="body" sz="half" idx="16"/>
          </p:nvPr>
        </p:nvSpPr>
        <p:spPr/>
        <p:txBody>
          <a:bodyPr/>
          <a:lstStyle/>
          <a:p>
            <a:endParaRPr lang="en-IN" b="1" dirty="0"/>
          </a:p>
          <a:p>
            <a:r>
              <a:rPr lang="en-IN" b="1" dirty="0"/>
              <a:t>Information</a:t>
            </a:r>
            <a:r>
              <a:rPr lang="en-IN" dirty="0"/>
              <a:t> is processed, organized, structured, and interpreted data that provides meaning and supports decision-making.</a:t>
            </a:r>
          </a:p>
          <a:p>
            <a:endParaRPr lang="en-IN" dirty="0"/>
          </a:p>
        </p:txBody>
      </p:sp>
      <p:sp>
        <p:nvSpPr>
          <p:cNvPr id="7" name="Text Placeholder 6">
            <a:extLst>
              <a:ext uri="{FF2B5EF4-FFF2-40B4-BE49-F238E27FC236}">
                <a16:creationId xmlns:a16="http://schemas.microsoft.com/office/drawing/2014/main" id="{B75F1F78-5DCB-9663-5AE9-3DC1616C7ECB}"/>
              </a:ext>
            </a:extLst>
          </p:cNvPr>
          <p:cNvSpPr>
            <a:spLocks noGrp="1"/>
          </p:cNvSpPr>
          <p:nvPr>
            <p:ph type="body" sz="quarter" idx="13"/>
          </p:nvPr>
        </p:nvSpPr>
        <p:spPr>
          <a:xfrm>
            <a:off x="8051799" y="2192865"/>
            <a:ext cx="3791857" cy="1051077"/>
          </a:xfrm>
        </p:spPr>
        <p:txBody>
          <a:bodyPr/>
          <a:lstStyle/>
          <a:p>
            <a:r>
              <a:rPr lang="en-IN" sz="1800" b="1" dirty="0"/>
              <a:t>Information answers questions such as:</a:t>
            </a:r>
          </a:p>
          <a:p>
            <a:endParaRPr lang="en-IN" dirty="0"/>
          </a:p>
        </p:txBody>
      </p:sp>
      <p:sp>
        <p:nvSpPr>
          <p:cNvPr id="8" name="Text Placeholder 7">
            <a:extLst>
              <a:ext uri="{FF2B5EF4-FFF2-40B4-BE49-F238E27FC236}">
                <a16:creationId xmlns:a16="http://schemas.microsoft.com/office/drawing/2014/main" id="{23610A21-A445-7B51-8BB7-28DCF8FAF5BD}"/>
              </a:ext>
            </a:extLst>
          </p:cNvPr>
          <p:cNvSpPr>
            <a:spLocks noGrp="1"/>
          </p:cNvSpPr>
          <p:nvPr>
            <p:ph type="body" sz="half" idx="17"/>
          </p:nvPr>
        </p:nvSpPr>
        <p:spPr/>
        <p: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What happened? </a:t>
            </a:r>
          </a:p>
          <a:p>
            <a:pPr marL="285750" indent="-285750">
              <a:buFont typeface="Arial" panose="020B0604020202020204" pitchFamily="34" charset="0"/>
              <a:buChar char="•"/>
            </a:pPr>
            <a:r>
              <a:rPr lang="en-IN" dirty="0"/>
              <a:t>Why did it happen? </a:t>
            </a:r>
          </a:p>
          <a:p>
            <a:pPr marL="285750" indent="-285750">
              <a:buFont typeface="Arial" panose="020B0604020202020204" pitchFamily="34" charset="0"/>
              <a:buChar char="•"/>
            </a:pPr>
            <a:r>
              <a:rPr lang="en-IN" dirty="0"/>
              <a:t>What does the data indicate? </a:t>
            </a:r>
          </a:p>
          <a:p>
            <a:pPr marL="285750" indent="-285750">
              <a:buFont typeface="Arial" panose="020B0604020202020204" pitchFamily="34" charset="0"/>
              <a:buChar char="•"/>
            </a:pPr>
            <a:r>
              <a:rPr lang="en-IN" dirty="0"/>
              <a:t>What action should be taken?</a:t>
            </a:r>
          </a:p>
          <a:p>
            <a:endParaRPr lang="en-IN" dirty="0"/>
          </a:p>
        </p:txBody>
      </p:sp>
    </p:spTree>
    <p:extLst>
      <p:ext uri="{BB962C8B-B14F-4D97-AF65-F5344CB8AC3E}">
        <p14:creationId xmlns:p14="http://schemas.microsoft.com/office/powerpoint/2010/main" val="37661951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C5128-62E9-D79C-D953-410DB8754761}"/>
              </a:ext>
            </a:extLst>
          </p:cNvPr>
          <p:cNvSpPr>
            <a:spLocks noGrp="1"/>
          </p:cNvSpPr>
          <p:nvPr>
            <p:ph type="ctrTitle"/>
          </p:nvPr>
        </p:nvSpPr>
        <p:spPr>
          <a:xfrm>
            <a:off x="1371600" y="1803405"/>
            <a:ext cx="9448800" cy="471709"/>
          </a:xfrm>
        </p:spPr>
        <p:txBody>
          <a:bodyPr>
            <a:noAutofit/>
          </a:bodyPr>
          <a:lstStyle/>
          <a:p>
            <a:r>
              <a:rPr lang="en-IN" sz="3600" b="1" u="sng" dirty="0"/>
              <a:t>Data to Information to Knowledge</a:t>
            </a:r>
            <a:br>
              <a:rPr lang="en-IN" sz="3600" b="1" u="sng" dirty="0"/>
            </a:br>
            <a:endParaRPr lang="en-IN" sz="3600" u="sng" dirty="0"/>
          </a:p>
        </p:txBody>
      </p:sp>
      <p:sp>
        <p:nvSpPr>
          <p:cNvPr id="3" name="Subtitle 2">
            <a:extLst>
              <a:ext uri="{FF2B5EF4-FFF2-40B4-BE49-F238E27FC236}">
                <a16:creationId xmlns:a16="http://schemas.microsoft.com/office/drawing/2014/main" id="{6CE77139-6793-29E0-04EA-78029D48E429}"/>
              </a:ext>
            </a:extLst>
          </p:cNvPr>
          <p:cNvSpPr>
            <a:spLocks noGrp="1"/>
          </p:cNvSpPr>
          <p:nvPr>
            <p:ph type="subTitle" idx="1"/>
          </p:nvPr>
        </p:nvSpPr>
        <p:spPr>
          <a:xfrm>
            <a:off x="1371600" y="2133600"/>
            <a:ext cx="9448800" cy="2340429"/>
          </a:xfrm>
        </p:spPr>
        <p:txBody>
          <a:bodyPr/>
          <a:lstStyle/>
          <a:p>
            <a:r>
              <a:rPr lang="en-IN" b="1" dirty="0"/>
              <a:t>B. The Transformation Process: Data → Information → Knowledge</a:t>
            </a:r>
          </a:p>
          <a:p>
            <a:endParaRPr lang="en-IN" b="1" dirty="0"/>
          </a:p>
          <a:p>
            <a:r>
              <a:rPr lang="en-IN" dirty="0"/>
              <a:t>Organizations convert raw data into meaningful knowledge through a structured process known as the </a:t>
            </a:r>
            <a:r>
              <a:rPr lang="en-IN" b="1" dirty="0"/>
              <a:t>DIK (Data–Information–Knowledge) Model</a:t>
            </a:r>
            <a:r>
              <a:rPr lang="en-IN" dirty="0"/>
              <a:t>.</a:t>
            </a:r>
          </a:p>
          <a:p>
            <a:endParaRPr lang="en-IN" dirty="0"/>
          </a:p>
        </p:txBody>
      </p:sp>
    </p:spTree>
    <p:extLst>
      <p:ext uri="{BB962C8B-B14F-4D97-AF65-F5344CB8AC3E}">
        <p14:creationId xmlns:p14="http://schemas.microsoft.com/office/powerpoint/2010/main" val="25210840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B93D70-EEBC-34CF-936E-3CB550377D22}"/>
              </a:ext>
            </a:extLst>
          </p:cNvPr>
          <p:cNvSpPr>
            <a:spLocks noGrp="1"/>
          </p:cNvSpPr>
          <p:nvPr>
            <p:ph type="title"/>
          </p:nvPr>
        </p:nvSpPr>
        <p:spPr>
          <a:xfrm>
            <a:off x="2895600" y="761999"/>
            <a:ext cx="8610599" cy="239487"/>
          </a:xfrm>
        </p:spPr>
        <p:txBody>
          <a:bodyPr>
            <a:normAutofit fontScale="90000"/>
          </a:bodyPr>
          <a:lstStyle/>
          <a:p>
            <a:r>
              <a:rPr lang="en-IN" dirty="0">
                <a:solidFill>
                  <a:schemeClr val="bg1"/>
                </a:solidFill>
              </a:rPr>
              <a:t>.</a:t>
            </a:r>
          </a:p>
        </p:txBody>
      </p:sp>
      <p:sp>
        <p:nvSpPr>
          <p:cNvPr id="5" name="Text Placeholder 4">
            <a:extLst>
              <a:ext uri="{FF2B5EF4-FFF2-40B4-BE49-F238E27FC236}">
                <a16:creationId xmlns:a16="http://schemas.microsoft.com/office/drawing/2014/main" id="{08CEC95D-6A7D-0374-A14E-9ED7E233518C}"/>
              </a:ext>
            </a:extLst>
          </p:cNvPr>
          <p:cNvSpPr>
            <a:spLocks noGrp="1"/>
          </p:cNvSpPr>
          <p:nvPr>
            <p:ph type="body" idx="1"/>
          </p:nvPr>
        </p:nvSpPr>
        <p:spPr/>
        <p:txBody>
          <a:bodyPr/>
          <a:lstStyle/>
          <a:p>
            <a:r>
              <a:rPr lang="en-IN" b="1" u="sng" dirty="0"/>
              <a:t>Stage 1: Data</a:t>
            </a:r>
          </a:p>
          <a:p>
            <a:endParaRPr lang="en-IN" dirty="0"/>
          </a:p>
        </p:txBody>
      </p:sp>
      <p:sp>
        <p:nvSpPr>
          <p:cNvPr id="8" name="Text Placeholder 7">
            <a:extLst>
              <a:ext uri="{FF2B5EF4-FFF2-40B4-BE49-F238E27FC236}">
                <a16:creationId xmlns:a16="http://schemas.microsoft.com/office/drawing/2014/main" id="{EF00BA5F-8261-EB75-F534-A1A9CEF46694}"/>
              </a:ext>
            </a:extLst>
          </p:cNvPr>
          <p:cNvSpPr>
            <a:spLocks noGrp="1"/>
          </p:cNvSpPr>
          <p:nvPr>
            <p:ph type="body" sz="half" idx="15"/>
          </p:nvPr>
        </p:nvSpPr>
        <p:spPr>
          <a:xfrm>
            <a:off x="685799" y="2634342"/>
            <a:ext cx="3456432" cy="4376057"/>
          </a:xfrm>
        </p:spPr>
        <p:txBody>
          <a:bodyPr>
            <a:normAutofit/>
          </a:bodyPr>
          <a:lstStyle/>
          <a:p>
            <a:r>
              <a:rPr lang="en-IN" sz="1600" dirty="0"/>
              <a:t>Data is collected from various sources such as:</a:t>
            </a:r>
          </a:p>
          <a:p>
            <a:pPr marL="285750" indent="-285750">
              <a:buFont typeface="Arial" panose="020B0604020202020204" pitchFamily="34" charset="0"/>
              <a:buChar char="•"/>
            </a:pPr>
            <a:r>
              <a:rPr lang="en-IN" sz="1600" dirty="0"/>
              <a:t>Surveys </a:t>
            </a:r>
          </a:p>
          <a:p>
            <a:pPr marL="285750" indent="-285750">
              <a:buFont typeface="Arial" panose="020B0604020202020204" pitchFamily="34" charset="0"/>
              <a:buChar char="•"/>
            </a:pPr>
            <a:r>
              <a:rPr lang="en-IN" sz="1600" dirty="0"/>
              <a:t>Business transactions </a:t>
            </a:r>
          </a:p>
          <a:p>
            <a:pPr marL="285750" indent="-285750">
              <a:buFont typeface="Arial" panose="020B0604020202020204" pitchFamily="34" charset="0"/>
              <a:buChar char="•"/>
            </a:pPr>
            <a:r>
              <a:rPr lang="en-IN" sz="1600" dirty="0"/>
              <a:t>Mobile applications </a:t>
            </a:r>
          </a:p>
          <a:p>
            <a:pPr marL="285750" indent="-285750">
              <a:buFont typeface="Arial" panose="020B0604020202020204" pitchFamily="34" charset="0"/>
              <a:buChar char="•"/>
            </a:pPr>
            <a:r>
              <a:rPr lang="en-IN" sz="1600" dirty="0"/>
              <a:t>Websites </a:t>
            </a:r>
          </a:p>
          <a:p>
            <a:pPr marL="285750" indent="-285750">
              <a:buFont typeface="Arial" panose="020B0604020202020204" pitchFamily="34" charset="0"/>
              <a:buChar char="•"/>
            </a:pPr>
            <a:r>
              <a:rPr lang="en-IN" sz="1600" dirty="0"/>
              <a:t>Sensors </a:t>
            </a:r>
          </a:p>
          <a:p>
            <a:pPr marL="285750" indent="-285750">
              <a:buFont typeface="Arial" panose="020B0604020202020204" pitchFamily="34" charset="0"/>
              <a:buChar char="•"/>
            </a:pPr>
            <a:r>
              <a:rPr lang="en-IN" sz="1600" dirty="0"/>
              <a:t>Databases </a:t>
            </a:r>
          </a:p>
          <a:p>
            <a:pPr marL="285750" indent="-285750">
              <a:buFont typeface="Arial" panose="020B0604020202020204" pitchFamily="34" charset="0"/>
              <a:buChar char="•"/>
            </a:pPr>
            <a:r>
              <a:rPr lang="en-IN" sz="1600" dirty="0"/>
              <a:t>Social media </a:t>
            </a:r>
          </a:p>
          <a:p>
            <a:pPr marL="285750" indent="-285750">
              <a:buFont typeface="Arial" panose="020B0604020202020204" pitchFamily="34" charset="0"/>
              <a:buChar char="•"/>
            </a:pPr>
            <a:r>
              <a:rPr lang="en-IN" sz="1600" dirty="0"/>
              <a:t>Customer feedback</a:t>
            </a:r>
          </a:p>
          <a:p>
            <a:endParaRPr lang="en-IN" dirty="0"/>
          </a:p>
        </p:txBody>
      </p:sp>
      <p:sp>
        <p:nvSpPr>
          <p:cNvPr id="6" name="Text Placeholder 5">
            <a:extLst>
              <a:ext uri="{FF2B5EF4-FFF2-40B4-BE49-F238E27FC236}">
                <a16:creationId xmlns:a16="http://schemas.microsoft.com/office/drawing/2014/main" id="{C2386A8C-05B2-7EDD-E8D0-63688C7A64CA}"/>
              </a:ext>
            </a:extLst>
          </p:cNvPr>
          <p:cNvSpPr>
            <a:spLocks noGrp="1"/>
          </p:cNvSpPr>
          <p:nvPr>
            <p:ph type="body" sz="quarter" idx="3"/>
          </p:nvPr>
        </p:nvSpPr>
        <p:spPr/>
        <p:txBody>
          <a:bodyPr/>
          <a:lstStyle/>
          <a:p>
            <a:r>
              <a:rPr lang="en-IN" b="1" u="sng" dirty="0"/>
              <a:t>Stage 2: Information</a:t>
            </a:r>
          </a:p>
          <a:p>
            <a:endParaRPr lang="en-IN" dirty="0"/>
          </a:p>
        </p:txBody>
      </p:sp>
      <p:sp>
        <p:nvSpPr>
          <p:cNvPr id="9" name="Text Placeholder 8">
            <a:extLst>
              <a:ext uri="{FF2B5EF4-FFF2-40B4-BE49-F238E27FC236}">
                <a16:creationId xmlns:a16="http://schemas.microsoft.com/office/drawing/2014/main" id="{083C3339-4F4E-F71F-BFFA-CB162D9D3E4E}"/>
              </a:ext>
            </a:extLst>
          </p:cNvPr>
          <p:cNvSpPr>
            <a:spLocks noGrp="1"/>
          </p:cNvSpPr>
          <p:nvPr>
            <p:ph type="body" sz="half" idx="16"/>
          </p:nvPr>
        </p:nvSpPr>
        <p:spPr>
          <a:xfrm>
            <a:off x="4367784" y="2634354"/>
            <a:ext cx="3456432" cy="3766446"/>
          </a:xfrm>
        </p:spPr>
        <p:txBody>
          <a:bodyPr/>
          <a:lstStyle/>
          <a:p>
            <a:r>
              <a:rPr lang="en-IN" sz="1600" dirty="0"/>
              <a:t>The collected data is organized and </a:t>
            </a:r>
            <a:r>
              <a:rPr lang="en-IN" sz="1600" dirty="0" err="1"/>
              <a:t>analyzed</a:t>
            </a:r>
            <a:r>
              <a:rPr lang="en-IN" sz="1600" dirty="0"/>
              <a:t>.</a:t>
            </a:r>
          </a:p>
          <a:p>
            <a:endParaRPr lang="en-IN" sz="1600" dirty="0"/>
          </a:p>
          <a:p>
            <a:r>
              <a:rPr lang="en-IN" sz="1600" b="1" dirty="0"/>
              <a:t>Example</a:t>
            </a:r>
          </a:p>
          <a:p>
            <a:r>
              <a:rPr lang="en-IN" sz="1600" dirty="0"/>
              <a:t>After processing the above sales data:</a:t>
            </a:r>
          </a:p>
          <a:p>
            <a:pPr marL="285750" indent="-285750">
              <a:buFont typeface="Arial" panose="020B0604020202020204" pitchFamily="34" charset="0"/>
              <a:buChar char="•"/>
            </a:pPr>
            <a:r>
              <a:rPr lang="en-IN" sz="1600" dirty="0"/>
              <a:t>Total sales = 540 units </a:t>
            </a:r>
          </a:p>
          <a:p>
            <a:pPr marL="285750" indent="-285750">
              <a:buFont typeface="Arial" panose="020B0604020202020204" pitchFamily="34" charset="0"/>
              <a:buChar char="•"/>
            </a:pPr>
            <a:r>
              <a:rPr lang="en-IN" sz="1600" dirty="0"/>
              <a:t>Average daily sales = 180 units </a:t>
            </a:r>
          </a:p>
          <a:p>
            <a:pPr marL="285750" indent="-285750">
              <a:buFont typeface="Arial" panose="020B0604020202020204" pitchFamily="34" charset="0"/>
              <a:buChar char="•"/>
            </a:pPr>
            <a:r>
              <a:rPr lang="en-IN" sz="1600" dirty="0"/>
              <a:t>Sales increased each day </a:t>
            </a:r>
          </a:p>
          <a:p>
            <a:r>
              <a:rPr lang="en-IN" sz="1600" dirty="0"/>
              <a:t>Now the data has become meaningful information.</a:t>
            </a:r>
          </a:p>
          <a:p>
            <a:endParaRPr lang="en-IN" dirty="0"/>
          </a:p>
        </p:txBody>
      </p:sp>
      <p:sp>
        <p:nvSpPr>
          <p:cNvPr id="7" name="Text Placeholder 6">
            <a:extLst>
              <a:ext uri="{FF2B5EF4-FFF2-40B4-BE49-F238E27FC236}">
                <a16:creationId xmlns:a16="http://schemas.microsoft.com/office/drawing/2014/main" id="{FF22D468-AEBF-892C-BBF1-AC94857EF034}"/>
              </a:ext>
            </a:extLst>
          </p:cNvPr>
          <p:cNvSpPr>
            <a:spLocks noGrp="1"/>
          </p:cNvSpPr>
          <p:nvPr>
            <p:ph type="body" sz="quarter" idx="13"/>
          </p:nvPr>
        </p:nvSpPr>
        <p:spPr/>
        <p:txBody>
          <a:bodyPr/>
          <a:lstStyle/>
          <a:p>
            <a:r>
              <a:rPr lang="en-IN" b="1" u="sng" dirty="0"/>
              <a:t>Stage 3: Knowledge</a:t>
            </a:r>
          </a:p>
          <a:p>
            <a:endParaRPr lang="en-IN" dirty="0"/>
          </a:p>
        </p:txBody>
      </p:sp>
      <p:sp>
        <p:nvSpPr>
          <p:cNvPr id="10" name="Text Placeholder 9">
            <a:extLst>
              <a:ext uri="{FF2B5EF4-FFF2-40B4-BE49-F238E27FC236}">
                <a16:creationId xmlns:a16="http://schemas.microsoft.com/office/drawing/2014/main" id="{6F336557-D69E-2C94-D4D3-85F98D1AE831}"/>
              </a:ext>
            </a:extLst>
          </p:cNvPr>
          <p:cNvSpPr>
            <a:spLocks noGrp="1"/>
          </p:cNvSpPr>
          <p:nvPr>
            <p:ph type="body" sz="half" idx="17"/>
          </p:nvPr>
        </p:nvSpPr>
        <p:spPr>
          <a:xfrm>
            <a:off x="8051801" y="2634342"/>
            <a:ext cx="3456432" cy="4049487"/>
          </a:xfrm>
        </p:spPr>
        <p:txBody>
          <a:bodyPr>
            <a:normAutofit lnSpcReduction="10000"/>
          </a:bodyPr>
          <a:lstStyle/>
          <a:p>
            <a:r>
              <a:rPr lang="en-IN" sz="1600" dirty="0"/>
              <a:t>Knowledge is created when information is combined with human experience, expertise, and judgment to make decisions.</a:t>
            </a:r>
          </a:p>
          <a:p>
            <a:endParaRPr lang="en-IN" sz="1600" dirty="0"/>
          </a:p>
          <a:p>
            <a:r>
              <a:rPr lang="en-IN" sz="1600" b="1" dirty="0"/>
              <a:t>Example</a:t>
            </a:r>
          </a:p>
          <a:p>
            <a:r>
              <a:rPr lang="en-IN" sz="1600" dirty="0"/>
              <a:t>The store manager notices that sales always increase before weekends. Based on this knowledge, the manager increases stock levels and schedules more employees during weekends.</a:t>
            </a:r>
          </a:p>
          <a:p>
            <a:r>
              <a:rPr lang="en-IN" sz="1600" dirty="0"/>
              <a:t>This action improves customer service and increases profits.</a:t>
            </a:r>
          </a:p>
          <a:p>
            <a:endParaRPr lang="en-IN" dirty="0"/>
          </a:p>
        </p:txBody>
      </p:sp>
    </p:spTree>
    <p:extLst>
      <p:ext uri="{BB962C8B-B14F-4D97-AF65-F5344CB8AC3E}">
        <p14:creationId xmlns:p14="http://schemas.microsoft.com/office/powerpoint/2010/main" val="4818973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017F-E53B-B429-6FC1-0C7EF3D675E6}"/>
              </a:ext>
            </a:extLst>
          </p:cNvPr>
          <p:cNvSpPr>
            <a:spLocks noGrp="1"/>
          </p:cNvSpPr>
          <p:nvPr>
            <p:ph type="title"/>
          </p:nvPr>
        </p:nvSpPr>
        <p:spPr>
          <a:xfrm>
            <a:off x="685800" y="753534"/>
            <a:ext cx="10820399" cy="1260324"/>
          </a:xfrm>
        </p:spPr>
        <p:txBody>
          <a:bodyPr>
            <a:normAutofit/>
          </a:bodyPr>
          <a:lstStyle/>
          <a:p>
            <a:pPr algn="l"/>
            <a:r>
              <a:rPr lang="en-IN" sz="3200" b="1" u="sng" dirty="0"/>
              <a:t>Benefits of Transforming Data into Knowledge</a:t>
            </a:r>
            <a:br>
              <a:rPr lang="en-IN" b="1" dirty="0"/>
            </a:br>
            <a:endParaRPr lang="en-IN" dirty="0"/>
          </a:p>
        </p:txBody>
      </p:sp>
      <p:sp>
        <p:nvSpPr>
          <p:cNvPr id="4" name="Text Placeholder 3">
            <a:extLst>
              <a:ext uri="{FF2B5EF4-FFF2-40B4-BE49-F238E27FC236}">
                <a16:creationId xmlns:a16="http://schemas.microsoft.com/office/drawing/2014/main" id="{235C7267-2535-855E-8AD6-7B5E8E31E0BC}"/>
              </a:ext>
            </a:extLst>
          </p:cNvPr>
          <p:cNvSpPr>
            <a:spLocks noGrp="1"/>
          </p:cNvSpPr>
          <p:nvPr>
            <p:ph type="body" idx="1"/>
          </p:nvPr>
        </p:nvSpPr>
        <p:spPr>
          <a:xfrm>
            <a:off x="1024467" y="1709057"/>
            <a:ext cx="10490200" cy="2888343"/>
          </a:xfrm>
        </p:spPr>
        <p:txBody>
          <a:bodyPr>
            <a:noAutofit/>
          </a:bodyPr>
          <a:lstStyle/>
          <a:p>
            <a:pPr marL="457200" indent="-457200" algn="l">
              <a:buFont typeface="Courier New" panose="02070309020205020404" pitchFamily="49" charset="0"/>
              <a:buChar char="o"/>
            </a:pPr>
            <a:r>
              <a:rPr lang="en-IN" sz="2000" dirty="0"/>
              <a:t>Better planning </a:t>
            </a:r>
          </a:p>
          <a:p>
            <a:pPr marL="457200" indent="-457200" algn="l">
              <a:buFont typeface="Courier New" panose="02070309020205020404" pitchFamily="49" charset="0"/>
              <a:buChar char="o"/>
            </a:pPr>
            <a:r>
              <a:rPr lang="en-IN" sz="2000" dirty="0"/>
              <a:t>Improved forecasting </a:t>
            </a:r>
          </a:p>
          <a:p>
            <a:pPr marL="457200" indent="-457200" algn="l">
              <a:buFont typeface="Courier New" panose="02070309020205020404" pitchFamily="49" charset="0"/>
              <a:buChar char="o"/>
            </a:pPr>
            <a:r>
              <a:rPr lang="en-IN" sz="2000" dirty="0"/>
              <a:t>Faster decision-making </a:t>
            </a:r>
          </a:p>
          <a:p>
            <a:pPr marL="457200" indent="-457200" algn="l">
              <a:buFont typeface="Courier New" panose="02070309020205020404" pitchFamily="49" charset="0"/>
              <a:buChar char="o"/>
            </a:pPr>
            <a:r>
              <a:rPr lang="en-IN" sz="2000" dirty="0"/>
              <a:t>Better customer service </a:t>
            </a:r>
          </a:p>
          <a:p>
            <a:pPr marL="457200" indent="-457200" algn="l">
              <a:buFont typeface="Courier New" panose="02070309020205020404" pitchFamily="49" charset="0"/>
              <a:buChar char="o"/>
            </a:pPr>
            <a:r>
              <a:rPr lang="en-IN" sz="2000" dirty="0"/>
              <a:t>Increased efficiency </a:t>
            </a:r>
          </a:p>
          <a:p>
            <a:pPr marL="457200" indent="-457200" algn="l">
              <a:buFont typeface="Courier New" panose="02070309020205020404" pitchFamily="49" charset="0"/>
              <a:buChar char="o"/>
            </a:pPr>
            <a:r>
              <a:rPr lang="en-IN" sz="2000" dirty="0"/>
              <a:t>Competitive advantage</a:t>
            </a:r>
            <a:br>
              <a:rPr lang="en-IN" sz="2000" dirty="0"/>
            </a:br>
            <a:endParaRPr lang="en-IN" sz="2000" dirty="0"/>
          </a:p>
        </p:txBody>
      </p:sp>
    </p:spTree>
    <p:extLst>
      <p:ext uri="{BB962C8B-B14F-4D97-AF65-F5344CB8AC3E}">
        <p14:creationId xmlns:p14="http://schemas.microsoft.com/office/powerpoint/2010/main" val="20626343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4DFB9-D05A-633A-04FE-B1442304559D}"/>
              </a:ext>
            </a:extLst>
          </p:cNvPr>
          <p:cNvSpPr>
            <a:spLocks noGrp="1"/>
          </p:cNvSpPr>
          <p:nvPr>
            <p:ph type="ctrTitle"/>
          </p:nvPr>
        </p:nvSpPr>
        <p:spPr>
          <a:xfrm>
            <a:off x="1371600" y="639763"/>
            <a:ext cx="9448800" cy="1635352"/>
          </a:xfrm>
        </p:spPr>
        <p:txBody>
          <a:bodyPr>
            <a:normAutofit fontScale="90000"/>
          </a:bodyPr>
          <a:lstStyle/>
          <a:p>
            <a:r>
              <a:rPr lang="en-IN" sz="3100" b="1" dirty="0"/>
              <a:t>C</a:t>
            </a:r>
            <a:r>
              <a:rPr lang="en-IN" sz="3100" b="1" u="sng" dirty="0"/>
              <a:t>. Value of Information in Decision Making</a:t>
            </a:r>
            <a:br>
              <a:rPr lang="en-IN" b="1" u="sng" dirty="0"/>
            </a:br>
            <a:endParaRPr lang="en-IN" u="sng" dirty="0"/>
          </a:p>
        </p:txBody>
      </p:sp>
      <p:sp>
        <p:nvSpPr>
          <p:cNvPr id="3" name="Text Placeholder 2">
            <a:extLst>
              <a:ext uri="{FF2B5EF4-FFF2-40B4-BE49-F238E27FC236}">
                <a16:creationId xmlns:a16="http://schemas.microsoft.com/office/drawing/2014/main" id="{017F96B3-A4DB-1E29-0EE5-9DD5D41B5DFA}"/>
              </a:ext>
            </a:extLst>
          </p:cNvPr>
          <p:cNvSpPr>
            <a:spLocks noGrp="1"/>
          </p:cNvSpPr>
          <p:nvPr>
            <p:ph type="subTitle" idx="1"/>
          </p:nvPr>
        </p:nvSpPr>
        <p:spPr>
          <a:xfrm>
            <a:off x="1371600" y="1937659"/>
            <a:ext cx="9448800" cy="642256"/>
          </a:xfrm>
        </p:spPr>
        <p:txBody>
          <a:bodyPr/>
          <a:lstStyle/>
          <a:p>
            <a:r>
              <a:rPr lang="en-IN" b="1" dirty="0"/>
              <a:t>What is Decision Making?</a:t>
            </a:r>
            <a:br>
              <a:rPr lang="en-IN" b="1" dirty="0"/>
            </a:br>
            <a:endParaRPr lang="en-IN" dirty="0"/>
          </a:p>
        </p:txBody>
      </p:sp>
      <p:sp>
        <p:nvSpPr>
          <p:cNvPr id="4" name="Text Placeholder 3">
            <a:extLst>
              <a:ext uri="{FF2B5EF4-FFF2-40B4-BE49-F238E27FC236}">
                <a16:creationId xmlns:a16="http://schemas.microsoft.com/office/drawing/2014/main" id="{75CE8B8F-EE1C-BDB9-DD87-16541A34DE10}"/>
              </a:ext>
            </a:extLst>
          </p:cNvPr>
          <p:cNvSpPr>
            <a:spLocks noGrp="1"/>
          </p:cNvSpPr>
          <p:nvPr>
            <p:ph type="body" sz="half" idx="4294967295"/>
          </p:nvPr>
        </p:nvSpPr>
        <p:spPr>
          <a:xfrm>
            <a:off x="1240971" y="2481944"/>
            <a:ext cx="10003971" cy="3736294"/>
          </a:xfrm>
        </p:spPr>
        <p:txBody>
          <a:bodyPr>
            <a:normAutofit/>
          </a:bodyPr>
          <a:lstStyle/>
          <a:p>
            <a:r>
              <a:rPr lang="en-IN" sz="1800" dirty="0"/>
              <a:t>Decision-making is the process of selecting the best solution or course of action from several alternatives.</a:t>
            </a:r>
            <a:br>
              <a:rPr lang="en-IN" sz="1800" dirty="0"/>
            </a:br>
            <a:r>
              <a:rPr lang="en-IN" sz="1800" dirty="0"/>
              <a:t>Managers rely on accurate information to make effective business decisions.</a:t>
            </a:r>
            <a:br>
              <a:rPr lang="en-IN" sz="1800" dirty="0"/>
            </a:br>
            <a:endParaRPr lang="en-IN" sz="1800" dirty="0"/>
          </a:p>
        </p:txBody>
      </p:sp>
    </p:spTree>
    <p:extLst>
      <p:ext uri="{BB962C8B-B14F-4D97-AF65-F5344CB8AC3E}">
        <p14:creationId xmlns:p14="http://schemas.microsoft.com/office/powerpoint/2010/main" val="12445156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BB6EF-18C2-0455-8FA1-7E1D4D12E4B6}"/>
              </a:ext>
            </a:extLst>
          </p:cNvPr>
          <p:cNvSpPr>
            <a:spLocks noGrp="1"/>
          </p:cNvSpPr>
          <p:nvPr>
            <p:ph type="title"/>
          </p:nvPr>
        </p:nvSpPr>
        <p:spPr>
          <a:xfrm>
            <a:off x="2895600" y="266097"/>
            <a:ext cx="8610599" cy="953104"/>
          </a:xfrm>
        </p:spPr>
        <p:txBody>
          <a:bodyPr>
            <a:normAutofit/>
          </a:bodyPr>
          <a:lstStyle/>
          <a:p>
            <a:r>
              <a:rPr lang="en-IN" sz="3200" b="1" u="sng" dirty="0"/>
              <a:t>Importance of Information</a:t>
            </a:r>
          </a:p>
        </p:txBody>
      </p:sp>
      <p:sp>
        <p:nvSpPr>
          <p:cNvPr id="3" name="Text Placeholder 2">
            <a:extLst>
              <a:ext uri="{FF2B5EF4-FFF2-40B4-BE49-F238E27FC236}">
                <a16:creationId xmlns:a16="http://schemas.microsoft.com/office/drawing/2014/main" id="{92BEE122-135B-A917-BD21-087AF7DAEA8D}"/>
              </a:ext>
            </a:extLst>
          </p:cNvPr>
          <p:cNvSpPr>
            <a:spLocks noGrp="1"/>
          </p:cNvSpPr>
          <p:nvPr>
            <p:ph type="body" idx="1"/>
          </p:nvPr>
        </p:nvSpPr>
        <p:spPr>
          <a:xfrm>
            <a:off x="413657" y="2065866"/>
            <a:ext cx="3728575" cy="514048"/>
          </a:xfrm>
        </p:spPr>
        <p:txBody>
          <a:bodyPr/>
          <a:lstStyle/>
          <a:p>
            <a:r>
              <a:rPr lang="en-IN" b="1" dirty="0"/>
              <a:t>1. Reduces Uncertainty</a:t>
            </a:r>
          </a:p>
          <a:p>
            <a:endParaRPr lang="en-IN" dirty="0"/>
          </a:p>
        </p:txBody>
      </p:sp>
      <p:sp>
        <p:nvSpPr>
          <p:cNvPr id="4" name="Text Placeholder 3">
            <a:extLst>
              <a:ext uri="{FF2B5EF4-FFF2-40B4-BE49-F238E27FC236}">
                <a16:creationId xmlns:a16="http://schemas.microsoft.com/office/drawing/2014/main" id="{1417252B-C8E6-59CD-A61E-3BF06E18BA88}"/>
              </a:ext>
            </a:extLst>
          </p:cNvPr>
          <p:cNvSpPr>
            <a:spLocks noGrp="1"/>
          </p:cNvSpPr>
          <p:nvPr>
            <p:ph type="body" sz="half" idx="15"/>
          </p:nvPr>
        </p:nvSpPr>
        <p:spPr>
          <a:xfrm>
            <a:off x="413656" y="2406775"/>
            <a:ext cx="3728575" cy="3811921"/>
          </a:xfrm>
        </p:spPr>
        <p:txBody>
          <a:bodyPr/>
          <a:lstStyle/>
          <a:p>
            <a:r>
              <a:rPr lang="en-IN" sz="2000" dirty="0"/>
              <a:t>Reliable information minimizes risks and helps managers make confident decisions.</a:t>
            </a:r>
          </a:p>
          <a:p>
            <a:endParaRPr lang="en-IN" sz="2000" dirty="0"/>
          </a:p>
          <a:p>
            <a:r>
              <a:rPr lang="en-IN" sz="2000" b="1" dirty="0"/>
              <a:t>Example:</a:t>
            </a:r>
            <a:br>
              <a:rPr lang="en-IN" sz="2000" dirty="0"/>
            </a:br>
            <a:r>
              <a:rPr lang="en-IN" sz="2000" dirty="0"/>
              <a:t>Sales reports help estimate future product demand</a:t>
            </a:r>
          </a:p>
          <a:p>
            <a:endParaRPr lang="en-IN" dirty="0"/>
          </a:p>
        </p:txBody>
      </p:sp>
      <p:sp>
        <p:nvSpPr>
          <p:cNvPr id="5" name="Text Placeholder 4">
            <a:extLst>
              <a:ext uri="{FF2B5EF4-FFF2-40B4-BE49-F238E27FC236}">
                <a16:creationId xmlns:a16="http://schemas.microsoft.com/office/drawing/2014/main" id="{17BE7DE9-DA00-0B69-A261-60A06BEA0376}"/>
              </a:ext>
            </a:extLst>
          </p:cNvPr>
          <p:cNvSpPr>
            <a:spLocks noGrp="1"/>
          </p:cNvSpPr>
          <p:nvPr>
            <p:ph type="body" sz="quarter" idx="3"/>
          </p:nvPr>
        </p:nvSpPr>
        <p:spPr>
          <a:xfrm>
            <a:off x="4368800" y="2201333"/>
            <a:ext cx="3456432" cy="378581"/>
          </a:xfrm>
        </p:spPr>
        <p:txBody>
          <a:bodyPr/>
          <a:lstStyle/>
          <a:p>
            <a:r>
              <a:rPr lang="en-IN" b="1" dirty="0"/>
              <a:t>2. Improves Planning</a:t>
            </a:r>
          </a:p>
          <a:p>
            <a:endParaRPr lang="en-IN" dirty="0"/>
          </a:p>
        </p:txBody>
      </p:sp>
      <p:sp>
        <p:nvSpPr>
          <p:cNvPr id="6" name="Text Placeholder 5">
            <a:extLst>
              <a:ext uri="{FF2B5EF4-FFF2-40B4-BE49-F238E27FC236}">
                <a16:creationId xmlns:a16="http://schemas.microsoft.com/office/drawing/2014/main" id="{0EB7BA51-0ED8-3590-C950-8B25406C2015}"/>
              </a:ext>
            </a:extLst>
          </p:cNvPr>
          <p:cNvSpPr>
            <a:spLocks noGrp="1"/>
          </p:cNvSpPr>
          <p:nvPr>
            <p:ph type="body" sz="half" idx="16"/>
          </p:nvPr>
        </p:nvSpPr>
        <p:spPr>
          <a:xfrm>
            <a:off x="4366858" y="2732314"/>
            <a:ext cx="3456432" cy="3486371"/>
          </a:xfrm>
        </p:spPr>
        <p:txBody>
          <a:bodyPr/>
          <a:lstStyle/>
          <a:p>
            <a:pPr marL="285750" indent="-285750">
              <a:buFont typeface="Arial" panose="020B0604020202020204" pitchFamily="34" charset="0"/>
              <a:buChar char="•"/>
            </a:pPr>
            <a:r>
              <a:rPr lang="en-IN" sz="1800" dirty="0"/>
              <a:t>Organizations use information to:</a:t>
            </a:r>
          </a:p>
          <a:p>
            <a:pPr marL="285750" indent="-285750">
              <a:buFont typeface="Arial" panose="020B0604020202020204" pitchFamily="34" charset="0"/>
              <a:buChar char="•"/>
            </a:pPr>
            <a:r>
              <a:rPr lang="en-IN" sz="1800" dirty="0"/>
              <a:t>Set objectives </a:t>
            </a:r>
          </a:p>
          <a:p>
            <a:pPr marL="285750" indent="-285750">
              <a:buFont typeface="Arial" panose="020B0604020202020204" pitchFamily="34" charset="0"/>
              <a:buChar char="•"/>
            </a:pPr>
            <a:r>
              <a:rPr lang="en-IN" sz="1800" dirty="0"/>
              <a:t>Allocate budgets </a:t>
            </a:r>
          </a:p>
          <a:p>
            <a:pPr marL="285750" indent="-285750">
              <a:buFont typeface="Arial" panose="020B0604020202020204" pitchFamily="34" charset="0"/>
              <a:buChar char="•"/>
            </a:pPr>
            <a:r>
              <a:rPr lang="en-IN" sz="1800" dirty="0"/>
              <a:t>Develop strategies </a:t>
            </a:r>
          </a:p>
          <a:p>
            <a:pPr marL="285750" indent="-285750">
              <a:buFont typeface="Arial" panose="020B0604020202020204" pitchFamily="34" charset="0"/>
              <a:buChar char="•"/>
            </a:pPr>
            <a:r>
              <a:rPr lang="en-IN" sz="1800" dirty="0"/>
              <a:t>Forecast future performance</a:t>
            </a:r>
          </a:p>
          <a:p>
            <a:endParaRPr lang="en-IN" dirty="0"/>
          </a:p>
        </p:txBody>
      </p:sp>
      <p:sp>
        <p:nvSpPr>
          <p:cNvPr id="7" name="Text Placeholder 6">
            <a:extLst>
              <a:ext uri="{FF2B5EF4-FFF2-40B4-BE49-F238E27FC236}">
                <a16:creationId xmlns:a16="http://schemas.microsoft.com/office/drawing/2014/main" id="{1FD1E436-30B3-D3BA-5521-27C50F4B62A0}"/>
              </a:ext>
            </a:extLst>
          </p:cNvPr>
          <p:cNvSpPr>
            <a:spLocks noGrp="1"/>
          </p:cNvSpPr>
          <p:nvPr>
            <p:ph type="body" sz="quarter" idx="13"/>
          </p:nvPr>
        </p:nvSpPr>
        <p:spPr>
          <a:xfrm>
            <a:off x="8051801" y="1447798"/>
            <a:ext cx="3456432" cy="1456766"/>
          </a:xfrm>
        </p:spPr>
        <p:txBody>
          <a:bodyPr/>
          <a:lstStyle/>
          <a:p>
            <a:r>
              <a:rPr lang="en-IN" b="1" dirty="0"/>
              <a:t>3. Supports Problem Solving</a:t>
            </a:r>
          </a:p>
          <a:p>
            <a:endParaRPr lang="en-IN" dirty="0"/>
          </a:p>
        </p:txBody>
      </p:sp>
      <p:sp>
        <p:nvSpPr>
          <p:cNvPr id="8" name="Text Placeholder 7">
            <a:extLst>
              <a:ext uri="{FF2B5EF4-FFF2-40B4-BE49-F238E27FC236}">
                <a16:creationId xmlns:a16="http://schemas.microsoft.com/office/drawing/2014/main" id="{2D1348BB-CC1F-9A70-E7AA-8A6B61A31BDF}"/>
              </a:ext>
            </a:extLst>
          </p:cNvPr>
          <p:cNvSpPr>
            <a:spLocks noGrp="1"/>
          </p:cNvSpPr>
          <p:nvPr>
            <p:ph type="body" sz="half" idx="17"/>
          </p:nvPr>
        </p:nvSpPr>
        <p:spPr>
          <a:xfrm>
            <a:off x="7779658" y="2579914"/>
            <a:ext cx="3728575" cy="4136571"/>
          </a:xfrm>
        </p:spPr>
        <p:txBody>
          <a:bodyPr>
            <a:normAutofit/>
          </a:bodyPr>
          <a:lstStyle/>
          <a:p>
            <a:r>
              <a:rPr lang="en-IN" dirty="0"/>
              <a:t>Information helps identify problems and determine their causes.</a:t>
            </a:r>
          </a:p>
          <a:p>
            <a:r>
              <a:rPr lang="en-IN" b="1" dirty="0"/>
              <a:t>Example:</a:t>
            </a:r>
            <a:br>
              <a:rPr lang="en-IN" dirty="0"/>
            </a:br>
            <a:r>
              <a:rPr lang="en-IN" dirty="0"/>
              <a:t>Customer complaints reveal recurring product quality issues.</a:t>
            </a:r>
          </a:p>
          <a:p>
            <a:endParaRPr lang="en-IN" dirty="0"/>
          </a:p>
          <a:p>
            <a:r>
              <a:rPr lang="en-IN" sz="2600" b="1" dirty="0"/>
              <a:t>4. Enhances Operational Efficiency</a:t>
            </a:r>
          </a:p>
          <a:p>
            <a:pPr marL="285750" indent="-285750">
              <a:buFont typeface="Arial" panose="020B0604020202020204" pitchFamily="34" charset="0"/>
              <a:buChar char="•"/>
            </a:pPr>
            <a:r>
              <a:rPr lang="en-IN" dirty="0"/>
              <a:t>Information enables organizations to:</a:t>
            </a:r>
          </a:p>
          <a:p>
            <a:pPr marL="285750" indent="-285750">
              <a:buFont typeface="Arial" panose="020B0604020202020204" pitchFamily="34" charset="0"/>
              <a:buChar char="•"/>
            </a:pPr>
            <a:r>
              <a:rPr lang="en-IN" dirty="0"/>
              <a:t>Improve productivity </a:t>
            </a:r>
          </a:p>
          <a:p>
            <a:pPr marL="285750" indent="-285750">
              <a:buFont typeface="Arial" panose="020B0604020202020204" pitchFamily="34" charset="0"/>
              <a:buChar char="•"/>
            </a:pPr>
            <a:r>
              <a:rPr lang="en-IN" dirty="0"/>
              <a:t>Reduce costs </a:t>
            </a:r>
          </a:p>
          <a:p>
            <a:pPr marL="285750" indent="-285750">
              <a:buFont typeface="Arial" panose="020B0604020202020204" pitchFamily="34" charset="0"/>
              <a:buChar char="•"/>
            </a:pPr>
            <a:r>
              <a:rPr lang="en-IN" dirty="0"/>
              <a:t>Optimize business processes </a:t>
            </a:r>
          </a:p>
          <a:p>
            <a:pPr marL="285750" indent="-285750">
              <a:buFont typeface="Arial" panose="020B0604020202020204" pitchFamily="34" charset="0"/>
              <a:buChar char="•"/>
            </a:pPr>
            <a:r>
              <a:rPr lang="en-IN" dirty="0"/>
              <a:t>Monitor employee performance</a:t>
            </a:r>
          </a:p>
          <a:p>
            <a:endParaRPr lang="en-IN" dirty="0"/>
          </a:p>
        </p:txBody>
      </p:sp>
    </p:spTree>
    <p:extLst>
      <p:ext uri="{BB962C8B-B14F-4D97-AF65-F5344CB8AC3E}">
        <p14:creationId xmlns:p14="http://schemas.microsoft.com/office/powerpoint/2010/main" val="16491777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344C16B-1F39-8B26-62FC-3987485579B2}"/>
              </a:ext>
            </a:extLst>
          </p:cNvPr>
          <p:cNvSpPr>
            <a:spLocks noGrp="1"/>
          </p:cNvSpPr>
          <p:nvPr>
            <p:ph type="title"/>
          </p:nvPr>
        </p:nvSpPr>
        <p:spPr>
          <a:xfrm>
            <a:off x="2895600" y="761999"/>
            <a:ext cx="8610599" cy="598715"/>
          </a:xfrm>
        </p:spPr>
        <p:txBody>
          <a:bodyPr>
            <a:normAutofit fontScale="90000"/>
          </a:bodyPr>
          <a:lstStyle/>
          <a:p>
            <a:r>
              <a:rPr lang="en-IN" dirty="0">
                <a:solidFill>
                  <a:schemeClr val="bg1"/>
                </a:solidFill>
              </a:rPr>
              <a:t>.</a:t>
            </a:r>
          </a:p>
        </p:txBody>
      </p:sp>
      <p:sp>
        <p:nvSpPr>
          <p:cNvPr id="10" name="Text Placeholder 9">
            <a:extLst>
              <a:ext uri="{FF2B5EF4-FFF2-40B4-BE49-F238E27FC236}">
                <a16:creationId xmlns:a16="http://schemas.microsoft.com/office/drawing/2014/main" id="{0BCD0390-B8A9-D359-DE73-C4096B74DC5D}"/>
              </a:ext>
            </a:extLst>
          </p:cNvPr>
          <p:cNvSpPr>
            <a:spLocks noGrp="1"/>
          </p:cNvSpPr>
          <p:nvPr>
            <p:ph type="body" idx="1"/>
          </p:nvPr>
        </p:nvSpPr>
        <p:spPr>
          <a:xfrm>
            <a:off x="685800" y="2202079"/>
            <a:ext cx="3456432" cy="1096291"/>
          </a:xfrm>
        </p:spPr>
        <p:txBody>
          <a:bodyPr/>
          <a:lstStyle/>
          <a:p>
            <a:r>
              <a:rPr lang="en-IN" b="1" dirty="0"/>
              <a:t>5. Supports Strategic Decisions</a:t>
            </a:r>
          </a:p>
          <a:p>
            <a:endParaRPr lang="en-IN" dirty="0"/>
          </a:p>
        </p:txBody>
      </p:sp>
      <p:sp>
        <p:nvSpPr>
          <p:cNvPr id="13" name="Text Placeholder 12">
            <a:extLst>
              <a:ext uri="{FF2B5EF4-FFF2-40B4-BE49-F238E27FC236}">
                <a16:creationId xmlns:a16="http://schemas.microsoft.com/office/drawing/2014/main" id="{FCE32030-CE8D-C347-1508-79FA5082A2B2}"/>
              </a:ext>
            </a:extLst>
          </p:cNvPr>
          <p:cNvSpPr>
            <a:spLocks noGrp="1"/>
          </p:cNvSpPr>
          <p:nvPr>
            <p:ph type="body" sz="half" idx="15"/>
          </p:nvPr>
        </p:nvSpPr>
        <p:spPr/>
        <p:txBody>
          <a:bodyPr>
            <a:normAutofit fontScale="92500"/>
          </a:bodyPr>
          <a:lstStyle/>
          <a:p>
            <a:r>
              <a:rPr lang="en-IN" sz="2000" dirty="0"/>
              <a:t>Senior management uses information to:</a:t>
            </a:r>
          </a:p>
          <a:p>
            <a:pPr marL="285750" indent="-285750">
              <a:buFont typeface="Arial" panose="020B0604020202020204" pitchFamily="34" charset="0"/>
              <a:buChar char="•"/>
            </a:pPr>
            <a:r>
              <a:rPr lang="en-IN" sz="2000" dirty="0"/>
              <a:t>Expand into new markets </a:t>
            </a:r>
          </a:p>
          <a:p>
            <a:pPr marL="285750" indent="-285750">
              <a:buFont typeface="Arial" panose="020B0604020202020204" pitchFamily="34" charset="0"/>
              <a:buChar char="•"/>
            </a:pPr>
            <a:r>
              <a:rPr lang="en-IN" sz="2000" dirty="0"/>
              <a:t>Introduce new products </a:t>
            </a:r>
          </a:p>
          <a:p>
            <a:pPr marL="285750" indent="-285750">
              <a:buFont typeface="Arial" panose="020B0604020202020204" pitchFamily="34" charset="0"/>
              <a:buChar char="•"/>
            </a:pPr>
            <a:r>
              <a:rPr lang="en-IN" sz="2000" dirty="0"/>
              <a:t>Invest in technology </a:t>
            </a:r>
          </a:p>
          <a:p>
            <a:pPr marL="285750" indent="-285750">
              <a:buFont typeface="Arial" panose="020B0604020202020204" pitchFamily="34" charset="0"/>
              <a:buChar char="•"/>
            </a:pPr>
            <a:r>
              <a:rPr lang="en-IN" sz="2000" dirty="0"/>
              <a:t>Improve competitiveness </a:t>
            </a:r>
          </a:p>
          <a:p>
            <a:br>
              <a:rPr lang="en-IN" dirty="0"/>
            </a:br>
            <a:endParaRPr lang="en-IN" dirty="0"/>
          </a:p>
          <a:p>
            <a:br>
              <a:rPr lang="en-IN" dirty="0"/>
            </a:br>
            <a:endParaRPr lang="en-IN" dirty="0"/>
          </a:p>
          <a:p>
            <a:endParaRPr lang="en-IN" dirty="0"/>
          </a:p>
        </p:txBody>
      </p:sp>
      <p:sp>
        <p:nvSpPr>
          <p:cNvPr id="11" name="Text Placeholder 10">
            <a:extLst>
              <a:ext uri="{FF2B5EF4-FFF2-40B4-BE49-F238E27FC236}">
                <a16:creationId xmlns:a16="http://schemas.microsoft.com/office/drawing/2014/main" id="{31B4DDD9-29BF-11BF-BD32-FF921979F773}"/>
              </a:ext>
            </a:extLst>
          </p:cNvPr>
          <p:cNvSpPr>
            <a:spLocks noGrp="1"/>
          </p:cNvSpPr>
          <p:nvPr>
            <p:ph type="body" sz="quarter" idx="3"/>
          </p:nvPr>
        </p:nvSpPr>
        <p:spPr>
          <a:xfrm>
            <a:off x="4368800" y="2201333"/>
            <a:ext cx="3456432" cy="1096290"/>
          </a:xfrm>
        </p:spPr>
        <p:txBody>
          <a:bodyPr/>
          <a:lstStyle/>
          <a:p>
            <a:r>
              <a:rPr lang="en-IN" b="1" dirty="0"/>
              <a:t>6. Improves Customer Satisfaction</a:t>
            </a:r>
          </a:p>
          <a:p>
            <a:endParaRPr lang="en-IN" dirty="0"/>
          </a:p>
        </p:txBody>
      </p:sp>
      <p:sp>
        <p:nvSpPr>
          <p:cNvPr id="14" name="Text Placeholder 13">
            <a:extLst>
              <a:ext uri="{FF2B5EF4-FFF2-40B4-BE49-F238E27FC236}">
                <a16:creationId xmlns:a16="http://schemas.microsoft.com/office/drawing/2014/main" id="{B35B8D53-194F-1F82-9725-34DB4CA5A4C2}"/>
              </a:ext>
            </a:extLst>
          </p:cNvPr>
          <p:cNvSpPr>
            <a:spLocks noGrp="1"/>
          </p:cNvSpPr>
          <p:nvPr>
            <p:ph type="body" sz="half" idx="16"/>
          </p:nvPr>
        </p:nvSpPr>
        <p:spPr/>
        <p:txBody>
          <a:bodyPr/>
          <a:lstStyle/>
          <a:p>
            <a:r>
              <a:rPr lang="en-IN" sz="2000" dirty="0"/>
              <a:t>Customer information helps businesses:</a:t>
            </a:r>
          </a:p>
          <a:p>
            <a:pPr marL="285750" indent="-285750">
              <a:buFont typeface="Arial" panose="020B0604020202020204" pitchFamily="34" charset="0"/>
              <a:buChar char="•"/>
            </a:pPr>
            <a:r>
              <a:rPr lang="en-IN" sz="2000" dirty="0"/>
              <a:t>Understand customer preferences </a:t>
            </a:r>
          </a:p>
          <a:p>
            <a:pPr marL="285750" indent="-285750">
              <a:buFont typeface="Arial" panose="020B0604020202020204" pitchFamily="34" charset="0"/>
              <a:buChar char="•"/>
            </a:pPr>
            <a:r>
              <a:rPr lang="en-IN" sz="2000" dirty="0"/>
              <a:t>Personalize products </a:t>
            </a:r>
          </a:p>
          <a:p>
            <a:pPr marL="285750" indent="-285750">
              <a:buFont typeface="Arial" panose="020B0604020202020204" pitchFamily="34" charset="0"/>
              <a:buChar char="•"/>
            </a:pPr>
            <a:r>
              <a:rPr lang="en-IN" sz="2000" dirty="0"/>
              <a:t>Improve services </a:t>
            </a:r>
          </a:p>
          <a:p>
            <a:pPr marL="285750" indent="-285750">
              <a:buFont typeface="Arial" panose="020B0604020202020204" pitchFamily="34" charset="0"/>
              <a:buChar char="•"/>
            </a:pPr>
            <a:r>
              <a:rPr lang="en-IN" sz="2000" dirty="0"/>
              <a:t>Increase customer loyalty </a:t>
            </a:r>
          </a:p>
          <a:p>
            <a:endParaRPr lang="en-IN" dirty="0"/>
          </a:p>
        </p:txBody>
      </p:sp>
      <p:sp>
        <p:nvSpPr>
          <p:cNvPr id="12" name="Text Placeholder 11">
            <a:extLst>
              <a:ext uri="{FF2B5EF4-FFF2-40B4-BE49-F238E27FC236}">
                <a16:creationId xmlns:a16="http://schemas.microsoft.com/office/drawing/2014/main" id="{4B0BB09B-D417-B71D-D8CC-EBE5D2202803}"/>
              </a:ext>
            </a:extLst>
          </p:cNvPr>
          <p:cNvSpPr>
            <a:spLocks noGrp="1"/>
          </p:cNvSpPr>
          <p:nvPr>
            <p:ph type="body" sz="quarter" idx="13"/>
          </p:nvPr>
        </p:nvSpPr>
        <p:spPr>
          <a:xfrm>
            <a:off x="8160657" y="2201333"/>
            <a:ext cx="3456432" cy="711201"/>
          </a:xfrm>
        </p:spPr>
        <p:txBody>
          <a:bodyPr/>
          <a:lstStyle/>
          <a:p>
            <a:r>
              <a:rPr lang="en-IN" b="1" dirty="0"/>
              <a:t>7. Risk Management</a:t>
            </a:r>
          </a:p>
          <a:p>
            <a:endParaRPr lang="en-IN" dirty="0"/>
          </a:p>
        </p:txBody>
      </p:sp>
      <p:sp>
        <p:nvSpPr>
          <p:cNvPr id="15" name="Text Placeholder 14">
            <a:extLst>
              <a:ext uri="{FF2B5EF4-FFF2-40B4-BE49-F238E27FC236}">
                <a16:creationId xmlns:a16="http://schemas.microsoft.com/office/drawing/2014/main" id="{4F19C263-1454-BDAD-E7F2-81ED8DE5E920}"/>
              </a:ext>
            </a:extLst>
          </p:cNvPr>
          <p:cNvSpPr>
            <a:spLocks noGrp="1"/>
          </p:cNvSpPr>
          <p:nvPr>
            <p:ph type="body" sz="half" idx="17"/>
          </p:nvPr>
        </p:nvSpPr>
        <p:spPr/>
        <p:txBody>
          <a:bodyPr/>
          <a:lstStyle/>
          <a:p>
            <a:r>
              <a:rPr lang="en-IN" sz="2000" dirty="0"/>
              <a:t>Information helps identify:</a:t>
            </a:r>
          </a:p>
          <a:p>
            <a:pPr marL="285750" indent="-285750">
              <a:buFont typeface="Arial" panose="020B0604020202020204" pitchFamily="34" charset="0"/>
              <a:buChar char="•"/>
            </a:pPr>
            <a:r>
              <a:rPr lang="en-IN" sz="2000" dirty="0"/>
              <a:t>Financial risks </a:t>
            </a:r>
          </a:p>
          <a:p>
            <a:pPr marL="285750" indent="-285750">
              <a:buFont typeface="Arial" panose="020B0604020202020204" pitchFamily="34" charset="0"/>
              <a:buChar char="•"/>
            </a:pPr>
            <a:r>
              <a:rPr lang="en-IN" sz="2000" dirty="0"/>
              <a:t>Market risks </a:t>
            </a:r>
          </a:p>
          <a:p>
            <a:pPr marL="285750" indent="-285750">
              <a:buFont typeface="Arial" panose="020B0604020202020204" pitchFamily="34" charset="0"/>
              <a:buChar char="•"/>
            </a:pPr>
            <a:r>
              <a:rPr lang="en-IN" sz="2000" dirty="0"/>
              <a:t>Operational risks </a:t>
            </a:r>
          </a:p>
          <a:p>
            <a:pPr marL="285750" indent="-285750">
              <a:buFont typeface="Arial" panose="020B0604020202020204" pitchFamily="34" charset="0"/>
              <a:buChar char="•"/>
            </a:pPr>
            <a:r>
              <a:rPr lang="en-IN" sz="2000" dirty="0"/>
              <a:t>Cybersecurity threats </a:t>
            </a:r>
          </a:p>
          <a:p>
            <a:pPr marL="285750" indent="-285750">
              <a:buFont typeface="Arial" panose="020B0604020202020204" pitchFamily="34" charset="0"/>
              <a:buChar char="•"/>
            </a:pPr>
            <a:r>
              <a:rPr lang="en-IN" sz="2000" dirty="0"/>
              <a:t>Organizations can prepare strategies to minimize these risks.</a:t>
            </a:r>
          </a:p>
          <a:p>
            <a:endParaRPr lang="en-IN" dirty="0"/>
          </a:p>
        </p:txBody>
      </p:sp>
    </p:spTree>
    <p:extLst>
      <p:ext uri="{BB962C8B-B14F-4D97-AF65-F5344CB8AC3E}">
        <p14:creationId xmlns:p14="http://schemas.microsoft.com/office/powerpoint/2010/main" val="39016248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BF0B7-E8DF-F1FF-1854-D842CC023B84}"/>
              </a:ext>
            </a:extLst>
          </p:cNvPr>
          <p:cNvSpPr>
            <a:spLocks noGrp="1"/>
          </p:cNvSpPr>
          <p:nvPr>
            <p:ph type="title"/>
          </p:nvPr>
        </p:nvSpPr>
        <p:spPr/>
        <p:txBody>
          <a:bodyPr>
            <a:normAutofit fontScale="90000"/>
          </a:bodyPr>
          <a:lstStyle/>
          <a:p>
            <a:r>
              <a:rPr lang="en-IN" sz="3600" b="1" u="sng" dirty="0"/>
              <a:t>Characteristics and Real-Life Applications</a:t>
            </a:r>
            <a:br>
              <a:rPr lang="en-IN" b="1" dirty="0"/>
            </a:br>
            <a:endParaRPr lang="en-IN" dirty="0"/>
          </a:p>
        </p:txBody>
      </p:sp>
      <p:sp>
        <p:nvSpPr>
          <p:cNvPr id="3" name="Subtitle 2">
            <a:extLst>
              <a:ext uri="{FF2B5EF4-FFF2-40B4-BE49-F238E27FC236}">
                <a16:creationId xmlns:a16="http://schemas.microsoft.com/office/drawing/2014/main" id="{D2F47B2C-6AAB-2127-83EA-47AEDED14177}"/>
              </a:ext>
            </a:extLst>
          </p:cNvPr>
          <p:cNvSpPr>
            <a:spLocks noGrp="1"/>
          </p:cNvSpPr>
          <p:nvPr>
            <p:ph type="body" idx="1"/>
          </p:nvPr>
        </p:nvSpPr>
        <p:spPr>
          <a:xfrm>
            <a:off x="914409" y="2183802"/>
            <a:ext cx="9318162" cy="823912"/>
          </a:xfrm>
        </p:spPr>
        <p:txBody>
          <a:bodyPr>
            <a:normAutofit/>
          </a:bodyPr>
          <a:lstStyle/>
          <a:p>
            <a:r>
              <a:rPr lang="en-IN" b="1" u="sng" dirty="0"/>
              <a:t>Characteristics of Good Information</a:t>
            </a:r>
          </a:p>
          <a:p>
            <a:endParaRPr lang="en-IN" dirty="0"/>
          </a:p>
        </p:txBody>
      </p:sp>
      <p:sp>
        <p:nvSpPr>
          <p:cNvPr id="4" name="Content Placeholder 3">
            <a:extLst>
              <a:ext uri="{FF2B5EF4-FFF2-40B4-BE49-F238E27FC236}">
                <a16:creationId xmlns:a16="http://schemas.microsoft.com/office/drawing/2014/main" id="{E07D0E32-2295-D8A9-D065-5904E031F176}"/>
              </a:ext>
            </a:extLst>
          </p:cNvPr>
          <p:cNvSpPr>
            <a:spLocks noGrp="1"/>
          </p:cNvSpPr>
          <p:nvPr>
            <p:ph sz="half" idx="2"/>
          </p:nvPr>
        </p:nvSpPr>
        <p:spPr>
          <a:xfrm>
            <a:off x="708026" y="2696715"/>
            <a:ext cx="5311775" cy="3987114"/>
          </a:xfrm>
        </p:spPr>
        <p:txBody>
          <a:bodyPr>
            <a:normAutofit fontScale="85000" lnSpcReduction="20000"/>
          </a:bodyPr>
          <a:lstStyle/>
          <a:p>
            <a:pPr marL="0" indent="0">
              <a:buNone/>
            </a:pPr>
            <a:r>
              <a:rPr lang="en-IN" dirty="0"/>
              <a:t>For information to be valuable, it should possess the following qualities:</a:t>
            </a:r>
          </a:p>
          <a:p>
            <a:r>
              <a:rPr lang="en-IN" b="1" dirty="0"/>
              <a:t>1. Accuracy</a:t>
            </a:r>
          </a:p>
          <a:p>
            <a:pPr marL="0" indent="0">
              <a:buNone/>
            </a:pPr>
            <a:r>
              <a:rPr lang="en-IN" dirty="0"/>
              <a:t>Information should be free from errors.</a:t>
            </a:r>
          </a:p>
          <a:p>
            <a:r>
              <a:rPr lang="en-IN" b="1" dirty="0"/>
              <a:t>2. Completeness</a:t>
            </a:r>
          </a:p>
          <a:p>
            <a:pPr marL="0" indent="0">
              <a:buNone/>
            </a:pPr>
            <a:r>
              <a:rPr lang="en-IN" dirty="0"/>
              <a:t>It should contain all necessary details.</a:t>
            </a:r>
          </a:p>
          <a:p>
            <a:r>
              <a:rPr lang="en-IN" b="1" dirty="0"/>
              <a:t>3. Relevance</a:t>
            </a:r>
          </a:p>
          <a:p>
            <a:pPr marL="0" indent="0">
              <a:buNone/>
            </a:pPr>
            <a:r>
              <a:rPr lang="en-IN" dirty="0"/>
              <a:t>Information should be useful for the decision being made.</a:t>
            </a:r>
          </a:p>
          <a:p>
            <a:r>
              <a:rPr lang="en-IN" b="1" dirty="0"/>
              <a:t>4. Timeliness</a:t>
            </a:r>
          </a:p>
          <a:p>
            <a:pPr marL="0" indent="0">
              <a:buNone/>
            </a:pPr>
            <a:r>
              <a:rPr lang="en-IN" dirty="0"/>
              <a:t>It should be available when needed.</a:t>
            </a:r>
          </a:p>
        </p:txBody>
      </p:sp>
      <p:sp>
        <p:nvSpPr>
          <p:cNvPr id="5" name="Text Placeholder 4">
            <a:extLst>
              <a:ext uri="{FF2B5EF4-FFF2-40B4-BE49-F238E27FC236}">
                <a16:creationId xmlns:a16="http://schemas.microsoft.com/office/drawing/2014/main" id="{16C99DFC-8EBF-614B-3ED5-5890EC90393C}"/>
              </a:ext>
            </a:extLst>
          </p:cNvPr>
          <p:cNvSpPr>
            <a:spLocks noGrp="1"/>
          </p:cNvSpPr>
          <p:nvPr>
            <p:ph type="body" sz="quarter" idx="3"/>
          </p:nvPr>
        </p:nvSpPr>
        <p:spPr>
          <a:xfrm>
            <a:off x="10983686" y="2183802"/>
            <a:ext cx="522514" cy="823912"/>
          </a:xfrm>
        </p:spPr>
        <p:txBody>
          <a:bodyPr>
            <a:normAutofit/>
          </a:bodyPr>
          <a:lstStyle/>
          <a:p>
            <a:r>
              <a:rPr lang="en-IN" dirty="0">
                <a:solidFill>
                  <a:schemeClr val="bg1"/>
                </a:solidFill>
              </a:rPr>
              <a:t>.</a:t>
            </a:r>
          </a:p>
        </p:txBody>
      </p:sp>
      <p:sp>
        <p:nvSpPr>
          <p:cNvPr id="6" name="Content Placeholder 5">
            <a:extLst>
              <a:ext uri="{FF2B5EF4-FFF2-40B4-BE49-F238E27FC236}">
                <a16:creationId xmlns:a16="http://schemas.microsoft.com/office/drawing/2014/main" id="{D939FFD7-F3C3-0D38-98F9-292B60E19B88}"/>
              </a:ext>
            </a:extLst>
          </p:cNvPr>
          <p:cNvSpPr>
            <a:spLocks noGrp="1"/>
          </p:cNvSpPr>
          <p:nvPr>
            <p:ph sz="quarter" idx="4"/>
          </p:nvPr>
        </p:nvSpPr>
        <p:spPr>
          <a:xfrm>
            <a:off x="6172200" y="2525486"/>
            <a:ext cx="5334000" cy="3693199"/>
          </a:xfrm>
        </p:spPr>
        <p:txBody>
          <a:bodyPr>
            <a:normAutofit fontScale="85000" lnSpcReduction="20000"/>
          </a:bodyPr>
          <a:lstStyle/>
          <a:p>
            <a:endParaRPr lang="en-IN" dirty="0"/>
          </a:p>
          <a:p>
            <a:r>
              <a:rPr lang="en-IN" b="1" dirty="0"/>
              <a:t>5. Reliability</a:t>
            </a:r>
          </a:p>
          <a:p>
            <a:pPr marL="0" indent="0">
              <a:buNone/>
            </a:pPr>
            <a:r>
              <a:rPr lang="en-IN" dirty="0"/>
              <a:t>Information must come from trustworthy sources.</a:t>
            </a:r>
          </a:p>
          <a:p>
            <a:r>
              <a:rPr lang="en-IN" b="1" dirty="0"/>
              <a:t>6. Consistency</a:t>
            </a:r>
          </a:p>
          <a:p>
            <a:pPr marL="0" indent="0">
              <a:buNone/>
            </a:pPr>
            <a:r>
              <a:rPr lang="en-IN" dirty="0"/>
              <a:t>The same information should be maintained across different systems.</a:t>
            </a:r>
          </a:p>
          <a:p>
            <a:r>
              <a:rPr lang="en-IN" b="1" dirty="0"/>
              <a:t>7. Understandability</a:t>
            </a:r>
          </a:p>
          <a:p>
            <a:pPr marL="0" indent="0">
              <a:buNone/>
            </a:pPr>
            <a:r>
              <a:rPr lang="en-IN" dirty="0"/>
              <a:t>Information should be presented clearly.</a:t>
            </a:r>
          </a:p>
          <a:p>
            <a:r>
              <a:rPr lang="en-IN" b="1" dirty="0"/>
              <a:t>8. Accessibility</a:t>
            </a:r>
          </a:p>
          <a:p>
            <a:pPr marL="0" indent="0">
              <a:buNone/>
            </a:pPr>
            <a:r>
              <a:rPr lang="en-IN" dirty="0"/>
              <a:t>Authorized users should be able to access information easily.</a:t>
            </a:r>
          </a:p>
          <a:p>
            <a:endParaRPr lang="en-IN" dirty="0"/>
          </a:p>
        </p:txBody>
      </p:sp>
    </p:spTree>
    <p:extLst>
      <p:ext uri="{BB962C8B-B14F-4D97-AF65-F5344CB8AC3E}">
        <p14:creationId xmlns:p14="http://schemas.microsoft.com/office/powerpoint/2010/main" val="14280055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1059B-FC3E-2181-1654-212A4D9E9930}"/>
              </a:ext>
            </a:extLst>
          </p:cNvPr>
          <p:cNvSpPr>
            <a:spLocks noGrp="1"/>
          </p:cNvSpPr>
          <p:nvPr>
            <p:ph type="title"/>
          </p:nvPr>
        </p:nvSpPr>
        <p:spPr>
          <a:xfrm>
            <a:off x="1262743" y="1273629"/>
            <a:ext cx="10245068" cy="516912"/>
          </a:xfrm>
        </p:spPr>
        <p:txBody>
          <a:bodyPr>
            <a:normAutofit fontScale="90000"/>
          </a:bodyPr>
          <a:lstStyle/>
          <a:p>
            <a:r>
              <a:rPr lang="en-IN" b="1" u="sng" dirty="0"/>
              <a:t>Real-Life Applications of Data and Information</a:t>
            </a:r>
            <a:br>
              <a:rPr lang="en-IN" b="1" dirty="0"/>
            </a:br>
            <a:endParaRPr lang="en-IN" dirty="0"/>
          </a:p>
        </p:txBody>
      </p:sp>
      <p:sp>
        <p:nvSpPr>
          <p:cNvPr id="4" name="Text Placeholder 3">
            <a:extLst>
              <a:ext uri="{FF2B5EF4-FFF2-40B4-BE49-F238E27FC236}">
                <a16:creationId xmlns:a16="http://schemas.microsoft.com/office/drawing/2014/main" id="{BE6FAC13-C279-F377-A22D-0ABF9C226D00}"/>
              </a:ext>
            </a:extLst>
          </p:cNvPr>
          <p:cNvSpPr>
            <a:spLocks noGrp="1"/>
          </p:cNvSpPr>
          <p:nvPr>
            <p:ph type="body" sz="half" idx="2"/>
          </p:nvPr>
        </p:nvSpPr>
        <p:spPr>
          <a:xfrm>
            <a:off x="685800" y="1545771"/>
            <a:ext cx="10820400" cy="4672913"/>
          </a:xfrm>
        </p:spPr>
        <p:txBody>
          <a:bodyPr>
            <a:normAutofit lnSpcReduction="10000"/>
          </a:bodyPr>
          <a:lstStyle/>
          <a:p>
            <a:pPr marL="285750" indent="-285750">
              <a:buFont typeface="Wingdings" panose="05000000000000000000" pitchFamily="2" charset="2"/>
              <a:buChar char="ü"/>
            </a:pPr>
            <a:r>
              <a:rPr lang="en-IN" b="1" dirty="0"/>
              <a:t>Healthcare</a:t>
            </a:r>
          </a:p>
          <a:p>
            <a:r>
              <a:rPr lang="en-IN" dirty="0"/>
              <a:t>Hospitals collect patient data and convert it into medical reports to diagnose diseases and plan treatments.</a:t>
            </a:r>
          </a:p>
          <a:p>
            <a:pPr marL="285750" indent="-285750">
              <a:buFont typeface="Wingdings" panose="05000000000000000000" pitchFamily="2" charset="2"/>
              <a:buChar char="ü"/>
            </a:pPr>
            <a:r>
              <a:rPr lang="en-IN" b="1" dirty="0"/>
              <a:t>Education</a:t>
            </a:r>
          </a:p>
          <a:p>
            <a:r>
              <a:rPr lang="en-IN" dirty="0"/>
              <a:t>Schools use student attendance, marks, and performance data to evaluate academic progress and improve teaching methods.</a:t>
            </a:r>
          </a:p>
          <a:p>
            <a:pPr marL="285750" indent="-285750">
              <a:buFont typeface="Wingdings" panose="05000000000000000000" pitchFamily="2" charset="2"/>
              <a:buChar char="ü"/>
            </a:pPr>
            <a:r>
              <a:rPr lang="en-IN" b="1" dirty="0"/>
              <a:t>Banking</a:t>
            </a:r>
          </a:p>
          <a:p>
            <a:r>
              <a:rPr lang="en-IN" dirty="0"/>
              <a:t>Banks process transaction data to prepare account statements, detect fraud, and manage customer services.</a:t>
            </a:r>
          </a:p>
          <a:p>
            <a:pPr marL="285750" indent="-285750">
              <a:buFont typeface="Wingdings" panose="05000000000000000000" pitchFamily="2" charset="2"/>
              <a:buChar char="ü"/>
            </a:pPr>
            <a:r>
              <a:rPr lang="en-IN" b="1" dirty="0"/>
              <a:t>Retail</a:t>
            </a:r>
          </a:p>
          <a:p>
            <a:r>
              <a:rPr lang="en-IN" dirty="0"/>
              <a:t>Retail stores </a:t>
            </a:r>
            <a:r>
              <a:rPr lang="en-IN" dirty="0" err="1"/>
              <a:t>analyze</a:t>
            </a:r>
            <a:r>
              <a:rPr lang="en-IN" dirty="0"/>
              <a:t> sales data to forecast demand, manage inventory, and create promotional offers.</a:t>
            </a:r>
          </a:p>
          <a:p>
            <a:pPr marL="285750" indent="-285750">
              <a:buFont typeface="Wingdings" panose="05000000000000000000" pitchFamily="2" charset="2"/>
              <a:buChar char="ü"/>
            </a:pPr>
            <a:r>
              <a:rPr lang="en-IN" b="1" dirty="0"/>
              <a:t>Government</a:t>
            </a:r>
          </a:p>
          <a:p>
            <a:r>
              <a:rPr lang="en-IN" dirty="0"/>
              <a:t>Governments use census data to formulate policies, allocate resources, and plan public services.</a:t>
            </a:r>
          </a:p>
          <a:p>
            <a:pPr marL="285750" indent="-285750">
              <a:buFont typeface="Wingdings" panose="05000000000000000000" pitchFamily="2" charset="2"/>
              <a:buChar char="ü"/>
            </a:pPr>
            <a:r>
              <a:rPr lang="en-IN" b="1" dirty="0"/>
              <a:t>E-commerce</a:t>
            </a:r>
          </a:p>
          <a:p>
            <a:r>
              <a:rPr lang="en-IN" dirty="0"/>
              <a:t>Online shopping platforms </a:t>
            </a:r>
            <a:r>
              <a:rPr lang="en-IN" dirty="0" err="1"/>
              <a:t>analyze</a:t>
            </a:r>
            <a:r>
              <a:rPr lang="en-IN" dirty="0"/>
              <a:t> customer browsing and purchasing </a:t>
            </a:r>
            <a:r>
              <a:rPr lang="en-IN" dirty="0" err="1"/>
              <a:t>behavior</a:t>
            </a:r>
            <a:r>
              <a:rPr lang="en-IN" dirty="0"/>
              <a:t> to recommend products and improve user experience.</a:t>
            </a:r>
          </a:p>
          <a:p>
            <a:endParaRPr lang="en-IN" dirty="0"/>
          </a:p>
        </p:txBody>
      </p:sp>
    </p:spTree>
    <p:extLst>
      <p:ext uri="{BB962C8B-B14F-4D97-AF65-F5344CB8AC3E}">
        <p14:creationId xmlns:p14="http://schemas.microsoft.com/office/powerpoint/2010/main" val="9827719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63FF3-F04B-ABD0-8723-C6ABDD02B89C}"/>
              </a:ext>
            </a:extLst>
          </p:cNvPr>
          <p:cNvSpPr>
            <a:spLocks noGrp="1"/>
          </p:cNvSpPr>
          <p:nvPr>
            <p:ph type="title"/>
          </p:nvPr>
        </p:nvSpPr>
        <p:spPr>
          <a:xfrm>
            <a:off x="2340428" y="1094188"/>
            <a:ext cx="10232571" cy="819355"/>
          </a:xfrm>
        </p:spPr>
        <p:txBody>
          <a:bodyPr>
            <a:normAutofit fontScale="90000"/>
          </a:bodyPr>
          <a:lstStyle/>
          <a:p>
            <a:r>
              <a:rPr lang="en-IN" b="1" u="sng" dirty="0"/>
              <a:t>Benefits of Information in Decision Making</a:t>
            </a:r>
            <a:br>
              <a:rPr lang="en-IN" b="1" dirty="0"/>
            </a:br>
            <a:endParaRPr lang="en-IN" dirty="0"/>
          </a:p>
        </p:txBody>
      </p:sp>
      <p:sp>
        <p:nvSpPr>
          <p:cNvPr id="4" name="Text Placeholder 3">
            <a:extLst>
              <a:ext uri="{FF2B5EF4-FFF2-40B4-BE49-F238E27FC236}">
                <a16:creationId xmlns:a16="http://schemas.microsoft.com/office/drawing/2014/main" id="{95CF643B-5753-3EEE-E1C0-CCCD72CD6885}"/>
              </a:ext>
            </a:extLst>
          </p:cNvPr>
          <p:cNvSpPr>
            <a:spLocks noGrp="1"/>
          </p:cNvSpPr>
          <p:nvPr>
            <p:ph type="body" sz="half" idx="2"/>
          </p:nvPr>
        </p:nvSpPr>
        <p:spPr>
          <a:xfrm>
            <a:off x="2677886" y="1913543"/>
            <a:ext cx="8828314" cy="4568726"/>
          </a:xfrm>
        </p:spPr>
        <p:txBody>
          <a:bodyPr/>
          <a:lstStyle/>
          <a:p>
            <a:pPr marL="285750" indent="-285750">
              <a:buFont typeface="Wingdings" panose="05000000000000000000" pitchFamily="2" charset="2"/>
              <a:buChar char="ü"/>
            </a:pPr>
            <a:r>
              <a:rPr lang="en-IN" dirty="0"/>
              <a:t>Improves business planning </a:t>
            </a:r>
          </a:p>
          <a:p>
            <a:pPr marL="285750" indent="-285750">
              <a:buFont typeface="Wingdings" panose="05000000000000000000" pitchFamily="2" charset="2"/>
              <a:buChar char="ü"/>
            </a:pPr>
            <a:r>
              <a:rPr lang="en-IN" dirty="0"/>
              <a:t>Enhances productivity </a:t>
            </a:r>
          </a:p>
          <a:p>
            <a:pPr marL="285750" indent="-285750">
              <a:buFont typeface="Wingdings" panose="05000000000000000000" pitchFamily="2" charset="2"/>
              <a:buChar char="ü"/>
            </a:pPr>
            <a:r>
              <a:rPr lang="en-IN" dirty="0"/>
              <a:t>Reduces operational costs </a:t>
            </a:r>
          </a:p>
          <a:p>
            <a:pPr marL="285750" indent="-285750">
              <a:buFont typeface="Wingdings" panose="05000000000000000000" pitchFamily="2" charset="2"/>
              <a:buChar char="ü"/>
            </a:pPr>
            <a:r>
              <a:rPr lang="en-IN" dirty="0"/>
              <a:t>Supports strategic planning </a:t>
            </a:r>
          </a:p>
          <a:p>
            <a:pPr marL="285750" indent="-285750">
              <a:buFont typeface="Wingdings" panose="05000000000000000000" pitchFamily="2" charset="2"/>
              <a:buChar char="ü"/>
            </a:pPr>
            <a:r>
              <a:rPr lang="en-IN" dirty="0"/>
              <a:t>Increases customer satisfaction </a:t>
            </a:r>
          </a:p>
          <a:p>
            <a:pPr marL="285750" indent="-285750">
              <a:buFont typeface="Wingdings" panose="05000000000000000000" pitchFamily="2" charset="2"/>
              <a:buChar char="ü"/>
            </a:pPr>
            <a:r>
              <a:rPr lang="en-IN" dirty="0"/>
              <a:t>Improves resource allocation </a:t>
            </a:r>
          </a:p>
          <a:p>
            <a:pPr marL="285750" indent="-285750">
              <a:buFont typeface="Wingdings" panose="05000000000000000000" pitchFamily="2" charset="2"/>
              <a:buChar char="ü"/>
            </a:pPr>
            <a:r>
              <a:rPr lang="en-IN" dirty="0"/>
              <a:t>Helps identify market trends </a:t>
            </a:r>
          </a:p>
          <a:p>
            <a:pPr marL="285750" indent="-285750">
              <a:buFont typeface="Wingdings" panose="05000000000000000000" pitchFamily="2" charset="2"/>
              <a:buChar char="ü"/>
            </a:pPr>
            <a:r>
              <a:rPr lang="en-IN" dirty="0"/>
              <a:t>Reduces risks and uncertainties </a:t>
            </a:r>
          </a:p>
          <a:p>
            <a:pPr marL="285750" indent="-285750">
              <a:buFont typeface="Wingdings" panose="05000000000000000000" pitchFamily="2" charset="2"/>
              <a:buChar char="ü"/>
            </a:pPr>
            <a:r>
              <a:rPr lang="en-IN" dirty="0"/>
              <a:t>Provides competitive advantage </a:t>
            </a:r>
          </a:p>
          <a:p>
            <a:pPr marL="285750" indent="-285750">
              <a:buFont typeface="Wingdings" panose="05000000000000000000" pitchFamily="2" charset="2"/>
              <a:buChar char="ü"/>
            </a:pPr>
            <a:r>
              <a:rPr lang="en-IN" dirty="0"/>
              <a:t>Supports organizational growth</a:t>
            </a:r>
          </a:p>
          <a:p>
            <a:endParaRPr lang="en-IN" dirty="0"/>
          </a:p>
        </p:txBody>
      </p:sp>
    </p:spTree>
    <p:extLst>
      <p:ext uri="{BB962C8B-B14F-4D97-AF65-F5344CB8AC3E}">
        <p14:creationId xmlns:p14="http://schemas.microsoft.com/office/powerpoint/2010/main" val="19019595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B9CBD-A009-A062-83F3-CF39B1B09381}"/>
              </a:ext>
            </a:extLst>
          </p:cNvPr>
          <p:cNvSpPr>
            <a:spLocks noGrp="1"/>
          </p:cNvSpPr>
          <p:nvPr>
            <p:ph type="title"/>
          </p:nvPr>
        </p:nvSpPr>
        <p:spPr>
          <a:xfrm>
            <a:off x="2229960" y="1216258"/>
            <a:ext cx="9276240" cy="830255"/>
          </a:xfrm>
        </p:spPr>
        <p:txBody>
          <a:bodyPr>
            <a:normAutofit fontScale="90000"/>
          </a:bodyPr>
          <a:lstStyle/>
          <a:p>
            <a:r>
              <a:rPr lang="en-IN" b="1" dirty="0"/>
              <a:t>5. Overview of Data-Driven Decision Making</a:t>
            </a:r>
            <a:br>
              <a:rPr lang="en-IN" b="1" dirty="0"/>
            </a:br>
            <a:endParaRPr lang="en-IN" dirty="0"/>
          </a:p>
        </p:txBody>
      </p:sp>
      <p:sp>
        <p:nvSpPr>
          <p:cNvPr id="4" name="Text Placeholder 3">
            <a:extLst>
              <a:ext uri="{FF2B5EF4-FFF2-40B4-BE49-F238E27FC236}">
                <a16:creationId xmlns:a16="http://schemas.microsoft.com/office/drawing/2014/main" id="{84268AC6-FEA4-F940-38E3-19FBC6F772AB}"/>
              </a:ext>
            </a:extLst>
          </p:cNvPr>
          <p:cNvSpPr>
            <a:spLocks noGrp="1"/>
          </p:cNvSpPr>
          <p:nvPr>
            <p:ph type="body" sz="half" idx="2"/>
          </p:nvPr>
        </p:nvSpPr>
        <p:spPr>
          <a:xfrm>
            <a:off x="685800" y="2231571"/>
            <a:ext cx="10820400" cy="3987113"/>
          </a:xfrm>
        </p:spPr>
        <p:txBody>
          <a:bodyPr/>
          <a:lstStyle/>
          <a:p>
            <a:r>
              <a:rPr lang="en-IN" sz="2800" b="1" u="sng" dirty="0"/>
              <a:t>Introduction</a:t>
            </a:r>
          </a:p>
          <a:p>
            <a:endParaRPr lang="en-IN" sz="2800" b="1" u="sng" dirty="0"/>
          </a:p>
          <a:p>
            <a:r>
              <a:rPr lang="en-IN" sz="2000" b="1" dirty="0"/>
              <a:t>Data-Driven Decision Making (DDDM)</a:t>
            </a:r>
            <a:r>
              <a:rPr lang="en-IN" sz="2000" dirty="0"/>
              <a:t> is the process of making business decisions based on data analysis rather than intuition or assumptions. Organizations collect, </a:t>
            </a:r>
            <a:r>
              <a:rPr lang="en-IN" sz="2000" dirty="0" err="1"/>
              <a:t>analyze</a:t>
            </a:r>
            <a:r>
              <a:rPr lang="en-IN" sz="2000" dirty="0"/>
              <a:t>, and interpret data to identify trends, solve problems, and improve business performance.</a:t>
            </a:r>
          </a:p>
          <a:p>
            <a:endParaRPr lang="en-IN" dirty="0"/>
          </a:p>
        </p:txBody>
      </p:sp>
    </p:spTree>
    <p:extLst>
      <p:ext uri="{BB962C8B-B14F-4D97-AF65-F5344CB8AC3E}">
        <p14:creationId xmlns:p14="http://schemas.microsoft.com/office/powerpoint/2010/main" val="9058712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F79BAC-5454-BAC6-271D-A54482B26D6F}"/>
              </a:ext>
            </a:extLst>
          </p:cNvPr>
          <p:cNvSpPr>
            <a:spLocks noGrp="1"/>
          </p:cNvSpPr>
          <p:nvPr>
            <p:ph type="title"/>
          </p:nvPr>
        </p:nvSpPr>
        <p:spPr>
          <a:xfrm>
            <a:off x="2895600" y="762000"/>
            <a:ext cx="8610600" cy="326571"/>
          </a:xfrm>
        </p:spPr>
        <p:txBody>
          <a:bodyPr>
            <a:normAutofit fontScale="90000"/>
          </a:bodyPr>
          <a:lstStyle/>
          <a:p>
            <a:r>
              <a:rPr lang="en-IN" dirty="0">
                <a:solidFill>
                  <a:schemeClr val="bg1"/>
                </a:solidFill>
              </a:rPr>
              <a:t>.</a:t>
            </a:r>
          </a:p>
        </p:txBody>
      </p:sp>
      <p:sp>
        <p:nvSpPr>
          <p:cNvPr id="5" name="Text Placeholder 4">
            <a:extLst>
              <a:ext uri="{FF2B5EF4-FFF2-40B4-BE49-F238E27FC236}">
                <a16:creationId xmlns:a16="http://schemas.microsoft.com/office/drawing/2014/main" id="{F5B47223-2B3A-E22F-A4B4-D436791106A6}"/>
              </a:ext>
            </a:extLst>
          </p:cNvPr>
          <p:cNvSpPr>
            <a:spLocks noGrp="1"/>
          </p:cNvSpPr>
          <p:nvPr>
            <p:ph type="body" idx="1"/>
          </p:nvPr>
        </p:nvSpPr>
        <p:spPr/>
        <p:txBody>
          <a:bodyPr>
            <a:normAutofit lnSpcReduction="10000"/>
          </a:bodyPr>
          <a:lstStyle/>
          <a:p>
            <a:r>
              <a:rPr lang="en-IN" b="1" dirty="0"/>
              <a:t>A</a:t>
            </a:r>
            <a:r>
              <a:rPr lang="en-IN" b="1" u="sng" dirty="0"/>
              <a:t>. Principles of Data-Driven Decision Making</a:t>
            </a:r>
          </a:p>
          <a:p>
            <a:endParaRPr lang="en-IN" dirty="0"/>
          </a:p>
        </p:txBody>
      </p:sp>
      <p:sp>
        <p:nvSpPr>
          <p:cNvPr id="6" name="Content Placeholder 5">
            <a:extLst>
              <a:ext uri="{FF2B5EF4-FFF2-40B4-BE49-F238E27FC236}">
                <a16:creationId xmlns:a16="http://schemas.microsoft.com/office/drawing/2014/main" id="{29D4DE42-F656-53EF-6534-C5E49971B748}"/>
              </a:ext>
            </a:extLst>
          </p:cNvPr>
          <p:cNvSpPr>
            <a:spLocks noGrp="1"/>
          </p:cNvSpPr>
          <p:nvPr>
            <p:ph sz="half" idx="2"/>
          </p:nvPr>
        </p:nvSpPr>
        <p:spPr>
          <a:xfrm>
            <a:off x="685800" y="2732314"/>
            <a:ext cx="5311775" cy="3486371"/>
          </a:xfrm>
        </p:spPr>
        <p:txBody>
          <a:bodyPr>
            <a:normAutofit fontScale="85000" lnSpcReduction="20000"/>
          </a:bodyPr>
          <a:lstStyle/>
          <a:p>
            <a:pPr marL="0" indent="0">
              <a:buNone/>
            </a:pPr>
            <a:r>
              <a:rPr lang="en-IN" dirty="0"/>
              <a:t>The key principles of DDDM include:</a:t>
            </a:r>
          </a:p>
          <a:p>
            <a:r>
              <a:rPr lang="en-IN" b="1" dirty="0"/>
              <a:t>Data Accuracy:</a:t>
            </a:r>
            <a:r>
              <a:rPr lang="en-IN" dirty="0"/>
              <a:t> Decisions should be based on accurate and reliable data. </a:t>
            </a:r>
          </a:p>
          <a:p>
            <a:r>
              <a:rPr lang="en-IN" b="1" dirty="0"/>
              <a:t>Evidence-Based Decisions:</a:t>
            </a:r>
            <a:r>
              <a:rPr lang="en-IN" dirty="0"/>
              <a:t> Use facts and analysis instead of guesswork. </a:t>
            </a:r>
          </a:p>
          <a:p>
            <a:r>
              <a:rPr lang="en-IN" b="1" dirty="0"/>
              <a:t>Timeliness:</a:t>
            </a:r>
            <a:r>
              <a:rPr lang="en-IN" dirty="0"/>
              <a:t> Use up-to-date information for effective decisions. </a:t>
            </a:r>
          </a:p>
          <a:p>
            <a:r>
              <a:rPr lang="en-IN" b="1" dirty="0"/>
              <a:t>Objectivity:</a:t>
            </a:r>
            <a:r>
              <a:rPr lang="en-IN" dirty="0"/>
              <a:t> Minimize personal bias by relying on data. </a:t>
            </a:r>
          </a:p>
          <a:p>
            <a:r>
              <a:rPr lang="en-IN" b="1" dirty="0"/>
              <a:t>Continuous Improvement:</a:t>
            </a:r>
            <a:r>
              <a:rPr lang="en-IN" dirty="0"/>
              <a:t> Regularly evaluate outcomes and improve processes.</a:t>
            </a:r>
          </a:p>
          <a:p>
            <a:endParaRPr lang="en-IN" dirty="0"/>
          </a:p>
        </p:txBody>
      </p:sp>
      <p:sp>
        <p:nvSpPr>
          <p:cNvPr id="7" name="Text Placeholder 6">
            <a:extLst>
              <a:ext uri="{FF2B5EF4-FFF2-40B4-BE49-F238E27FC236}">
                <a16:creationId xmlns:a16="http://schemas.microsoft.com/office/drawing/2014/main" id="{15A1E0C6-66EE-3D3D-6935-26815CF364EA}"/>
              </a:ext>
            </a:extLst>
          </p:cNvPr>
          <p:cNvSpPr>
            <a:spLocks noGrp="1"/>
          </p:cNvSpPr>
          <p:nvPr>
            <p:ph type="body" sz="quarter" idx="3"/>
          </p:nvPr>
        </p:nvSpPr>
        <p:spPr/>
        <p:txBody>
          <a:bodyPr>
            <a:normAutofit lnSpcReduction="10000"/>
          </a:bodyPr>
          <a:lstStyle/>
          <a:p>
            <a:r>
              <a:rPr lang="en-IN" b="1" dirty="0"/>
              <a:t>B</a:t>
            </a:r>
            <a:r>
              <a:rPr lang="en-IN" b="1" u="sng" dirty="0"/>
              <a:t>. Benefits of Using Data for Decisions</a:t>
            </a:r>
          </a:p>
          <a:p>
            <a:endParaRPr lang="en-IN" dirty="0"/>
          </a:p>
        </p:txBody>
      </p:sp>
      <p:sp>
        <p:nvSpPr>
          <p:cNvPr id="8" name="Content Placeholder 7">
            <a:extLst>
              <a:ext uri="{FF2B5EF4-FFF2-40B4-BE49-F238E27FC236}">
                <a16:creationId xmlns:a16="http://schemas.microsoft.com/office/drawing/2014/main" id="{C2D107C4-6FD5-3659-B703-DC267C7223B9}"/>
              </a:ext>
            </a:extLst>
          </p:cNvPr>
          <p:cNvSpPr>
            <a:spLocks noGrp="1"/>
          </p:cNvSpPr>
          <p:nvPr>
            <p:ph sz="quarter" idx="4"/>
          </p:nvPr>
        </p:nvSpPr>
        <p:spPr>
          <a:xfrm>
            <a:off x="6172200" y="2732314"/>
            <a:ext cx="5334000" cy="3486371"/>
          </a:xfrm>
        </p:spPr>
        <p:txBody>
          <a:bodyPr>
            <a:normAutofit fontScale="85000" lnSpcReduction="20000"/>
          </a:bodyPr>
          <a:lstStyle/>
          <a:p>
            <a:pPr marL="0" indent="0">
              <a:buNone/>
            </a:pPr>
            <a:r>
              <a:rPr lang="en-IN" dirty="0"/>
              <a:t>Using data in decision-making provides several advantages:</a:t>
            </a:r>
          </a:p>
          <a:p>
            <a:r>
              <a:rPr lang="en-IN" dirty="0"/>
              <a:t>Improves decision accuracy. </a:t>
            </a:r>
          </a:p>
          <a:p>
            <a:r>
              <a:rPr lang="en-IN" dirty="0"/>
              <a:t>Reduces business risks. </a:t>
            </a:r>
          </a:p>
          <a:p>
            <a:r>
              <a:rPr lang="en-IN" dirty="0"/>
              <a:t>Enhances operational efficiency. </a:t>
            </a:r>
          </a:p>
          <a:p>
            <a:r>
              <a:rPr lang="en-IN" dirty="0"/>
              <a:t>Helps identify trends and opportunities. </a:t>
            </a:r>
          </a:p>
          <a:p>
            <a:r>
              <a:rPr lang="en-IN" dirty="0"/>
              <a:t>Improves customer satisfaction. </a:t>
            </a:r>
          </a:p>
          <a:p>
            <a:r>
              <a:rPr lang="en-IN" dirty="0"/>
              <a:t>Supports better strategic planning. </a:t>
            </a:r>
          </a:p>
          <a:p>
            <a:r>
              <a:rPr lang="en-IN" dirty="0"/>
              <a:t>Increases competitiveness and profitability.</a:t>
            </a:r>
          </a:p>
          <a:p>
            <a:endParaRPr lang="en-IN" dirty="0"/>
          </a:p>
        </p:txBody>
      </p:sp>
    </p:spTree>
    <p:extLst>
      <p:ext uri="{BB962C8B-B14F-4D97-AF65-F5344CB8AC3E}">
        <p14:creationId xmlns:p14="http://schemas.microsoft.com/office/powerpoint/2010/main" val="19533175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F6AD38-ED9F-4ACA-3CAB-F1DEF76EDCC9}"/>
              </a:ext>
            </a:extLst>
          </p:cNvPr>
          <p:cNvSpPr>
            <a:spLocks noGrp="1"/>
          </p:cNvSpPr>
          <p:nvPr>
            <p:ph type="title"/>
          </p:nvPr>
        </p:nvSpPr>
        <p:spPr>
          <a:xfrm>
            <a:off x="2895600" y="762000"/>
            <a:ext cx="8610600" cy="304800"/>
          </a:xfrm>
        </p:spPr>
        <p:txBody>
          <a:bodyPr>
            <a:normAutofit fontScale="90000"/>
          </a:bodyPr>
          <a:lstStyle/>
          <a:p>
            <a:r>
              <a:rPr lang="en-IN" dirty="0">
                <a:solidFill>
                  <a:schemeClr val="bg1"/>
                </a:solidFill>
              </a:rPr>
              <a:t>.</a:t>
            </a:r>
          </a:p>
        </p:txBody>
      </p:sp>
      <p:sp>
        <p:nvSpPr>
          <p:cNvPr id="5" name="Text Placeholder 4">
            <a:extLst>
              <a:ext uri="{FF2B5EF4-FFF2-40B4-BE49-F238E27FC236}">
                <a16:creationId xmlns:a16="http://schemas.microsoft.com/office/drawing/2014/main" id="{83ED250B-2F16-54BA-2B62-D2103C2A9024}"/>
              </a:ext>
            </a:extLst>
          </p:cNvPr>
          <p:cNvSpPr>
            <a:spLocks noGrp="1"/>
          </p:cNvSpPr>
          <p:nvPr>
            <p:ph type="body" idx="1"/>
          </p:nvPr>
        </p:nvSpPr>
        <p:spPr>
          <a:xfrm>
            <a:off x="914409" y="2183802"/>
            <a:ext cx="5079991" cy="406998"/>
          </a:xfrm>
        </p:spPr>
        <p:txBody>
          <a:bodyPr>
            <a:noAutofit/>
          </a:bodyPr>
          <a:lstStyle/>
          <a:p>
            <a:r>
              <a:rPr lang="en-IN" sz="2400" b="1" u="sng" dirty="0"/>
              <a:t>C. Steps in the Data-Driven Decision Process</a:t>
            </a:r>
            <a:endParaRPr lang="en-IN" sz="2400" u="sng" dirty="0"/>
          </a:p>
        </p:txBody>
      </p:sp>
      <p:sp>
        <p:nvSpPr>
          <p:cNvPr id="6" name="Content Placeholder 5">
            <a:extLst>
              <a:ext uri="{FF2B5EF4-FFF2-40B4-BE49-F238E27FC236}">
                <a16:creationId xmlns:a16="http://schemas.microsoft.com/office/drawing/2014/main" id="{D24028B3-A957-A441-8538-8812859E15AB}"/>
              </a:ext>
            </a:extLst>
          </p:cNvPr>
          <p:cNvSpPr>
            <a:spLocks noGrp="1"/>
          </p:cNvSpPr>
          <p:nvPr>
            <p:ph sz="half" idx="2"/>
          </p:nvPr>
        </p:nvSpPr>
        <p:spPr>
          <a:xfrm>
            <a:off x="685800" y="2677886"/>
            <a:ext cx="5311775" cy="4016828"/>
          </a:xfrm>
        </p:spPr>
        <p:txBody>
          <a:bodyPr>
            <a:normAutofit fontScale="77500" lnSpcReduction="20000"/>
          </a:bodyPr>
          <a:lstStyle/>
          <a:p>
            <a:endParaRPr lang="en-IN" b="1" dirty="0"/>
          </a:p>
          <a:p>
            <a:pPr marL="0" indent="0">
              <a:buNone/>
            </a:pPr>
            <a:r>
              <a:rPr lang="en-IN" dirty="0"/>
              <a:t>The typical process includes:</a:t>
            </a:r>
          </a:p>
          <a:p>
            <a:r>
              <a:rPr lang="en-IN" b="1" dirty="0"/>
              <a:t>Define the Problem</a:t>
            </a:r>
            <a:r>
              <a:rPr lang="en-IN" dirty="0"/>
              <a:t> – Identify the business issue or objective. </a:t>
            </a:r>
          </a:p>
          <a:p>
            <a:r>
              <a:rPr lang="en-IN" b="1" dirty="0"/>
              <a:t>Collect Data</a:t>
            </a:r>
            <a:r>
              <a:rPr lang="en-IN" dirty="0"/>
              <a:t> – Gather relevant data from reliable sources. </a:t>
            </a:r>
          </a:p>
          <a:p>
            <a:r>
              <a:rPr lang="en-IN" b="1" dirty="0" err="1"/>
              <a:t>Analyze</a:t>
            </a:r>
            <a:r>
              <a:rPr lang="en-IN" b="1" dirty="0"/>
              <a:t> Data</a:t>
            </a:r>
            <a:r>
              <a:rPr lang="en-IN" dirty="0"/>
              <a:t> – Use analytical tools to identify patterns and insights. </a:t>
            </a:r>
          </a:p>
          <a:p>
            <a:r>
              <a:rPr lang="en-IN" b="1" dirty="0"/>
              <a:t>Interpret Results</a:t>
            </a:r>
            <a:r>
              <a:rPr lang="en-IN" dirty="0"/>
              <a:t> – Draw meaningful conclusions from the analysis. </a:t>
            </a:r>
          </a:p>
          <a:p>
            <a:r>
              <a:rPr lang="en-IN" b="1" dirty="0"/>
              <a:t>Make Decisions</a:t>
            </a:r>
            <a:r>
              <a:rPr lang="en-IN" dirty="0"/>
              <a:t> – Choose the best course of action based on the findings. </a:t>
            </a:r>
          </a:p>
          <a:p>
            <a:r>
              <a:rPr lang="en-IN" b="1" dirty="0"/>
              <a:t>Implement and Monitor</a:t>
            </a:r>
            <a:r>
              <a:rPr lang="en-IN" dirty="0"/>
              <a:t> – Execute the decision and evaluate its effectiveness. </a:t>
            </a:r>
          </a:p>
          <a:p>
            <a:br>
              <a:rPr lang="en-IN" dirty="0"/>
            </a:br>
            <a:endParaRPr lang="en-IN" dirty="0"/>
          </a:p>
          <a:p>
            <a:endParaRPr lang="en-IN" dirty="0"/>
          </a:p>
        </p:txBody>
      </p:sp>
      <p:sp>
        <p:nvSpPr>
          <p:cNvPr id="7" name="Text Placeholder 6">
            <a:extLst>
              <a:ext uri="{FF2B5EF4-FFF2-40B4-BE49-F238E27FC236}">
                <a16:creationId xmlns:a16="http://schemas.microsoft.com/office/drawing/2014/main" id="{1404B613-D322-17C2-EBC3-08F4F367FBEB}"/>
              </a:ext>
            </a:extLst>
          </p:cNvPr>
          <p:cNvSpPr>
            <a:spLocks noGrp="1"/>
          </p:cNvSpPr>
          <p:nvPr>
            <p:ph type="body" sz="quarter" idx="3"/>
          </p:nvPr>
        </p:nvSpPr>
        <p:spPr/>
        <p:txBody>
          <a:bodyPr>
            <a:normAutofit fontScale="77500" lnSpcReduction="20000"/>
          </a:bodyPr>
          <a:lstStyle/>
          <a:p>
            <a:r>
              <a:rPr lang="en-IN" sz="3800" b="1" u="sng" dirty="0"/>
              <a:t>D. Challenges and Pitfalls in Data-Driven Approaches</a:t>
            </a:r>
          </a:p>
          <a:p>
            <a:endParaRPr lang="en-IN" dirty="0"/>
          </a:p>
        </p:txBody>
      </p:sp>
      <p:sp>
        <p:nvSpPr>
          <p:cNvPr id="8" name="Content Placeholder 7">
            <a:extLst>
              <a:ext uri="{FF2B5EF4-FFF2-40B4-BE49-F238E27FC236}">
                <a16:creationId xmlns:a16="http://schemas.microsoft.com/office/drawing/2014/main" id="{7F389741-5EB5-C8A2-A760-96CB19D14427}"/>
              </a:ext>
            </a:extLst>
          </p:cNvPr>
          <p:cNvSpPr>
            <a:spLocks noGrp="1"/>
          </p:cNvSpPr>
          <p:nvPr>
            <p:ph sz="quarter" idx="4"/>
          </p:nvPr>
        </p:nvSpPr>
        <p:spPr>
          <a:xfrm>
            <a:off x="6172200" y="3007714"/>
            <a:ext cx="5334000" cy="3610800"/>
          </a:xfrm>
        </p:spPr>
        <p:txBody>
          <a:bodyPr>
            <a:normAutofit fontScale="77500" lnSpcReduction="20000"/>
          </a:bodyPr>
          <a:lstStyle/>
          <a:p>
            <a:pPr marL="0" indent="0">
              <a:buNone/>
            </a:pPr>
            <a:r>
              <a:rPr lang="en-IN" dirty="0"/>
              <a:t>Organizations may face several challenges when using data for decision-making:</a:t>
            </a:r>
          </a:p>
          <a:p>
            <a:r>
              <a:rPr lang="en-IN" dirty="0"/>
              <a:t>Poor-quality or inaccurate data. </a:t>
            </a:r>
          </a:p>
          <a:p>
            <a:r>
              <a:rPr lang="en-IN" dirty="0"/>
              <a:t>Incomplete or outdated information. </a:t>
            </a:r>
          </a:p>
          <a:p>
            <a:r>
              <a:rPr lang="en-IN" dirty="0"/>
              <a:t>Data privacy and security concerns. </a:t>
            </a:r>
          </a:p>
          <a:p>
            <a:r>
              <a:rPr lang="en-IN" dirty="0"/>
              <a:t>Bias in data collection or analysis. </a:t>
            </a:r>
          </a:p>
          <a:p>
            <a:r>
              <a:rPr lang="en-IN" dirty="0"/>
              <a:t>Lack of skilled professionals. </a:t>
            </a:r>
          </a:p>
          <a:p>
            <a:r>
              <a:rPr lang="en-IN" dirty="0"/>
              <a:t>Overreliance on data without considering business experience. </a:t>
            </a:r>
          </a:p>
          <a:p>
            <a:r>
              <a:rPr lang="en-IN" dirty="0"/>
              <a:t>Difficulty integrating data from multiple sources.</a:t>
            </a:r>
          </a:p>
          <a:p>
            <a:endParaRPr lang="en-IN" dirty="0"/>
          </a:p>
        </p:txBody>
      </p:sp>
    </p:spTree>
    <p:extLst>
      <p:ext uri="{BB962C8B-B14F-4D97-AF65-F5344CB8AC3E}">
        <p14:creationId xmlns:p14="http://schemas.microsoft.com/office/powerpoint/2010/main" val="35137490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6E91-6324-6632-F02D-448DBA198118}"/>
              </a:ext>
            </a:extLst>
          </p:cNvPr>
          <p:cNvSpPr>
            <a:spLocks noGrp="1"/>
          </p:cNvSpPr>
          <p:nvPr>
            <p:ph type="title"/>
          </p:nvPr>
        </p:nvSpPr>
        <p:spPr>
          <a:xfrm>
            <a:off x="685800" y="753533"/>
            <a:ext cx="10820400" cy="1151468"/>
          </a:xfrm>
        </p:spPr>
        <p:txBody>
          <a:bodyPr/>
          <a:lstStyle/>
          <a:p>
            <a:r>
              <a:rPr lang="en-IN" b="1" u="sng" dirty="0"/>
              <a:t>Case Discussions / Real-Life Examples</a:t>
            </a:r>
            <a:br>
              <a:rPr lang="en-IN" b="1" dirty="0"/>
            </a:br>
            <a:endParaRPr lang="en-IN" dirty="0"/>
          </a:p>
        </p:txBody>
      </p:sp>
      <p:sp>
        <p:nvSpPr>
          <p:cNvPr id="3" name="Text Placeholder 2">
            <a:extLst>
              <a:ext uri="{FF2B5EF4-FFF2-40B4-BE49-F238E27FC236}">
                <a16:creationId xmlns:a16="http://schemas.microsoft.com/office/drawing/2014/main" id="{E75CD2C7-58E0-11C1-6A02-49E0AD003DF5}"/>
              </a:ext>
            </a:extLst>
          </p:cNvPr>
          <p:cNvSpPr>
            <a:spLocks noGrp="1"/>
          </p:cNvSpPr>
          <p:nvPr>
            <p:ph type="body" sz="half" idx="2"/>
          </p:nvPr>
        </p:nvSpPr>
        <p:spPr>
          <a:xfrm>
            <a:off x="1153885" y="1905001"/>
            <a:ext cx="10001097" cy="3744685"/>
          </a:xfrm>
        </p:spPr>
        <p:txBody>
          <a:bodyPr>
            <a:normAutofit lnSpcReduction="10000"/>
          </a:bodyPr>
          <a:lstStyle/>
          <a:p>
            <a:r>
              <a:rPr lang="en-IN" sz="2400" b="1" u="sng" dirty="0"/>
              <a:t>A. Analysis of Business Scenarios (Brief Overview</a:t>
            </a:r>
            <a:r>
              <a:rPr lang="en-IN" b="1" dirty="0"/>
              <a:t>)</a:t>
            </a:r>
          </a:p>
          <a:p>
            <a:r>
              <a:rPr lang="en-IN" b="1" dirty="0"/>
              <a:t>Business Scenario Analysis</a:t>
            </a:r>
            <a:r>
              <a:rPr lang="en-IN" dirty="0"/>
              <a:t> is the process of examining real-life business situations to identify problems, understand their causes, evaluate possible solutions, and recommend the best course of action. It helps Business Analysts and managers make informed decisions based on facts and data.</a:t>
            </a:r>
          </a:p>
          <a:p>
            <a:endParaRPr lang="en-IN" dirty="0"/>
          </a:p>
          <a:p>
            <a:r>
              <a:rPr lang="en-IN" b="1" dirty="0"/>
              <a:t>Steps in </a:t>
            </a:r>
            <a:r>
              <a:rPr lang="en-IN" b="1" dirty="0" err="1"/>
              <a:t>Analyzing</a:t>
            </a:r>
            <a:r>
              <a:rPr lang="en-IN" b="1" dirty="0"/>
              <a:t> a Business Scenario</a:t>
            </a:r>
          </a:p>
          <a:p>
            <a:pPr marL="285750" indent="-285750">
              <a:buFont typeface="Wingdings" panose="05000000000000000000" pitchFamily="2" charset="2"/>
              <a:buChar char="Ø"/>
            </a:pPr>
            <a:r>
              <a:rPr lang="en-IN" b="1" dirty="0"/>
              <a:t>Identify the Problem</a:t>
            </a:r>
            <a:r>
              <a:rPr lang="en-IN" dirty="0"/>
              <a:t> – Understand the issue affecting the business. </a:t>
            </a:r>
          </a:p>
          <a:p>
            <a:pPr marL="285750" indent="-285750">
              <a:buFont typeface="Wingdings" panose="05000000000000000000" pitchFamily="2" charset="2"/>
              <a:buChar char="Ø"/>
            </a:pPr>
            <a:r>
              <a:rPr lang="en-IN" b="1" dirty="0"/>
              <a:t>Gather Information</a:t>
            </a:r>
            <a:r>
              <a:rPr lang="en-IN" dirty="0"/>
              <a:t> – Collect relevant data from reports, customers, employees, or systems. </a:t>
            </a:r>
          </a:p>
          <a:p>
            <a:pPr marL="285750" indent="-285750">
              <a:buFont typeface="Wingdings" panose="05000000000000000000" pitchFamily="2" charset="2"/>
              <a:buChar char="Ø"/>
            </a:pPr>
            <a:r>
              <a:rPr lang="en-IN" b="1" dirty="0" err="1"/>
              <a:t>Analyze</a:t>
            </a:r>
            <a:r>
              <a:rPr lang="en-IN" b="1" dirty="0"/>
              <a:t> the Situation</a:t>
            </a:r>
            <a:r>
              <a:rPr lang="en-IN" dirty="0"/>
              <a:t> – Identify the root cause of the problem. </a:t>
            </a:r>
          </a:p>
          <a:p>
            <a:pPr marL="285750" indent="-285750">
              <a:buFont typeface="Wingdings" panose="05000000000000000000" pitchFamily="2" charset="2"/>
              <a:buChar char="Ø"/>
            </a:pPr>
            <a:r>
              <a:rPr lang="en-IN" b="1" dirty="0"/>
              <a:t>Develop Possible Solutions</a:t>
            </a:r>
            <a:r>
              <a:rPr lang="en-IN" dirty="0"/>
              <a:t> – Consider different ways to solve the problem. </a:t>
            </a:r>
          </a:p>
          <a:p>
            <a:pPr marL="285750" indent="-285750">
              <a:buFont typeface="Wingdings" panose="05000000000000000000" pitchFamily="2" charset="2"/>
              <a:buChar char="Ø"/>
            </a:pPr>
            <a:r>
              <a:rPr lang="en-IN" b="1" dirty="0"/>
              <a:t>Recommend the Best Solution</a:t>
            </a:r>
            <a:r>
              <a:rPr lang="en-IN" dirty="0"/>
              <a:t> – Choose the most effective and practical option. </a:t>
            </a:r>
          </a:p>
          <a:p>
            <a:pPr marL="285750" indent="-285750">
              <a:buFont typeface="Wingdings" panose="05000000000000000000" pitchFamily="2" charset="2"/>
              <a:buChar char="Ø"/>
            </a:pPr>
            <a:r>
              <a:rPr lang="en-IN" b="1" dirty="0"/>
              <a:t>Implement and Monitor</a:t>
            </a:r>
            <a:r>
              <a:rPr lang="en-IN" dirty="0"/>
              <a:t> – Apply the solution and evaluate its results.</a:t>
            </a:r>
          </a:p>
          <a:p>
            <a:endParaRPr lang="en-IN" dirty="0"/>
          </a:p>
        </p:txBody>
      </p:sp>
    </p:spTree>
    <p:extLst>
      <p:ext uri="{BB962C8B-B14F-4D97-AF65-F5344CB8AC3E}">
        <p14:creationId xmlns:p14="http://schemas.microsoft.com/office/powerpoint/2010/main" val="17736569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28F4C-BDE8-E541-9B4E-794A927CAB52}"/>
              </a:ext>
            </a:extLst>
          </p:cNvPr>
          <p:cNvSpPr>
            <a:spLocks noGrp="1"/>
          </p:cNvSpPr>
          <p:nvPr>
            <p:ph type="title"/>
          </p:nvPr>
        </p:nvSpPr>
        <p:spPr>
          <a:xfrm>
            <a:off x="685800" y="370114"/>
            <a:ext cx="10820400" cy="1317172"/>
          </a:xfrm>
        </p:spPr>
        <p:txBody>
          <a:bodyPr>
            <a:normAutofit/>
          </a:bodyPr>
          <a:lstStyle/>
          <a:p>
            <a:r>
              <a:rPr lang="en-IN" b="1" u="sng" dirty="0"/>
              <a:t>Real-Life Example 1: Retail Business</a:t>
            </a:r>
            <a:br>
              <a:rPr lang="en-IN" b="1" u="sng" dirty="0"/>
            </a:br>
            <a:endParaRPr lang="en-IN" u="sng" dirty="0"/>
          </a:p>
        </p:txBody>
      </p:sp>
      <p:sp>
        <p:nvSpPr>
          <p:cNvPr id="3" name="Text Placeholder 2">
            <a:extLst>
              <a:ext uri="{FF2B5EF4-FFF2-40B4-BE49-F238E27FC236}">
                <a16:creationId xmlns:a16="http://schemas.microsoft.com/office/drawing/2014/main" id="{78EBD779-D2C9-1AA2-E253-734B90C00237}"/>
              </a:ext>
            </a:extLst>
          </p:cNvPr>
          <p:cNvSpPr>
            <a:spLocks noGrp="1"/>
          </p:cNvSpPr>
          <p:nvPr>
            <p:ph type="body" sz="half" idx="2"/>
          </p:nvPr>
        </p:nvSpPr>
        <p:spPr>
          <a:xfrm>
            <a:off x="1030742" y="1371601"/>
            <a:ext cx="10130516" cy="3287486"/>
          </a:xfrm>
        </p:spPr>
        <p:txBody>
          <a:bodyPr/>
          <a:lstStyle/>
          <a:p>
            <a:r>
              <a:rPr lang="en-IN" sz="1800" b="1" dirty="0"/>
              <a:t>Scenario:</a:t>
            </a:r>
            <a:br>
              <a:rPr lang="en-IN" sz="1800" dirty="0"/>
            </a:br>
            <a:r>
              <a:rPr lang="en-IN" sz="1800" dirty="0"/>
              <a:t>A retail store notices that monthly sales have decreased by 20%.</a:t>
            </a:r>
          </a:p>
          <a:p>
            <a:endParaRPr lang="en-IN" sz="1800" dirty="0"/>
          </a:p>
          <a:p>
            <a:r>
              <a:rPr lang="en-IN" sz="1800" b="1" dirty="0"/>
              <a:t>Analysis:</a:t>
            </a:r>
            <a:endParaRPr lang="en-IN" sz="1800" dirty="0"/>
          </a:p>
          <a:p>
            <a:pPr marL="285750" indent="-285750">
              <a:buFont typeface="Wingdings" panose="05000000000000000000" pitchFamily="2" charset="2"/>
              <a:buChar char="ü"/>
            </a:pPr>
            <a:r>
              <a:rPr lang="en-IN" sz="1800" dirty="0"/>
              <a:t>The Business Analyst collects sales reports and customer feedback. </a:t>
            </a:r>
          </a:p>
          <a:p>
            <a:pPr marL="285750" indent="-285750">
              <a:buFont typeface="Wingdings" panose="05000000000000000000" pitchFamily="2" charset="2"/>
              <a:buChar char="ü"/>
            </a:pPr>
            <a:r>
              <a:rPr lang="en-IN" sz="1800" dirty="0"/>
              <a:t>Analysis shows that customers are dissatisfied with delayed deliveries. </a:t>
            </a:r>
          </a:p>
          <a:p>
            <a:pPr marL="285750" indent="-285750">
              <a:buFont typeface="Wingdings" panose="05000000000000000000" pitchFamily="2" charset="2"/>
              <a:buChar char="ü"/>
            </a:pPr>
            <a:r>
              <a:rPr lang="en-IN" sz="1800" dirty="0"/>
              <a:t>The company improves its delivery process and updates inventory management. </a:t>
            </a:r>
          </a:p>
          <a:p>
            <a:pPr marL="285750" indent="-285750">
              <a:buFont typeface="Wingdings" panose="05000000000000000000" pitchFamily="2" charset="2"/>
              <a:buChar char="ü"/>
            </a:pPr>
            <a:r>
              <a:rPr lang="en-IN" sz="1800" dirty="0"/>
              <a:t>As a result, customer satisfaction and sales improve.</a:t>
            </a:r>
          </a:p>
          <a:p>
            <a:endParaRPr lang="en-IN" dirty="0"/>
          </a:p>
        </p:txBody>
      </p:sp>
    </p:spTree>
    <p:extLst>
      <p:ext uri="{BB962C8B-B14F-4D97-AF65-F5344CB8AC3E}">
        <p14:creationId xmlns:p14="http://schemas.microsoft.com/office/powerpoint/2010/main" val="34792688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4A77-35D9-F265-685A-6A4FB5093D0F}"/>
              </a:ext>
            </a:extLst>
          </p:cNvPr>
          <p:cNvSpPr>
            <a:spLocks noGrp="1"/>
          </p:cNvSpPr>
          <p:nvPr>
            <p:ph type="title"/>
          </p:nvPr>
        </p:nvSpPr>
        <p:spPr>
          <a:xfrm>
            <a:off x="685800" y="753533"/>
            <a:ext cx="10820400" cy="672496"/>
          </a:xfrm>
        </p:spPr>
        <p:txBody>
          <a:bodyPr>
            <a:normAutofit fontScale="90000"/>
          </a:bodyPr>
          <a:lstStyle/>
          <a:p>
            <a:r>
              <a:rPr lang="en-IN" b="1" u="sng" dirty="0"/>
              <a:t>Real-Life Example 2: Banking Sector</a:t>
            </a:r>
            <a:br>
              <a:rPr lang="en-IN" b="1" dirty="0"/>
            </a:br>
            <a:endParaRPr lang="en-IN" dirty="0"/>
          </a:p>
        </p:txBody>
      </p:sp>
      <p:sp>
        <p:nvSpPr>
          <p:cNvPr id="3" name="Text Placeholder 2">
            <a:extLst>
              <a:ext uri="{FF2B5EF4-FFF2-40B4-BE49-F238E27FC236}">
                <a16:creationId xmlns:a16="http://schemas.microsoft.com/office/drawing/2014/main" id="{17601497-FC71-0233-1E98-18C7740B8B55}"/>
              </a:ext>
            </a:extLst>
          </p:cNvPr>
          <p:cNvSpPr>
            <a:spLocks noGrp="1"/>
          </p:cNvSpPr>
          <p:nvPr>
            <p:ph type="body" sz="half" idx="2"/>
          </p:nvPr>
        </p:nvSpPr>
        <p:spPr>
          <a:xfrm>
            <a:off x="1030742" y="1426029"/>
            <a:ext cx="10130516" cy="3712028"/>
          </a:xfrm>
        </p:spPr>
        <p:txBody>
          <a:bodyPr/>
          <a:lstStyle/>
          <a:p>
            <a:r>
              <a:rPr lang="en-IN" sz="2000" b="1" dirty="0"/>
              <a:t>Scenario:</a:t>
            </a:r>
            <a:br>
              <a:rPr lang="en-IN" sz="2000" dirty="0"/>
            </a:br>
            <a:r>
              <a:rPr lang="en-IN" sz="2000" dirty="0"/>
              <a:t>A bank receives a large number of customer complaints about long waiting times.</a:t>
            </a:r>
          </a:p>
          <a:p>
            <a:endParaRPr lang="en-IN" sz="2000" dirty="0"/>
          </a:p>
          <a:p>
            <a:r>
              <a:rPr lang="en-IN" sz="2000" b="1" dirty="0"/>
              <a:t>Analysis:</a:t>
            </a:r>
            <a:endParaRPr lang="en-IN" sz="2000" dirty="0"/>
          </a:p>
          <a:p>
            <a:pPr marL="342900" indent="-342900">
              <a:buFont typeface="Wingdings" panose="05000000000000000000" pitchFamily="2" charset="2"/>
              <a:buChar char="ü"/>
            </a:pPr>
            <a:r>
              <a:rPr lang="en-IN" sz="2000" dirty="0"/>
              <a:t>The Business Analyst studies customer service data and identifies staff shortages during peak hours. </a:t>
            </a:r>
          </a:p>
          <a:p>
            <a:pPr marL="342900" indent="-342900">
              <a:buFont typeface="Wingdings" panose="05000000000000000000" pitchFamily="2" charset="2"/>
              <a:buChar char="ü"/>
            </a:pPr>
            <a:r>
              <a:rPr lang="en-IN" sz="2000" dirty="0"/>
              <a:t>The bank introduces an online appointment system and increases staff during busy periods. </a:t>
            </a:r>
          </a:p>
          <a:p>
            <a:pPr marL="342900" indent="-342900">
              <a:buFont typeface="Wingdings" panose="05000000000000000000" pitchFamily="2" charset="2"/>
              <a:buChar char="ü"/>
            </a:pPr>
            <a:r>
              <a:rPr lang="en-IN" sz="2000" dirty="0"/>
              <a:t>Waiting times decrease, leading to higher customer satisfaction.</a:t>
            </a:r>
          </a:p>
          <a:p>
            <a:endParaRPr lang="en-IN" dirty="0"/>
          </a:p>
        </p:txBody>
      </p:sp>
    </p:spTree>
    <p:extLst>
      <p:ext uri="{BB962C8B-B14F-4D97-AF65-F5344CB8AC3E}">
        <p14:creationId xmlns:p14="http://schemas.microsoft.com/office/powerpoint/2010/main" val="24908476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FAD6C-6D11-0AA1-1F42-AD802018BCEF}"/>
              </a:ext>
            </a:extLst>
          </p:cNvPr>
          <p:cNvSpPr>
            <a:spLocks noGrp="1"/>
          </p:cNvSpPr>
          <p:nvPr>
            <p:ph type="title"/>
          </p:nvPr>
        </p:nvSpPr>
        <p:spPr>
          <a:xfrm>
            <a:off x="685800" y="753533"/>
            <a:ext cx="10820400" cy="1086154"/>
          </a:xfrm>
        </p:spPr>
        <p:txBody>
          <a:bodyPr/>
          <a:lstStyle/>
          <a:p>
            <a:r>
              <a:rPr lang="en-IN" b="1" u="sng" dirty="0"/>
              <a:t>Importance of Business Scenario Analysis</a:t>
            </a:r>
            <a:br>
              <a:rPr lang="en-IN" b="1" dirty="0"/>
            </a:br>
            <a:endParaRPr lang="en-IN" dirty="0"/>
          </a:p>
        </p:txBody>
      </p:sp>
      <p:sp>
        <p:nvSpPr>
          <p:cNvPr id="3" name="Text Placeholder 2">
            <a:extLst>
              <a:ext uri="{FF2B5EF4-FFF2-40B4-BE49-F238E27FC236}">
                <a16:creationId xmlns:a16="http://schemas.microsoft.com/office/drawing/2014/main" id="{0FEC4FA5-1BE7-5F47-582D-5D494BB47599}"/>
              </a:ext>
            </a:extLst>
          </p:cNvPr>
          <p:cNvSpPr>
            <a:spLocks noGrp="1"/>
          </p:cNvSpPr>
          <p:nvPr>
            <p:ph type="body" sz="half" idx="2"/>
          </p:nvPr>
        </p:nvSpPr>
        <p:spPr>
          <a:xfrm>
            <a:off x="1024467" y="1600200"/>
            <a:ext cx="10130516" cy="3646714"/>
          </a:xfrm>
        </p:spPr>
        <p:txBody>
          <a:bodyPr/>
          <a:lstStyle/>
          <a:p>
            <a:pPr marL="285750" indent="-285750">
              <a:buFont typeface="Wingdings" panose="05000000000000000000" pitchFamily="2" charset="2"/>
              <a:buChar char="Ø"/>
            </a:pPr>
            <a:r>
              <a:rPr lang="en-IN" sz="2400" dirty="0"/>
              <a:t>Helps identify business problems. </a:t>
            </a:r>
          </a:p>
          <a:p>
            <a:pPr marL="285750" indent="-285750">
              <a:buFont typeface="Wingdings" panose="05000000000000000000" pitchFamily="2" charset="2"/>
              <a:buChar char="Ø"/>
            </a:pPr>
            <a:r>
              <a:rPr lang="en-IN" sz="2400" dirty="0"/>
              <a:t>Supports informed decision-making. </a:t>
            </a:r>
          </a:p>
          <a:p>
            <a:pPr marL="285750" indent="-285750">
              <a:buFont typeface="Wingdings" panose="05000000000000000000" pitchFamily="2" charset="2"/>
              <a:buChar char="Ø"/>
            </a:pPr>
            <a:r>
              <a:rPr lang="en-IN" sz="2400" dirty="0"/>
              <a:t>Improves operational efficiency. </a:t>
            </a:r>
          </a:p>
          <a:p>
            <a:pPr marL="285750" indent="-285750">
              <a:buFont typeface="Wingdings" panose="05000000000000000000" pitchFamily="2" charset="2"/>
              <a:buChar char="Ø"/>
            </a:pPr>
            <a:r>
              <a:rPr lang="en-IN" sz="2400" dirty="0"/>
              <a:t>Reduces risks and costs. </a:t>
            </a:r>
          </a:p>
          <a:p>
            <a:pPr marL="285750" indent="-285750">
              <a:buFont typeface="Wingdings" panose="05000000000000000000" pitchFamily="2" charset="2"/>
              <a:buChar char="Ø"/>
            </a:pPr>
            <a:r>
              <a:rPr lang="en-IN" sz="2400" dirty="0"/>
              <a:t>Enhances customer satisfaction. </a:t>
            </a:r>
          </a:p>
          <a:p>
            <a:pPr marL="285750" indent="-285750">
              <a:buFont typeface="Wingdings" panose="05000000000000000000" pitchFamily="2" charset="2"/>
              <a:buChar char="Ø"/>
            </a:pPr>
            <a:r>
              <a:rPr lang="en-IN" sz="2400" dirty="0"/>
              <a:t>Increases business performance.</a:t>
            </a:r>
          </a:p>
          <a:p>
            <a:endParaRPr lang="en-IN" dirty="0"/>
          </a:p>
        </p:txBody>
      </p:sp>
    </p:spTree>
    <p:extLst>
      <p:ext uri="{BB962C8B-B14F-4D97-AF65-F5344CB8AC3E}">
        <p14:creationId xmlns:p14="http://schemas.microsoft.com/office/powerpoint/2010/main" val="30567803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FC9C-DEF6-116F-966A-66B4212A83DA}"/>
              </a:ext>
            </a:extLst>
          </p:cNvPr>
          <p:cNvSpPr>
            <a:spLocks noGrp="1"/>
          </p:cNvSpPr>
          <p:nvPr>
            <p:ph type="title"/>
          </p:nvPr>
        </p:nvSpPr>
        <p:spPr>
          <a:xfrm>
            <a:off x="1959428" y="753532"/>
            <a:ext cx="9546771" cy="1565125"/>
          </a:xfrm>
        </p:spPr>
        <p:txBody>
          <a:bodyPr/>
          <a:lstStyle/>
          <a:p>
            <a:r>
              <a:rPr lang="en-IN" b="1" u="sng" dirty="0"/>
              <a:t>Conclusion</a:t>
            </a:r>
            <a:br>
              <a:rPr lang="en-IN" b="1" u="sng" dirty="0"/>
            </a:br>
            <a:endParaRPr lang="en-IN" u="sng" dirty="0"/>
          </a:p>
        </p:txBody>
      </p:sp>
      <p:sp>
        <p:nvSpPr>
          <p:cNvPr id="3" name="Text Placeholder 2">
            <a:extLst>
              <a:ext uri="{FF2B5EF4-FFF2-40B4-BE49-F238E27FC236}">
                <a16:creationId xmlns:a16="http://schemas.microsoft.com/office/drawing/2014/main" id="{C899A2CC-E0E6-86FA-B438-A02B32F6DE6F}"/>
              </a:ext>
            </a:extLst>
          </p:cNvPr>
          <p:cNvSpPr>
            <a:spLocks noGrp="1"/>
          </p:cNvSpPr>
          <p:nvPr>
            <p:ph type="body" sz="half" idx="2"/>
          </p:nvPr>
        </p:nvSpPr>
        <p:spPr>
          <a:xfrm>
            <a:off x="1513113" y="1807029"/>
            <a:ext cx="9641869" cy="2841171"/>
          </a:xfrm>
        </p:spPr>
        <p:txBody>
          <a:bodyPr/>
          <a:lstStyle/>
          <a:p>
            <a:r>
              <a:rPr lang="en-IN" sz="2400" dirty="0"/>
              <a:t>Business scenario analysis enables organizations to understand real-world challenges and make effective decisions based on evidence. By carefully </a:t>
            </a:r>
            <a:r>
              <a:rPr lang="en-IN" sz="2400" dirty="0" err="1"/>
              <a:t>analyzing</a:t>
            </a:r>
            <a:r>
              <a:rPr lang="en-IN" sz="2400" dirty="0"/>
              <a:t> business situations and implementing appropriate solutions, organizations can improve efficiency, solve problems, and achieve their business goals</a:t>
            </a:r>
            <a:r>
              <a:rPr lang="en-IN" dirty="0"/>
              <a:t>.</a:t>
            </a:r>
          </a:p>
          <a:p>
            <a:endParaRPr lang="en-IN" dirty="0"/>
          </a:p>
        </p:txBody>
      </p:sp>
    </p:spTree>
    <p:extLst>
      <p:ext uri="{BB962C8B-B14F-4D97-AF65-F5344CB8AC3E}">
        <p14:creationId xmlns:p14="http://schemas.microsoft.com/office/powerpoint/2010/main" val="1301237140"/>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
  <TotalTime>423</TotalTime>
  <Words>6383</Words>
  <Application>Microsoft Office PowerPoint</Application>
  <PresentationFormat>Widescreen</PresentationFormat>
  <Paragraphs>1415</Paragraphs>
  <Slides>98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98</vt:i4>
      </vt:variant>
    </vt:vector>
  </HeadingPairs>
  <TitlesOfParts>
    <vt:vector size="105" baseType="lpstr">
      <vt:lpstr>Algerian</vt:lpstr>
      <vt:lpstr>Arial</vt:lpstr>
      <vt:lpstr>Arial Narrow</vt:lpstr>
      <vt:lpstr>Century Gothic</vt:lpstr>
      <vt:lpstr>Courier New</vt:lpstr>
      <vt:lpstr>Wingdings</vt:lpstr>
      <vt:lpstr>Vapor Trail</vt:lpstr>
      <vt:lpstr>INFORMATION TECHNOLOGY</vt:lpstr>
      <vt:lpstr>Introduction to Data Governance &amp; Data Ethics </vt:lpstr>
      <vt:lpstr>A. What is Data Governance? </vt:lpstr>
      <vt:lpstr> </vt:lpstr>
      <vt:lpstr> </vt:lpstr>
      <vt:lpstr>.</vt:lpstr>
      <vt:lpstr>B. Principles of Data Ethics </vt:lpstr>
      <vt:lpstr>Importance  </vt:lpstr>
      <vt:lpstr>Privacy and Confidentiality </vt:lpstr>
      <vt:lpstr>ConfidentialitY</vt:lpstr>
      <vt:lpstr>Benefits </vt:lpstr>
      <vt:lpstr>Transparency and Accountability</vt:lpstr>
      <vt:lpstr>Accountability </vt:lpstr>
      <vt:lpstr>.</vt:lpstr>
      <vt:lpstr>C. Regulatory Compliance (e.g., GDPR, CCPA) </vt:lpstr>
      <vt:lpstr>GDPR (General Data Protection Regulation) </vt:lpstr>
      <vt:lpstr>.</vt:lpstr>
      <vt:lpstr>CCPA (California Consumer Privacy Act) </vt:lpstr>
      <vt:lpstr>.</vt:lpstr>
      <vt:lpstr>D. Building a Culture of Responsible Data Use </vt:lpstr>
      <vt:lpstr>Key Practice</vt:lpstr>
      <vt:lpstr>KEY PRACTICES</vt:lpstr>
      <vt:lpstr>Benefits of Responsible Data Use </vt:lpstr>
      <vt:lpstr>Introduction to IT and Business Systems </vt:lpstr>
      <vt:lpstr>A. Fundamentals of Information Technology </vt:lpstr>
      <vt:lpstr>Components of Information Technology </vt:lpstr>
      <vt:lpstr>PowerPoint Presentation</vt:lpstr>
      <vt:lpstr>.</vt:lpstr>
      <vt:lpstr>B. Role of IT in Business Operations   </vt:lpstr>
      <vt:lpstr>Major Roles of IT</vt:lpstr>
      <vt:lpstr>Major Roles of IT</vt:lpstr>
      <vt:lpstr>.</vt:lpstr>
      <vt:lpstr>C. Overview of Business Systems (e.g., ERP, CRM)  </vt:lpstr>
      <vt:lpstr>Enterprise Resource Planning (ERP)  ERP (Enterprise Resource Planning) is an integrated software system that manages core business processes using a centralized database. </vt:lpstr>
      <vt:lpstr>Customer Relationship Management (CRM)  CRM (Customer Relationship Management) is software that helps organizations manage customer interactions and improve relationships. </vt:lpstr>
      <vt:lpstr>Difference Between ERP and CRM</vt:lpstr>
      <vt:lpstr>Other Business Systems </vt:lpstr>
      <vt:lpstr>D. Interplay between IT and Business Strategy </vt:lpstr>
      <vt:lpstr>How IT Supports Business Strategy </vt:lpstr>
      <vt:lpstr>How IT Supports Business Strategy</vt:lpstr>
      <vt:lpstr>.</vt:lpstr>
      <vt:lpstr>Real-World Example </vt:lpstr>
      <vt:lpstr>2. Data Types, Sources, and Lifecycle  Introduction  </vt:lpstr>
      <vt:lpstr>A. Understanding Different Data Types </vt:lpstr>
      <vt:lpstr>1. Structured DatA</vt:lpstr>
      <vt:lpstr>2. Unstructured Data </vt:lpstr>
      <vt:lpstr>3. Semi-structured Data </vt:lpstr>
      <vt:lpstr>Comparison of Data Types</vt:lpstr>
      <vt:lpstr>B. Common Data Sources Organizations obtain data from multiple internal and external sources.   </vt:lpstr>
      <vt:lpstr> </vt:lpstr>
      <vt:lpstr>.</vt:lpstr>
      <vt:lpstr>.</vt:lpstr>
      <vt:lpstr>C. Data Collection Methods  Data collection is the process of gathering information from different sources for analysis and decision-making</vt:lpstr>
      <vt:lpstr>.</vt:lpstr>
      <vt:lpstr>. </vt:lpstr>
      <vt:lpstr>Best Practices for Data Collection </vt:lpstr>
      <vt:lpstr>D. Data Lifecycle Management </vt:lpstr>
      <vt:lpstr>Stages of Data Lifecycle </vt:lpstr>
      <vt:lpstr>.</vt:lpstr>
      <vt:lpstr>E. Data Quality and Integrity Data Quality </vt:lpstr>
      <vt:lpstr>Characteristics of High-Quality Data </vt:lpstr>
      <vt:lpstr>Data Integrity  Data Integrity is the assurance that data remains accurate, consistent, complete, and trustworthy throughout it lifecycle. </vt:lpstr>
      <vt:lpstr>.</vt:lpstr>
      <vt:lpstr>Real-World Example </vt:lpstr>
      <vt:lpstr>Introduction to Business Analyst Role </vt:lpstr>
      <vt:lpstr>A. Definition and Responsibilities of a Business Analyst </vt:lpstr>
      <vt:lpstr>Roles and Responsibilities of a Business AnalysT</vt:lpstr>
      <vt:lpstr>.</vt:lpstr>
      <vt:lpstr>B. Key Skills for Business Analysts  A successful Business Analyst requires a combination of technical, analytical, communication, and interpersonal skills. </vt:lpstr>
      <vt:lpstr>2. Analytical Thinking  Analytical thinking helps Business Analysts understand complex business problems and identify practical solutions. </vt:lpstr>
      <vt:lpstr>3.Problem-Solving Skills  Business Analysts solve business challenges by identifying causes and recommending effective solutions</vt:lpstr>
      <vt:lpstr>C. Business Analysis Methodologies (e.g., Agile, Waterfall) </vt:lpstr>
      <vt:lpstr>1. Waterfall Methodology </vt:lpstr>
      <vt:lpstr>2. Agile Methodology </vt:lpstr>
      <vt:lpstr>D. Stakeholder Management Definition  </vt:lpstr>
      <vt:lpstr>Who Are Stakeholders?  Stakeholders are individuals or organizations affected by or involved in a project. </vt:lpstr>
      <vt:lpstr>Stakeholder Management Process </vt:lpstr>
      <vt:lpstr>.</vt:lpstr>
      <vt:lpstr>Data vs. Information</vt:lpstr>
      <vt:lpstr>A. Distinguishing Raw Data from Processed Information </vt:lpstr>
      <vt:lpstr>What is Information?  Information is processed, organized, structured, and interpreted data that provides meaning and supports decision-making. </vt:lpstr>
      <vt:lpstr>Data to Information to Knowledge </vt:lpstr>
      <vt:lpstr>.</vt:lpstr>
      <vt:lpstr>Benefits of Transforming Data into Knowledge </vt:lpstr>
      <vt:lpstr>C. Value of Information in Decision Making </vt:lpstr>
      <vt:lpstr>Importance of Information</vt:lpstr>
      <vt:lpstr>.</vt:lpstr>
      <vt:lpstr>Characteristics and Real-Life Applications </vt:lpstr>
      <vt:lpstr>Real-Life Applications of Data and Information </vt:lpstr>
      <vt:lpstr>Benefits of Information in Decision Making </vt:lpstr>
      <vt:lpstr>5. Overview of Data-Driven Decision Making </vt:lpstr>
      <vt:lpstr>.</vt:lpstr>
      <vt:lpstr>.</vt:lpstr>
      <vt:lpstr>Case Discussions / Real-Life Examples </vt:lpstr>
      <vt:lpstr>Real-Life Example 1: Retail Business </vt:lpstr>
      <vt:lpstr>Real-Life Example 2: Banking Sector </vt:lpstr>
      <vt:lpstr>Importance of Business Scenario Analysis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PRATYUSHA NATH</dc:creator>
  <cp:lastModifiedBy>PRATYUSHA NATH</cp:lastModifiedBy>
  <cp:revision>5</cp:revision>
  <dcterms:created xsi:type="dcterms:W3CDTF">2026-07-27T04:34:38Z</dcterms:created>
  <dcterms:modified xsi:type="dcterms:W3CDTF">2026-07-27T11:37:44Z</dcterms:modified>
</cp:coreProperties>
</file>